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Garet" panose="020B0604020202020204" charset="0"/>
      <p:regular r:id="rId11"/>
    </p:embeddedFont>
    <p:embeddedFont>
      <p:font typeface="Garet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9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Background:</a:t>
            </a:r>
          </a:p>
          <a:p>
            <a:r>
              <a:rPr lang="en-US"/>
              <a:t>Differences occure between diefferent versions of floorplans during planning.</a:t>
            </a:r>
          </a:p>
          <a:p>
            <a:r>
              <a:rPr lang="en-US"/>
              <a:t>buyers dont have a way of making sure their requests are being taken care of proffesionaly</a:t>
            </a:r>
          </a:p>
          <a:p>
            <a:endParaRPr lang="en-US"/>
          </a:p>
          <a:p>
            <a:r>
              <a:rPr lang="en-US"/>
              <a:t>Importance:</a:t>
            </a:r>
          </a:p>
          <a:p>
            <a:r>
              <a:rPr lang="en-US"/>
              <a:t>Undetected differences /changes lead to financial loss for buyers and  costly legal disputes for contractors.</a:t>
            </a:r>
          </a:p>
          <a:p>
            <a:endParaRPr lang="en-US"/>
          </a:p>
          <a:p>
            <a:r>
              <a:rPr lang="en-US"/>
              <a:t>The Challenge: </a:t>
            </a:r>
          </a:p>
          <a:p>
            <a:r>
              <a:rPr lang="en-US"/>
              <a:t>Automating alignment and comparison between floorplans images and dense technical drawings is difficult for standard algorithms.</a:t>
            </a:r>
          </a:p>
          <a:p>
            <a:endParaRPr lang="en-US"/>
          </a:p>
          <a:p>
            <a:r>
              <a:rPr lang="en-US"/>
              <a:t>Current Solutions:</a:t>
            </a:r>
          </a:p>
          <a:p>
            <a:r>
              <a:rPr lang="en-US"/>
              <a:t>No market solution exists. Tools like ShapeDo focus on engineering revisions but only used by the constructor side, not on verifying "Promised vs. Built" specifications for the buyer.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  <a:p>
            <a:r>
              <a:rPr lang="en-US"/>
              <a:t>Formal Problem Statement:</a:t>
            </a:r>
          </a:p>
          <a:p>
            <a:r>
              <a:rPr lang="en-US"/>
              <a:t>Automatically detect and report differences between two versions of the same floorplan to validate “promised vs. built” compliance (1–2 bedroom apartments).</a:t>
            </a:r>
          </a:p>
          <a:p>
            <a:endParaRPr lang="en-US"/>
          </a:p>
          <a:p>
            <a:r>
              <a:rPr lang="en-US"/>
              <a:t>OUTPUT:</a:t>
            </a:r>
          </a:p>
          <a:p>
            <a:r>
              <a:rPr lang="en-US"/>
              <a:t>0 – No meaningful change (same layout, only style/line variations).</a:t>
            </a:r>
          </a:p>
          <a:p>
            <a:r>
              <a:rPr lang="en-US"/>
              <a:t>1 – Content change (room moved, size changed, walls shifted, etc.).</a:t>
            </a:r>
          </a:p>
          <a:p>
            <a:endParaRPr lang="en-US"/>
          </a:p>
          <a:p>
            <a:r>
              <a:rPr lang="en-US"/>
              <a:t>Project Novelty:</a:t>
            </a:r>
          </a:p>
          <a:p>
            <a:r>
              <a:rPr lang="en-US"/>
              <a:t>First blueprint-comparison tool built for buyers, not only professionals.</a:t>
            </a:r>
          </a:p>
          <a:p>
            <a:r>
              <a:rPr lang="en-US"/>
              <a:t>Combines Computer Vision + Generative AI to compare blueprint versions.</a:t>
            </a:r>
          </a:p>
          <a:p>
            <a:r>
              <a:rPr lang="en-US"/>
              <a:t>Uses synthetic plan generation to train the model on realistic variations.</a:t>
            </a:r>
          </a:p>
          <a:p>
            <a:r>
              <a:rPr lang="en-US"/>
              <a:t>Provides visual + textual explanations understandable to non-experts.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Pipeline:</a:t>
            </a:r>
          </a:p>
          <a:p>
            <a:r>
              <a:rPr lang="en-US"/>
              <a:t>Input: one  floor plan (database)</a:t>
            </a:r>
          </a:p>
          <a:p>
            <a:r>
              <a:rPr lang="en-US"/>
              <a:t>Preprocessing: inpainting and fine-tuning to create a second floorplan </a:t>
            </a:r>
          </a:p>
          <a:p>
            <a:r>
              <a:rPr lang="en-US"/>
              <a:t>Synthetic Data: Controlled edits via diffusion inpainting (doors/windows/walls)</a:t>
            </a:r>
          </a:p>
          <a:p>
            <a:r>
              <a:rPr lang="en-US"/>
              <a:t>Feature Extraction: CNN / ViT encoders → embeddings</a:t>
            </a:r>
          </a:p>
          <a:p>
            <a:r>
              <a:rPr lang="en-US"/>
              <a:t>Comparison: Difference between embeddings → binary classifier</a:t>
            </a:r>
          </a:p>
          <a:p>
            <a:r>
              <a:rPr lang="en-US"/>
              <a:t>Output: 0 = identical, 1 = changed</a:t>
            </a:r>
          </a:p>
          <a:p>
            <a:endParaRPr lang="en-US"/>
          </a:p>
          <a:p>
            <a:r>
              <a:rPr lang="en-US"/>
              <a:t>Techniques:</a:t>
            </a:r>
          </a:p>
          <a:p>
            <a:r>
              <a:rPr lang="en-US"/>
              <a:t>Inpainting: Diffusion model + prompt engineering</a:t>
            </a:r>
          </a:p>
          <a:p>
            <a:r>
              <a:rPr lang="en-US"/>
              <a:t>Encoders: CNN / ViT - for comparing embaddings </a:t>
            </a:r>
          </a:p>
          <a:p>
            <a:r>
              <a:rPr lang="en-US"/>
              <a:t>       (we may compare differently)</a:t>
            </a:r>
          </a:p>
          <a:p>
            <a:r>
              <a:rPr lang="en-US"/>
              <a:t>Classifier: Small MLP for change detection</a:t>
            </a:r>
          </a:p>
          <a:p>
            <a:endParaRPr lang="en-US"/>
          </a:p>
          <a:p>
            <a:r>
              <a:rPr lang="en-US"/>
              <a:t>Adjustments / Fine-Tuning:</a:t>
            </a:r>
          </a:p>
          <a:p>
            <a:r>
              <a:rPr lang="en-US"/>
              <a:t>Light LoRA fine-tuning on floor-plan style </a:t>
            </a:r>
          </a:p>
          <a:p>
            <a:r>
              <a:rPr lang="en-US"/>
              <a:t>Threshold calibration for 0/1 decision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Training &amp; Evaluation Requirements:</a:t>
            </a:r>
          </a:p>
          <a:p>
            <a:r>
              <a:rPr lang="en-US"/>
              <a:t>Floorplans of 1–2 room apartments</a:t>
            </a:r>
          </a:p>
          <a:p>
            <a:r>
              <a:rPr lang="en-US"/>
              <a:t>Unified image format (size, orientation, clarity)</a:t>
            </a:r>
          </a:p>
          <a:p>
            <a:r>
              <a:rPr lang="en-US"/>
              <a:t>Paired samples for binary change detection</a:t>
            </a:r>
          </a:p>
          <a:p>
            <a:endParaRPr lang="en-US"/>
          </a:p>
          <a:p>
            <a:r>
              <a:rPr lang="en-US"/>
              <a:t>Labeling:</a:t>
            </a:r>
          </a:p>
          <a:p>
            <a:r>
              <a:rPr lang="en-US"/>
              <a:t>Automatic pair labeling:</a:t>
            </a:r>
          </a:p>
          <a:p>
            <a:r>
              <a:rPr lang="en-US"/>
              <a:t>0 – stylistic differences only</a:t>
            </a:r>
          </a:p>
          <a:p>
            <a:r>
              <a:rPr lang="en-US"/>
              <a:t>1 – structural modification</a:t>
            </a:r>
          </a:p>
          <a:p>
            <a:endParaRPr lang="en-US"/>
          </a:p>
          <a:p>
            <a:r>
              <a:rPr lang="en-US"/>
              <a:t>Dataset Used: </a:t>
            </a:r>
          </a:p>
          <a:p>
            <a:r>
              <a:rPr lang="en-US"/>
              <a:t>FloorPlansV2 (HuggingFace) - Filtered for small residential units</a:t>
            </a:r>
          </a:p>
          <a:p>
            <a:endParaRPr lang="en-US"/>
          </a:p>
          <a:p>
            <a:r>
              <a:rPr lang="en-US"/>
              <a:t>Synthetic Data Generation:</a:t>
            </a:r>
          </a:p>
          <a:p>
            <a:r>
              <a:rPr lang="en-US"/>
              <a:t>Generate plan variations using AI inpainting / floorplan editing APIs</a:t>
            </a:r>
          </a:p>
          <a:p>
            <a:r>
              <a:rPr lang="en-US"/>
              <a:t>Create:</a:t>
            </a:r>
          </a:p>
          <a:p>
            <a:r>
              <a:rPr lang="en-US"/>
              <a:t>No-change pairs → only visual edits</a:t>
            </a:r>
          </a:p>
          <a:p>
            <a:r>
              <a:rPr lang="en-US"/>
              <a:t>Change pairs → small structural edits (walls, doors, fixtures)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How we measure results:</a:t>
            </a:r>
          </a:p>
          <a:p>
            <a:r>
              <a:rPr lang="en-US"/>
              <a:t>Compare model predictions to ground-truth labels (0/1).</a:t>
            </a:r>
          </a:p>
          <a:p>
            <a:r>
              <a:rPr lang="en-US"/>
              <a:t>Evaluate ability to detect small, local changes.</a:t>
            </a:r>
          </a:p>
          <a:p>
            <a:endParaRPr lang="en-US"/>
          </a:p>
          <a:p>
            <a:r>
              <a:rPr lang="en-US"/>
              <a:t>Quality per step:</a:t>
            </a:r>
          </a:p>
          <a:p>
            <a:r>
              <a:rPr lang="en-US"/>
              <a:t>Inpainting: Architectural style consistency, clean line continuity.</a:t>
            </a:r>
          </a:p>
          <a:p>
            <a:r>
              <a:rPr lang="en-US"/>
              <a:t>Embeddings: Clear separation between “changed” vs. “unchanged” pairs.</a:t>
            </a:r>
          </a:p>
          <a:p>
            <a:r>
              <a:rPr lang="en-US"/>
              <a:t>Classifier: Accuracy, Precision, Recall, F1-score.</a:t>
            </a:r>
          </a:p>
          <a:p>
            <a:endParaRPr lang="en-US"/>
          </a:p>
          <a:p>
            <a:r>
              <a:rPr lang="en-US"/>
              <a:t>Metrics &amp; protocols:</a:t>
            </a:r>
          </a:p>
          <a:p>
            <a:r>
              <a:rPr lang="en-US"/>
              <a:t>Use train/test split + cross-validation.</a:t>
            </a:r>
          </a:p>
          <a:p>
            <a:r>
              <a:rPr lang="en-US"/>
              <a:t>Ground truth: paired floor plans with before/after labels.</a:t>
            </a:r>
          </a:p>
          <a:p>
            <a:r>
              <a:rPr lang="en-US"/>
              <a:t>KPIs: ≥80% accuracy, high recall, high visual consistency.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23-Dec-25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huggingface.co/datasets/jprve/FloorPlansV2" TargetMode="External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Freeform 3"/>
          <p:cNvSpPr/>
          <p:nvPr/>
        </p:nvSpPr>
        <p:spPr>
          <a:xfrm flipH="1">
            <a:off x="-912325" y="4813799"/>
            <a:ext cx="4013771" cy="6473825"/>
          </a:xfrm>
          <a:custGeom>
            <a:avLst/>
            <a:gdLst/>
            <a:ahLst/>
            <a:cxnLst/>
            <a:rect l="l" t="t" r="r" b="b"/>
            <a:pathLst>
              <a:path w="4013771" h="6473825">
                <a:moveTo>
                  <a:pt x="4013772" y="0"/>
                </a:moveTo>
                <a:lnTo>
                  <a:pt x="0" y="0"/>
                </a:lnTo>
                <a:lnTo>
                  <a:pt x="0" y="6473825"/>
                </a:lnTo>
                <a:lnTo>
                  <a:pt x="4013772" y="6473825"/>
                </a:lnTo>
                <a:lnTo>
                  <a:pt x="401377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4" name="Freeform 4"/>
          <p:cNvSpPr/>
          <p:nvPr/>
        </p:nvSpPr>
        <p:spPr>
          <a:xfrm>
            <a:off x="15190185" y="4813799"/>
            <a:ext cx="4013771" cy="6473825"/>
          </a:xfrm>
          <a:custGeom>
            <a:avLst/>
            <a:gdLst/>
            <a:ahLst/>
            <a:cxnLst/>
            <a:rect l="l" t="t" r="r" b="b"/>
            <a:pathLst>
              <a:path w="4013771" h="6473825">
                <a:moveTo>
                  <a:pt x="0" y="0"/>
                </a:moveTo>
                <a:lnTo>
                  <a:pt x="4013772" y="0"/>
                </a:lnTo>
                <a:lnTo>
                  <a:pt x="4013772" y="6473825"/>
                </a:lnTo>
                <a:lnTo>
                  <a:pt x="0" y="64738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6042187" y="-2245813"/>
            <a:ext cx="4491627" cy="449162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-758305" y="223628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9" name="AutoShape 9"/>
          <p:cNvSpPr/>
          <p:nvPr/>
        </p:nvSpPr>
        <p:spPr>
          <a:xfrm>
            <a:off x="1854356" y="8050712"/>
            <a:ext cx="1463009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 flipV="1">
            <a:off x="16032662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1" name="AutoShape 11"/>
          <p:cNvSpPr/>
          <p:nvPr/>
        </p:nvSpPr>
        <p:spPr>
          <a:xfrm flipV="1">
            <a:off x="2236288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12" name="Group 12"/>
          <p:cNvGrpSpPr/>
          <p:nvPr/>
        </p:nvGrpSpPr>
        <p:grpSpPr>
          <a:xfrm>
            <a:off x="-2255338" y="-2255338"/>
            <a:ext cx="4491627" cy="449162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609825" y="2737232"/>
            <a:ext cx="13071981" cy="2406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621"/>
              </a:lnSpc>
              <a:spcBef>
                <a:spcPct val="0"/>
              </a:spcBef>
            </a:pPr>
            <a:r>
              <a:rPr lang="en-US" sz="14015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Built-in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599495" y="5599539"/>
            <a:ext cx="13069960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GenAI-Based System for Verifying Compliance   Between Floorplans Versions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399852" y="8755307"/>
            <a:ext cx="5488297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Afik Aharon, Adi Haim, Liran Aichnboim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>
            <a:off x="-758305" y="1369513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AutoShape 4"/>
          <p:cNvSpPr/>
          <p:nvPr/>
        </p:nvSpPr>
        <p:spPr>
          <a:xfrm>
            <a:off x="-756489" y="917361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7165093" y="-866775"/>
            <a:ext cx="2245813" cy="22458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22907" y="9164093"/>
            <a:ext cx="2245813" cy="224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59926" y="1513955"/>
            <a:ext cx="8851231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Motivating Use Case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1680058" y="5893440"/>
            <a:ext cx="14927885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3" name="AutoShape 13"/>
          <p:cNvSpPr/>
          <p:nvPr/>
        </p:nvSpPr>
        <p:spPr>
          <a:xfrm flipH="1">
            <a:off x="8985541" y="3057070"/>
            <a:ext cx="19050" cy="5611135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4" name="TextBox 14"/>
          <p:cNvSpPr txBox="1"/>
          <p:nvPr/>
        </p:nvSpPr>
        <p:spPr>
          <a:xfrm>
            <a:off x="3937603" y="3238301"/>
            <a:ext cx="2365772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BACKGROUND: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80058" y="3833263"/>
            <a:ext cx="6323064" cy="1035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DIFFERENT FLOORPLAN VERSIONS CAUSE INCONSISTENCIES THAT BUYERS CANNOT EASILY VERIFY.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63545" y="3227473"/>
            <a:ext cx="2194620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IMPORTANCE: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69908" y="3823739"/>
            <a:ext cx="632090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UNDETECTED CHANGES CREATE FINANCIAL RISKS FOR BUYERS AND LEGAL EXPOSURE FOR CONTRACTORS.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768" y="6135220"/>
            <a:ext cx="2738884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THE CHALLENGE: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80058" y="6721961"/>
            <a:ext cx="6173729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FLOORPLAN COMPARISON IS COMPLEX, AND THE LACK OF DOMAIN-SPECIFIC DATA REQUIRES CUSTOM DATASET GENERATION.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92273" y="6116439"/>
            <a:ext cx="4095885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CURRENT SOLUTIONS: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571317" y="6750804"/>
            <a:ext cx="6579076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EXISTING TOOLS FROM THE BUYER’S PERSPECTIVE.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3343" y="3241701"/>
            <a:ext cx="416401" cy="389977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9842" y="6176183"/>
            <a:ext cx="416401" cy="389977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84072" y="3230336"/>
            <a:ext cx="416401" cy="389977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93984" y="6138620"/>
            <a:ext cx="416401" cy="3899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>
            <a:off x="-758305" y="1369513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AutoShape 4"/>
          <p:cNvSpPr/>
          <p:nvPr/>
        </p:nvSpPr>
        <p:spPr>
          <a:xfrm>
            <a:off x="-756489" y="917361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7165093" y="-866775"/>
            <a:ext cx="2245813" cy="22458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22907" y="9164093"/>
            <a:ext cx="2245813" cy="224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585" y="3827225"/>
            <a:ext cx="416401" cy="389977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173296" y="1609718"/>
            <a:ext cx="9795630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 rtl="1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task description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2817" y="3789662"/>
            <a:ext cx="416401" cy="389977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930990" y="3767212"/>
            <a:ext cx="5231810" cy="438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FORMAL 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30826" y="4309963"/>
            <a:ext cx="7136974" cy="1123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AUTOMATICALLY DETECT AND REPORT DIFFERENCES BETWEEN TWO VERSIONS OF THE SAME FLOORPLAN  (1–2 BEDROOM APARTMENTS).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524058" y="3767212"/>
            <a:ext cx="3715942" cy="438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INPUTS &amp; OUTPUTS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494198" y="4305815"/>
            <a:ext cx="4736401" cy="742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INPUT:</a:t>
            </a:r>
          </a:p>
          <a:p>
            <a:pPr algn="l">
              <a:lnSpc>
                <a:spcPts val="3000"/>
              </a:lnSpc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 FLOORPLANS VERSIONS (IMAGE)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494199" y="5176400"/>
            <a:ext cx="4997715" cy="1123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OUTPUT: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 – NO MEANINGFUL CHANGE 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 – CONTENT CHANGE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05069" y="6566284"/>
            <a:ext cx="6872104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2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FIRST BUYER-ORIENTED FLOORPLAN COMPARISON USING CV + GENERATIVE AI AND SYNTHETIC DATA.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05068" y="5914774"/>
            <a:ext cx="3557531" cy="4385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599"/>
              </a:lnSpc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PROJECT NOVELTY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9585" y="5937224"/>
            <a:ext cx="416401" cy="38997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>
            <a:off x="-758305" y="1369513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AutoShape 4"/>
          <p:cNvSpPr/>
          <p:nvPr/>
        </p:nvSpPr>
        <p:spPr>
          <a:xfrm>
            <a:off x="-579573" y="915456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7165093" y="-866775"/>
            <a:ext cx="2245813" cy="22458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22907" y="9164093"/>
            <a:ext cx="2245813" cy="224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02644" y="1651454"/>
            <a:ext cx="8482711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Models and methods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33017" y="3405480"/>
            <a:ext cx="1666708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PIPELINE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41565" y="3367917"/>
            <a:ext cx="2204728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TECHNIQUES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210435" y="3330354"/>
            <a:ext cx="5549149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ADJUSTMENTS / FINE-TUNING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8415" y="3978087"/>
            <a:ext cx="5407016" cy="3790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STAGE 1: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Input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PREPROCESSING: INPAINTING &amp; FINE-TUNING </a:t>
            </a:r>
          </a:p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STAGE 2: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SYNTHETIC DATA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FEATURE EXTRACTION: CNN / VIT 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COMPARISON: BETWEEN EMBEDDINGS &amp; BINARY CLASSIFIER</a:t>
            </a:r>
          </a:p>
          <a:p>
            <a:pPr marL="431801" lvl="1" indent="-215900" algn="l">
              <a:lnSpc>
                <a:spcPts val="30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OUTPUT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705976" y="4107057"/>
            <a:ext cx="5141532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INPAINTING: DIFFUSION MODEL + PROMPT ENGINEERING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ENCODERS: CNN / VIT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CLASSIFIER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14244" y="4107057"/>
            <a:ext cx="5141532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Light LoRA FINE-TUNING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THRESHOLD CALIBRATION 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6482" y="3408880"/>
            <a:ext cx="416401" cy="389977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308" y="3371317"/>
            <a:ext cx="416401" cy="38997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02235" y="3333754"/>
            <a:ext cx="416401" cy="389977"/>
          </a:xfrm>
          <a:prstGeom prst="rect">
            <a:avLst/>
          </a:prstGeom>
        </p:spPr>
      </p:pic>
      <p:sp>
        <p:nvSpPr>
          <p:cNvPr id="21" name="Freeform 21"/>
          <p:cNvSpPr/>
          <p:nvPr/>
        </p:nvSpPr>
        <p:spPr>
          <a:xfrm>
            <a:off x="14341970" y="6121201"/>
            <a:ext cx="3417615" cy="2648652"/>
          </a:xfrm>
          <a:custGeom>
            <a:avLst/>
            <a:gdLst/>
            <a:ahLst/>
            <a:cxnLst/>
            <a:rect l="l" t="t" r="r" b="b"/>
            <a:pathLst>
              <a:path w="3417615" h="2648652">
                <a:moveTo>
                  <a:pt x="0" y="0"/>
                </a:moveTo>
                <a:lnTo>
                  <a:pt x="3417615" y="0"/>
                </a:lnTo>
                <a:lnTo>
                  <a:pt x="3417615" y="2648652"/>
                </a:lnTo>
                <a:lnTo>
                  <a:pt x="0" y="26486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22" name="Freeform 22"/>
          <p:cNvSpPr/>
          <p:nvPr/>
        </p:nvSpPr>
        <p:spPr>
          <a:xfrm flipH="1">
            <a:off x="13743743" y="7063492"/>
            <a:ext cx="979954" cy="1852146"/>
          </a:xfrm>
          <a:custGeom>
            <a:avLst/>
            <a:gdLst/>
            <a:ahLst/>
            <a:cxnLst/>
            <a:rect l="l" t="t" r="r" b="b"/>
            <a:pathLst>
              <a:path w="979954" h="1852146">
                <a:moveTo>
                  <a:pt x="979954" y="0"/>
                </a:moveTo>
                <a:lnTo>
                  <a:pt x="0" y="0"/>
                </a:lnTo>
                <a:lnTo>
                  <a:pt x="0" y="1852146"/>
                </a:lnTo>
                <a:lnTo>
                  <a:pt x="979954" y="1852146"/>
                </a:lnTo>
                <a:lnTo>
                  <a:pt x="979954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>
            <a:off x="-758305" y="1369513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AutoShape 4"/>
          <p:cNvSpPr/>
          <p:nvPr/>
        </p:nvSpPr>
        <p:spPr>
          <a:xfrm>
            <a:off x="-756489" y="917361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7165093" y="-866775"/>
            <a:ext cx="2245813" cy="22458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22907" y="9164093"/>
            <a:ext cx="2245813" cy="224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805710" y="3262971"/>
            <a:ext cx="4591004" cy="8553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TRAINING &amp; EVALUATION REQUIREMENTS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563" y="3266371"/>
            <a:ext cx="416401" cy="389977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4463" y="6415420"/>
            <a:ext cx="416401" cy="389977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4075" y="6415420"/>
            <a:ext cx="416401" cy="389977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97510" y="3266371"/>
            <a:ext cx="416401" cy="389977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371846" y="1675413"/>
            <a:ext cx="13544309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Specification &amp; Generation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632210" y="7058603"/>
            <a:ext cx="500990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8" tooltip="https://huggingface.co/datasets/jprve/FloorPlansV2"/>
              </a:rPr>
              <a:t>FLOORPLANSV2</a:t>
            </a: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(HUGGINGFACE) - FILTERED.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2225240" y="6412020"/>
            <a:ext cx="1614393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LABELING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55318" y="7077385"/>
            <a:ext cx="5009908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PAIR LABELING: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0 – STYLISTIC DIFFERENCES ONLY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 – STRUCTURAL MODIFICATION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123441" y="3262971"/>
            <a:ext cx="5404277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SYNTHETIC DATA GENERATION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805710" y="4325849"/>
            <a:ext cx="5372379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FLOORPLANS - 1–2 ROOMS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UNIFIED IMAGE FORMAT 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PAIRED SAMPLES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870265" y="3879922"/>
            <a:ext cx="4962893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GENERATE PLAN VARIATIONS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CREATE: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CHANGE PAIRS </a:t>
            </a:r>
          </a:p>
          <a:p>
            <a:pPr marL="431801" lvl="1" indent="-215900" algn="l">
              <a:lnSpc>
                <a:spcPts val="2800"/>
              </a:lnSpc>
              <a:buAutoNum type="arabicPeriod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CHANGED PAIRS 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04851" y="6393239"/>
            <a:ext cx="2629299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DATASET USED: </a:t>
            </a:r>
          </a:p>
        </p:txBody>
      </p:sp>
      <p:sp>
        <p:nvSpPr>
          <p:cNvPr id="24" name="AutoShape 24"/>
          <p:cNvSpPr/>
          <p:nvPr/>
        </p:nvSpPr>
        <p:spPr>
          <a:xfrm flipV="1">
            <a:off x="1680058" y="5893440"/>
            <a:ext cx="14927885" cy="0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5" name="AutoShape 25"/>
          <p:cNvSpPr/>
          <p:nvPr/>
        </p:nvSpPr>
        <p:spPr>
          <a:xfrm flipH="1">
            <a:off x="8985541" y="3057070"/>
            <a:ext cx="19050" cy="5611135"/>
          </a:xfrm>
          <a:prstGeom prst="line">
            <a:avLst/>
          </a:prstGeom>
          <a:ln w="3810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3" name="AutoShape 3"/>
          <p:cNvSpPr/>
          <p:nvPr/>
        </p:nvSpPr>
        <p:spPr>
          <a:xfrm>
            <a:off x="-758305" y="1369513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4" name="AutoShape 4"/>
          <p:cNvSpPr/>
          <p:nvPr/>
        </p:nvSpPr>
        <p:spPr>
          <a:xfrm>
            <a:off x="-756489" y="9173618"/>
            <a:ext cx="19804610" cy="0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5" name="Group 5"/>
          <p:cNvGrpSpPr/>
          <p:nvPr/>
        </p:nvGrpSpPr>
        <p:grpSpPr>
          <a:xfrm>
            <a:off x="17165093" y="-866775"/>
            <a:ext cx="2245813" cy="224581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122907" y="9164093"/>
            <a:ext cx="2245813" cy="224581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71846" y="1675413"/>
            <a:ext cx="13544309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 rtl="1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Metrics and KPIs</a:t>
            </a:r>
            <a:r>
              <a:rPr lang="ar-EG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  <a:rtl/>
              </a:rPr>
              <a:t>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97557" y="3405577"/>
            <a:ext cx="4776736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 WE MEASURE RESULTS: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662639" y="3405577"/>
            <a:ext cx="353876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QUALITY PER STEP: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42338" y="3405577"/>
            <a:ext cx="4183661" cy="41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b="1" dirty="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METRICS &amp; PROTOCOLS: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8674" y="4525718"/>
            <a:ext cx="4875619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COMPARE MODEL PREDICTIONS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EVALUATE ABILITY TO DETECT SMALL, LOCAL CHANGES.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62639" y="4525718"/>
            <a:ext cx="2693351" cy="1044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INPAINTING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EMBEDDINGS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CLASSIFIER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283848" y="4525718"/>
            <a:ext cx="5399489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TRAIN/TEST SPLIT + CROSS-VALIDATION.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PAIRED FLOOR PLANS WITH BEFORE/AFTER LABELS.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KPIS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2907" y="9229725"/>
            <a:ext cx="7123748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THESE METHODS MAY CHANGE DURING THE PRODUCTION 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80" y="3427759"/>
            <a:ext cx="416401" cy="389977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73" y="3427759"/>
            <a:ext cx="416401" cy="38997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0936" y="3408977"/>
            <a:ext cx="416401" cy="3899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-1122907" y="-1099942"/>
            <a:ext cx="2245813" cy="22458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65093" y="9258300"/>
            <a:ext cx="2245813" cy="22458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7155568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 flipV="1">
            <a:off x="1132432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11" name="Group 11"/>
          <p:cNvGrpSpPr/>
          <p:nvPr/>
        </p:nvGrpSpPr>
        <p:grpSpPr>
          <a:xfrm>
            <a:off x="3786498" y="8326281"/>
            <a:ext cx="11186553" cy="1315980"/>
            <a:chOff x="0" y="0"/>
            <a:chExt cx="2946253" cy="3465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46253" cy="346595"/>
            </a:xfrm>
            <a:custGeom>
              <a:avLst/>
              <a:gdLst/>
              <a:ahLst/>
              <a:cxnLst/>
              <a:rect l="l" t="t" r="r" b="b"/>
              <a:pathLst>
                <a:path w="2946253" h="346595">
                  <a:moveTo>
                    <a:pt x="0" y="0"/>
                  </a:moveTo>
                  <a:lnTo>
                    <a:pt x="2946253" y="0"/>
                  </a:lnTo>
                  <a:lnTo>
                    <a:pt x="2946253" y="346595"/>
                  </a:lnTo>
                  <a:lnTo>
                    <a:pt x="0" y="3465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46253" cy="384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970789" y="2635926"/>
            <a:ext cx="6646481" cy="5327205"/>
          </a:xfrm>
          <a:custGeom>
            <a:avLst/>
            <a:gdLst/>
            <a:ahLst/>
            <a:cxnLst/>
            <a:rect l="l" t="t" r="r" b="b"/>
            <a:pathLst>
              <a:path w="6646481" h="5327205">
                <a:moveTo>
                  <a:pt x="0" y="0"/>
                </a:moveTo>
                <a:lnTo>
                  <a:pt x="6646481" y="0"/>
                </a:lnTo>
                <a:lnTo>
                  <a:pt x="6646481" y="5327205"/>
                </a:lnTo>
                <a:lnTo>
                  <a:pt x="0" y="5327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4" t="-978" r="-8771" b="-1110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9670730" y="2635926"/>
            <a:ext cx="6646481" cy="5327205"/>
          </a:xfrm>
          <a:custGeom>
            <a:avLst/>
            <a:gdLst/>
            <a:ahLst/>
            <a:cxnLst/>
            <a:rect l="l" t="t" r="r" b="b"/>
            <a:pathLst>
              <a:path w="6646481" h="5327205">
                <a:moveTo>
                  <a:pt x="0" y="0"/>
                </a:moveTo>
                <a:lnTo>
                  <a:pt x="6646481" y="0"/>
                </a:lnTo>
                <a:lnTo>
                  <a:pt x="6646481" y="5327205"/>
                </a:lnTo>
                <a:lnTo>
                  <a:pt x="0" y="5327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4" t="-978" r="-8771" b="-1110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5136074" y="7053134"/>
            <a:ext cx="688026" cy="167541"/>
          </a:xfrm>
          <a:custGeom>
            <a:avLst/>
            <a:gdLst/>
            <a:ahLst/>
            <a:cxnLst/>
            <a:rect l="l" t="t" r="r" b="b"/>
            <a:pathLst>
              <a:path w="688026" h="167541">
                <a:moveTo>
                  <a:pt x="0" y="0"/>
                </a:moveTo>
                <a:lnTo>
                  <a:pt x="688026" y="0"/>
                </a:lnTo>
                <a:lnTo>
                  <a:pt x="688026" y="167541"/>
                </a:lnTo>
                <a:lnTo>
                  <a:pt x="0" y="1675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776" t="-8219" r="-363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TextBox 17"/>
          <p:cNvSpPr txBox="1"/>
          <p:nvPr/>
        </p:nvSpPr>
        <p:spPr>
          <a:xfrm>
            <a:off x="5785365" y="682877"/>
            <a:ext cx="6717269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Example 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74803" y="8749320"/>
            <a:ext cx="6609942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output: 0 – stylistic differences only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70789" y="2008052"/>
            <a:ext cx="1458207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BEFORE: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670729" y="2008052"/>
            <a:ext cx="1225869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AFTER: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he-IL"/>
          </a:p>
        </p:txBody>
      </p:sp>
      <p:grpSp>
        <p:nvGrpSpPr>
          <p:cNvPr id="3" name="Group 3"/>
          <p:cNvGrpSpPr/>
          <p:nvPr/>
        </p:nvGrpSpPr>
        <p:grpSpPr>
          <a:xfrm>
            <a:off x="-1122907" y="-1099942"/>
            <a:ext cx="2245813" cy="224581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165093" y="9258300"/>
            <a:ext cx="2245813" cy="224581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 flipV="1">
            <a:off x="17155568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10" name="AutoShape 10"/>
          <p:cNvSpPr/>
          <p:nvPr/>
        </p:nvSpPr>
        <p:spPr>
          <a:xfrm flipV="1">
            <a:off x="1132432" y="-691170"/>
            <a:ext cx="0" cy="11669339"/>
          </a:xfrm>
          <a:prstGeom prst="line">
            <a:avLst/>
          </a:prstGeom>
          <a:ln w="19050" cap="flat">
            <a:solidFill>
              <a:srgbClr val="A6A6A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grpSp>
        <p:nvGrpSpPr>
          <p:cNvPr id="11" name="Group 11"/>
          <p:cNvGrpSpPr/>
          <p:nvPr/>
        </p:nvGrpSpPr>
        <p:grpSpPr>
          <a:xfrm>
            <a:off x="3786498" y="8326281"/>
            <a:ext cx="11186553" cy="1315980"/>
            <a:chOff x="0" y="0"/>
            <a:chExt cx="2946253" cy="34659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46253" cy="346595"/>
            </a:xfrm>
            <a:custGeom>
              <a:avLst/>
              <a:gdLst/>
              <a:ahLst/>
              <a:cxnLst/>
              <a:rect l="l" t="t" r="r" b="b"/>
              <a:pathLst>
                <a:path w="2946253" h="346595">
                  <a:moveTo>
                    <a:pt x="0" y="0"/>
                  </a:moveTo>
                  <a:lnTo>
                    <a:pt x="2946253" y="0"/>
                  </a:lnTo>
                  <a:lnTo>
                    <a:pt x="2946253" y="346595"/>
                  </a:lnTo>
                  <a:lnTo>
                    <a:pt x="0" y="3465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A6A6A6"/>
              </a:solidFill>
              <a:prstDash val="solid"/>
              <a:miter/>
            </a:ln>
          </p:spPr>
          <p:txBody>
            <a:bodyPr/>
            <a:lstStyle/>
            <a:p>
              <a:endParaRPr lang="he-IL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46253" cy="3846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970789" y="2635926"/>
            <a:ext cx="6646481" cy="5327205"/>
          </a:xfrm>
          <a:custGeom>
            <a:avLst/>
            <a:gdLst/>
            <a:ahLst/>
            <a:cxnLst/>
            <a:rect l="l" t="t" r="r" b="b"/>
            <a:pathLst>
              <a:path w="6646481" h="5327205">
                <a:moveTo>
                  <a:pt x="0" y="0"/>
                </a:moveTo>
                <a:lnTo>
                  <a:pt x="6646481" y="0"/>
                </a:lnTo>
                <a:lnTo>
                  <a:pt x="6646481" y="5327205"/>
                </a:lnTo>
                <a:lnTo>
                  <a:pt x="0" y="5327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4" t="-978" r="-8771" b="-1110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5" name="Freeform 15"/>
          <p:cNvSpPr/>
          <p:nvPr/>
        </p:nvSpPr>
        <p:spPr>
          <a:xfrm>
            <a:off x="9670730" y="2635926"/>
            <a:ext cx="6646481" cy="5327205"/>
          </a:xfrm>
          <a:custGeom>
            <a:avLst/>
            <a:gdLst/>
            <a:ahLst/>
            <a:cxnLst/>
            <a:rect l="l" t="t" r="r" b="b"/>
            <a:pathLst>
              <a:path w="6646481" h="5327205">
                <a:moveTo>
                  <a:pt x="0" y="0"/>
                </a:moveTo>
                <a:lnTo>
                  <a:pt x="6646481" y="0"/>
                </a:lnTo>
                <a:lnTo>
                  <a:pt x="6646481" y="5327205"/>
                </a:lnTo>
                <a:lnTo>
                  <a:pt x="0" y="532720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004" t="-978" r="-8771" b="-11100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6" name="Freeform 16"/>
          <p:cNvSpPr/>
          <p:nvPr/>
        </p:nvSpPr>
        <p:spPr>
          <a:xfrm>
            <a:off x="15317387" y="6268489"/>
            <a:ext cx="490778" cy="943214"/>
          </a:xfrm>
          <a:custGeom>
            <a:avLst/>
            <a:gdLst/>
            <a:ahLst/>
            <a:cxnLst/>
            <a:rect l="l" t="t" r="r" b="b"/>
            <a:pathLst>
              <a:path w="490778" h="943214">
                <a:moveTo>
                  <a:pt x="0" y="0"/>
                </a:moveTo>
                <a:lnTo>
                  <a:pt x="490778" y="0"/>
                </a:lnTo>
                <a:lnTo>
                  <a:pt x="490778" y="943214"/>
                </a:lnTo>
                <a:lnTo>
                  <a:pt x="0" y="9432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7" name="Freeform 17"/>
          <p:cNvSpPr/>
          <p:nvPr/>
        </p:nvSpPr>
        <p:spPr>
          <a:xfrm>
            <a:off x="12123984" y="5261386"/>
            <a:ext cx="480385" cy="951141"/>
          </a:xfrm>
          <a:custGeom>
            <a:avLst/>
            <a:gdLst/>
            <a:ahLst/>
            <a:cxnLst/>
            <a:rect l="l" t="t" r="r" b="b"/>
            <a:pathLst>
              <a:path w="480385" h="951141">
                <a:moveTo>
                  <a:pt x="0" y="0"/>
                </a:moveTo>
                <a:lnTo>
                  <a:pt x="480385" y="0"/>
                </a:lnTo>
                <a:lnTo>
                  <a:pt x="480385" y="951142"/>
                </a:lnTo>
                <a:lnTo>
                  <a:pt x="0" y="9511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114" t="-2251" r="-6932" b="-5883"/>
            </a:stretch>
          </a:blipFill>
        </p:spPr>
        <p:txBody>
          <a:bodyPr/>
          <a:lstStyle/>
          <a:p>
            <a:endParaRPr lang="he-IL"/>
          </a:p>
        </p:txBody>
      </p:sp>
      <p:sp>
        <p:nvSpPr>
          <p:cNvPr id="18" name="TextBox 18"/>
          <p:cNvSpPr txBox="1"/>
          <p:nvPr/>
        </p:nvSpPr>
        <p:spPr>
          <a:xfrm>
            <a:off x="5785365" y="682877"/>
            <a:ext cx="6717269" cy="1009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399"/>
              </a:lnSpc>
              <a:spcBef>
                <a:spcPct val="0"/>
              </a:spcBef>
            </a:pPr>
            <a:r>
              <a:rPr lang="en-US" sz="5999" b="1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Example 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45558" y="8749320"/>
            <a:ext cx="6068431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output: 1 – structural modification</a:t>
            </a:r>
          </a:p>
        </p:txBody>
      </p:sp>
      <p:sp>
        <p:nvSpPr>
          <p:cNvPr id="20" name="AutoShape 20"/>
          <p:cNvSpPr/>
          <p:nvPr/>
        </p:nvSpPr>
        <p:spPr>
          <a:xfrm flipH="1">
            <a:off x="12585319" y="5261386"/>
            <a:ext cx="0" cy="95114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he-IL"/>
          </a:p>
        </p:txBody>
      </p:sp>
      <p:sp>
        <p:nvSpPr>
          <p:cNvPr id="21" name="TextBox 21"/>
          <p:cNvSpPr txBox="1"/>
          <p:nvPr/>
        </p:nvSpPr>
        <p:spPr>
          <a:xfrm>
            <a:off x="1970789" y="2008052"/>
            <a:ext cx="1534411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BEFORE: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70729" y="2008052"/>
            <a:ext cx="1225869" cy="4328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u="sng" dirty="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AFTER: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846</Words>
  <Application>Microsoft Office PowerPoint</Application>
  <PresentationFormat>מותאם אישית</PresentationFormat>
  <Paragraphs>160</Paragraphs>
  <Slides>8</Slides>
  <Notes>5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3" baseType="lpstr">
      <vt:lpstr>Garet</vt:lpstr>
      <vt:lpstr>Garet Bold</vt:lpstr>
      <vt:lpstr>Calibri</vt:lpstr>
      <vt:lpstr>Arial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Built-in - project proposal</dc:title>
  <cp:lastModifiedBy>Adi Haim</cp:lastModifiedBy>
  <cp:revision>3</cp:revision>
  <dcterms:created xsi:type="dcterms:W3CDTF">2006-08-16T00:00:00Z</dcterms:created>
  <dcterms:modified xsi:type="dcterms:W3CDTF">2025-12-23T14:13:07Z</dcterms:modified>
  <dc:identifier>DAG5cqIPgjs</dc:identifier>
</cp:coreProperties>
</file>