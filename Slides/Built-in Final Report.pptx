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9" r:id="rId10"/>
    <p:sldId id="271" r:id="rId11"/>
    <p:sldId id="270" r:id="rId12"/>
    <p:sldId id="267" r:id="rId13"/>
    <p:sldId id="268" r:id="rId14"/>
  </p:sldIdLst>
  <p:sldSz cx="18288000" cy="10287000"/>
  <p:notesSz cx="6858000" cy="9144000"/>
  <p:embeddedFontLst>
    <p:embeddedFont>
      <p:font typeface="Garet" panose="020B0604020202020204" charset="0"/>
      <p:regular r:id="rId16"/>
    </p:embeddedFont>
    <p:embeddedFont>
      <p:font typeface="Garet 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1" d="100"/>
          <a:sy n="71" d="100"/>
        </p:scale>
        <p:origin x="714"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הפרויקט שלנו נקרא Built-in, והוא עוסק בזיהוי ואימות שינויים בין גרסאות שונות של תכניות דירה.</a:t>
            </a:r>
          </a:p>
          <a:p>
            <a:r>
              <a:rPr lang="en-US"/>
              <a:t>המטרה היא לבדוק האם השינויים שבוצעו בתכנית הם שינויים מהותיים או לא, באמצעות מערכת מבוססת בינה מלאכותית.</a:t>
            </a:r>
          </a:p>
          <a:p>
            <a:endParaRPr lang="en-US"/>
          </a:p>
          <a:p>
            <a:endParaRPr lang="en-US"/>
          </a:p>
          <a:p>
            <a:endParaRPr lang="en-US"/>
          </a:p>
          <a:p>
            <a:r>
              <a:rPr lang="en-US"/>
              <a:t>להסביר את כל הקטע שבחרנו threshold 0.3 כדי לא לאבד זיהויים של שינוי משמעותי גם במחיר של זיהוי משמעותי שגוי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הבעיה שממנה יצאנו היא שקשה מאוד לאנשים – ובעיקר לרוכשי דירות – להשוות בין שתי גרסאות של אותה תכנית.</a:t>
            </a:r>
          </a:p>
          <a:p>
            <a:r>
              <a:rPr lang="en-US"/>
              <a:t>שינויים קטנים יכולים להסתיר שינויים משמעותיים, וזה עלול להוביל לסיכונים כלכליים ואפילו משפטיים.</a:t>
            </a:r>
          </a:p>
          <a:p>
            <a:endParaRPr lang="en-US"/>
          </a:p>
          <a:p>
            <a:r>
              <a:rPr lang="en-US"/>
              <a:t>לרוב ההבדלים מוצגים כשרטוטים סטטיים, בלי הסבר ברור מה באמת השתנה, והאם זה שינוי משמעותי או קוסמטי בלבד.</a:t>
            </a:r>
          </a:p>
          <a:p>
            <a:r>
              <a:rPr lang="en-US"/>
              <a:t>מכאן נולד הצורך במערכת אוטומטית שתדע להשוות ולסווג שינויים.</a:t>
            </a:r>
          </a:p>
          <a:p>
            <a:endParaRPr lang="en-US"/>
          </a:p>
          <a:p>
            <a:r>
              <a:rPr lang="en-US"/>
              <a:t>את המשימה הגדרנו כזיהוי שינויים תוכניים בין תמונת ‘לפני’ ותמונת ‘אחרי’.</a:t>
            </a:r>
          </a:p>
          <a:p>
            <a:r>
              <a:rPr lang="en-US"/>
              <a:t>לא זיהוי פיקסלים שונים – אלא שינוי במשמעות של האלמנטים בדירה.</a:t>
            </a:r>
          </a:p>
          <a:p>
            <a:endParaRPr lang="en-US"/>
          </a:p>
          <a:p>
            <a:r>
              <a:rPr lang="en-US"/>
              <a:t>כדי לעשות זאת שילבנו שלושה סוגי מודלים:</a:t>
            </a:r>
          </a:p>
          <a:p>
            <a:r>
              <a:rPr lang="en-US"/>
              <a:t>זיהוי אובייקטים כדי להבין מה יש בתכנית,</a:t>
            </a:r>
          </a:p>
          <a:p>
            <a:r>
              <a:rPr lang="en-US"/>
              <a:t>סגמנטציה כדי למקם במדויק את האזור שהשתנה,</a:t>
            </a:r>
          </a:p>
          <a:p>
            <a:r>
              <a:rPr lang="en-US"/>
              <a:t>ובסוף מודל סיווג שמקבל החלטה אם השינוי מהותי.</a:t>
            </a:r>
          </a:p>
          <a:p>
            <a:endParaRPr lang="en-US"/>
          </a:p>
          <a:p>
            <a:r>
              <a:rPr lang="en-US"/>
              <a:t>מאחר ולא קיים דאטא מוכן לבעיה הזו, יצרנו דאטא סינתטי עם תיוגים מלאים עבור תמונות האחרי (עד 9 וריאציות עבור כל תמונה).</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בדוגמה הזו ניתן לראות שינוי קטן בתכנית – הוספת ארון</a:t>
            </a:r>
          </a:p>
          <a:p>
            <a:r>
              <a:rPr lang="en-US"/>
              <a:t>המערכת שלנו מזהה את ההבדל, אבל מסווגת אותו כלא מהותי – כלומר output 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כאן אנחנו רואים שינוי שכן משפיע על הפונקציונליות של הדירה – העלמת האסלה.</a:t>
            </a:r>
          </a:p>
          <a:p>
            <a:r>
              <a:rPr lang="en-US"/>
              <a:t>במקרה כזה המודל מסווג את הזוג כ־output 1, כלומר שינוי מהותי.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ההישג המרכזי של הפרויקט הוא שבנינו מערכת שלמה מקצה לקצה.</a:t>
            </a:r>
          </a:p>
          <a:p>
            <a:r>
              <a:rPr lang="en-US"/>
              <a:t>לא רק אימנו מודל – אלא גם תכננו פייפליין גנרטיבי שמייצר דאטא מתויג בצורה מבוקרת.</a:t>
            </a:r>
          </a:p>
          <a:p>
            <a:endParaRPr lang="en-US"/>
          </a:p>
          <a:p>
            <a:r>
              <a:rPr lang="en-US"/>
              <a:t>החידוש כאן הוא שאין כיום דאטאסט קיים לזיהוי שינויים בתכניות דירה.</a:t>
            </a:r>
          </a:p>
          <a:p>
            <a:r>
              <a:rPr lang="en-US"/>
              <a:t>אנחנו יצרנו דאטא חדש שמאפשר שליטה מלאה בסוג השינוי ובמשמעות שלו.</a:t>
            </a:r>
          </a:p>
          <a:p>
            <a:endParaRPr lang="en-US"/>
          </a:p>
          <a:p>
            <a:r>
              <a:rPr lang="en-US"/>
              <a:t>בנוסף, הגישה שלנו היא explainable – אנחנו יודעים להסביר למה שינוי הוגדר כמהותי או לא.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ו דוגמה ליצירת שינוי מהותי בדאטא הסינתטי.</a:t>
            </a:r>
          </a:p>
          <a:p>
            <a:r>
              <a:rPr lang="en-US"/>
              <a:t>אנחנו מזהים אזור רלוונטי, מבצעים החלפה של שירותים בכיריים, ושומרים על עקביות מבנית של התכנית.</a:t>
            </a:r>
          </a:p>
          <a:p>
            <a:r>
              <a:rPr lang="en-US"/>
              <a:t>כך אנחנו יודעים בוודאות שמדובר בשינוי מהותי.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גם כאן מדובר בשינוי מהותי,  הסרה של כיריים משפיעה ישירות על פונקציונליות המטבח.</a:t>
            </a:r>
          </a:p>
          <a:p>
            <a:r>
              <a:rPr lang="en-US"/>
              <a:t>היתרון בשיטה שלנו הוא שהשינוי מבוצע בצורה מבוקרת ומדויקת, עם תיוג ברור.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בדוגמה הזו אנחנו מסירים ארון.</a:t>
            </a:r>
          </a:p>
          <a:p>
            <a:r>
              <a:rPr lang="en-US"/>
              <a:t>למרות שזה שינוי ויזואלי ברור, הוא לא משפיע מהותית על מבנה הדירה או השימוש בה – ולכן מוגדר כשינוי לא מהותי.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שלב 1: Synthetic Data Generation</a:t>
            </a:r>
          </a:p>
          <a:p>
            <a:endParaRPr lang="en-US"/>
          </a:p>
          <a:p>
            <a:r>
              <a:rPr lang="en-US"/>
              <a:t>השלב הראשון והקריטי ביותר היה יצירת הדאטא.</a:t>
            </a:r>
          </a:p>
          <a:p>
            <a:r>
              <a:rPr lang="en-US"/>
              <a:t>מאחר ולא קיים דאטאסט ציבורי לזיהוי שינויים בין תכניות דירה, היינו חייבים לייצר דאטא משלנו.</a:t>
            </a:r>
          </a:p>
          <a:p>
            <a:endParaRPr lang="en-US"/>
          </a:p>
          <a:p>
            <a:r>
              <a:rPr lang="en-US"/>
              <a:t>לא רצינו לייצר שינויים אקראיים בפיקסלים, אלא שינויים מבוקרים עם משמעות תכנונית.</a:t>
            </a:r>
          </a:p>
          <a:p>
            <a:r>
              <a:rPr lang="en-US"/>
              <a:t>לכן השתמשנו ב־DETR כדי לזהות אובייקטים בתכנית – כמו כיריים, שירותים, ארונות – ולקבל הבנה מבנית של התמונה.</a:t>
            </a:r>
          </a:p>
          <a:p>
            <a:endParaRPr lang="en-US"/>
          </a:p>
          <a:p>
            <a:r>
              <a:rPr lang="en-US"/>
              <a:t>לאחר מכן השתמשנו ב־SAM כדי לבצע סגמנטציה מדויקת של האזור הרלוונטי, כך שנוכל לבצע עריכות נקיות וממוקדות.</a:t>
            </a:r>
          </a:p>
          <a:p>
            <a:endParaRPr lang="en-US"/>
          </a:p>
          <a:p>
            <a:r>
              <a:rPr lang="en-US"/>
              <a:t>למה השילוב הזה חשוב?</a:t>
            </a:r>
          </a:p>
          <a:p>
            <a:endParaRPr lang="en-US"/>
          </a:p>
          <a:p>
            <a:r>
              <a:rPr lang="en-US"/>
              <a:t>השילוב בין זיהוי אובייקטים לסגמנטציה מאפשר לנו לדעת מה אנחנו משנים ו-איפה.</a:t>
            </a:r>
          </a:p>
          <a:p>
            <a:r>
              <a:rPr lang="en-US"/>
              <a:t>זה מה שמבדיל בין דאטא סינתטי ריאליסטי לבין שינוי מלאכותי שקל למודל ‘לנחש’.</a:t>
            </a:r>
          </a:p>
          <a:p>
            <a:endParaRPr lang="en-US"/>
          </a:p>
          <a:p>
            <a:r>
              <a:rPr lang="en-US"/>
              <a:t>🔹 שלב 2: Controlled Patch-Based Edits</a:t>
            </a:r>
          </a:p>
          <a:p>
            <a:endParaRPr lang="en-US"/>
          </a:p>
          <a:p>
            <a:r>
              <a:rPr lang="en-US"/>
              <a:t>לאחר זיהוי האובייקט והאזור שלו, ביצענו עריכות מבוססות פאצ’ים.</a:t>
            </a:r>
          </a:p>
          <a:p>
            <a:r>
              <a:rPr lang="en-US"/>
              <a:t>כל שינוי – הוספה, הסרה או החלפה – בוצע בצורה מבוקרת, תוך שמירה על קנה מידה, מיקום וקונטקסט.</a:t>
            </a:r>
          </a:p>
          <a:p>
            <a:endParaRPr lang="en-US"/>
          </a:p>
          <a:p>
            <a:r>
              <a:rPr lang="en-US"/>
              <a:t>בצורה הזו יצרנו זוגות של before / after, שבהם ידוע מראש איזה שינוי בוצע והאם הוא מוגדר כמהותי או לא.</a:t>
            </a:r>
          </a:p>
          <a:p>
            <a:endParaRPr lang="en-US"/>
          </a:p>
          <a:p>
            <a:r>
              <a:rPr lang="en-US"/>
              <a:t>למה זה קריטי ללמידה?</a:t>
            </a:r>
          </a:p>
          <a:p>
            <a:endParaRPr lang="en-US"/>
          </a:p>
          <a:p>
            <a:r>
              <a:rPr lang="en-US"/>
              <a:t>“זה מאפשר לנו שליטה מלאה על הלייבל.</a:t>
            </a:r>
          </a:p>
          <a:p>
            <a:r>
              <a:rPr lang="en-US"/>
              <a:t>המודל לא רק לומד שיש שינוי, אלא לומד את הקשר בין סוג השינוי למשמעות שלו.”</a:t>
            </a:r>
          </a:p>
          <a:p>
            <a:endParaRPr lang="en-US"/>
          </a:p>
          <a:p>
            <a:r>
              <a:rPr lang="en-US"/>
              <a:t>🔹 שלב 3: Change-Type Classification</a:t>
            </a:r>
          </a:p>
          <a:p>
            <a:endParaRPr lang="en-US"/>
          </a:p>
          <a:p>
            <a:r>
              <a:rPr lang="en-US"/>
              <a:t>“בשלב הבא אימנו מודל סיווג שמקבל זוג תמונות – לפני ואחרי – ומנבא את סוג השינוי ביניהן.</a:t>
            </a:r>
          </a:p>
          <a:p>
            <a:endParaRPr lang="en-US"/>
          </a:p>
          <a:p>
            <a:r>
              <a:rPr lang="en-US"/>
              <a:t>הסיווג מתבצע על בסיס פיצ’רים שמופקים באמצעות DETR, כאשר Hungarian Matching מאפשר התאמה בין האובייקטים בתמונה הראשונה והשנייה.</a:t>
            </a:r>
          </a:p>
          <a:p>
            <a:endParaRPr lang="en-US"/>
          </a:p>
          <a:p>
            <a:r>
              <a:rPr lang="en-US"/>
              <a:t>התוצאה הסופית היא חיזוי בינארי: שינוי מהותי או לא מהותי, יחד עם ציון ביטחון.”</a:t>
            </a:r>
          </a:p>
          <a:p>
            <a:endParaRPr lang="en-US"/>
          </a:p>
          <a:p>
            <a:r>
              <a:rPr lang="en-US"/>
              <a:t>למה לא end-to-end deep model?</a:t>
            </a:r>
          </a:p>
          <a:p>
            <a:endParaRPr lang="en-US"/>
          </a:p>
          <a:p>
            <a:r>
              <a:rPr lang="en-US"/>
              <a:t>בחרנו בגישה הזו כי היא יותר נשלטת וברת־הסבר.</a:t>
            </a:r>
          </a:p>
          <a:p>
            <a:r>
              <a:rPr lang="en-US"/>
              <a:t>אפשר להבין איזה אובייקטים השתנו ואיך זה השפיע על ההחלטה, ולא לקבל החלטה ‘שחורה’ ממודל גדול.</a:t>
            </a:r>
          </a:p>
          <a:p>
            <a:endParaRPr lang="en-US"/>
          </a:p>
          <a:p>
            <a:r>
              <a:rPr lang="en-US"/>
              <a:t>🔹 שלב 4: Evaluation Strategy</a:t>
            </a:r>
          </a:p>
          <a:p>
            <a:endParaRPr lang="en-US"/>
          </a:p>
          <a:p>
            <a:r>
              <a:rPr lang="en-US"/>
              <a:t>בשלב ההערכה השתמשנו במדדים סטנדרטיים – Accuracy, Precision, Recall ו־F1-score –</a:t>
            </a:r>
          </a:p>
          <a:p>
            <a:r>
              <a:rPr lang="en-US"/>
              <a:t>אבל מעבר לזה, התמקדנו מאוד בבחירת סף ההחלטה.</a:t>
            </a:r>
          </a:p>
          <a:p>
            <a:endParaRPr lang="en-US"/>
          </a:p>
          <a:p>
            <a:r>
              <a:rPr lang="en-US"/>
              <a:t>ביצענו threshold sweep כדי לבדוק איך שינוי הסף משפיע על האיזון בין גילוי שינויים מהותיים לבין מניעת false positives.</a:t>
            </a:r>
          </a:p>
          <a:p>
            <a:endParaRPr lang="en-US"/>
          </a:p>
          <a:p>
            <a:r>
              <a:rPr lang="en-US"/>
              <a:t>למה Threshold = 0.3?</a:t>
            </a:r>
          </a:p>
          <a:p>
            <a:endParaRPr lang="en-US"/>
          </a:p>
          <a:p>
            <a:r>
              <a:rPr lang="en-US"/>
              <a:t>מצאנו שסף של 0.3 נותן עדיפות לגילוי שינויים מהותיים, גם במחיר של מעט יותר טעויות (לעומת לדוגמא 0.4 שנתן עדיפות לגילוי שינויים לא מהותיים)</a:t>
            </a:r>
          </a:p>
          <a:p>
            <a:r>
              <a:rPr lang="en-US"/>
              <a:t>וזה מתאים לתרחיש שבו עדיף להתריע על שינוי חשוד מאשר לפספס שינוי משמעותי.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כאן ניתן לראות דוגמה לחיזוי נכון של שינוי מהותי.</a:t>
            </a:r>
          </a:p>
          <a:p>
            <a:r>
              <a:rPr lang="en-US"/>
              <a:t>המודל לא רק נותן החלטה בינארית, אלא גם רמת ביטחון, מה שמאפשר להבין מתי אפשר לסמוך על ההחלטה.</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בדוגמה הזו המודל מזהה שינוי אך מסווג אותו כלא מהותי,</a:t>
            </a:r>
          </a:p>
          <a:p>
            <a:r>
              <a:rPr lang="en-US"/>
              <a:t>וגם כאן ברמת ביטחון גבוהה.</a:t>
            </a:r>
          </a:p>
          <a:p>
            <a:endParaRPr lang="en-US"/>
          </a:p>
          <a:p>
            <a:r>
              <a:rPr lang="en-US"/>
              <a:t>זה קריטי כדי למנוע עומס של התרעות שווא,</a:t>
            </a:r>
          </a:p>
          <a:p>
            <a:r>
              <a:rPr lang="en-US"/>
              <a:t>ובעיקר כדי שהמערכת תהיה שימושית בעולם האמיתי.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בשקופית הזו אנחנו מציגים לא רק את הביצועים של המודל, אלא גם את הדרך שבה קיבלנו החלטות במהלך ההערכה.</a:t>
            </a:r>
          </a:p>
          <a:p>
            <a:r>
              <a:rPr lang="en-US"/>
              <a:t>קודם כול, הסתכלנו על הקשר בין ערך הסף לבין ציון ה־F1, כדי לבחור סף שמאזן בצורה טובה בין Precision ל־Recall. ראינו שה־F1 מגיע לשיא סביב 0.3, ולכן בחרנו בערך הזה, במיוחד כי הוא מאפשר לזהות שינויים מהותיים בלי לפספס יותר מדי מקרים.</a:t>
            </a:r>
          </a:p>
          <a:p>
            <a:r>
              <a:rPr lang="en-US"/>
              <a:t>בדקנו וראינו גם שבTHRESH=0.4 הגענו ליותר דיוק בזיהויים של שינויים לא מהותיים וב0.3 ליותר דיוק בשינויים מהותיים ולכן החלטנו להמשיך עם 0.3</a:t>
            </a:r>
          </a:p>
          <a:p>
            <a:endParaRPr lang="en-US"/>
          </a:p>
          <a:p>
            <a:r>
              <a:rPr lang="en-US"/>
              <a:t>לאחר מכן, השתמשנו במטריצת הבלבול כדי להבין איפה המודל מצליח ואיפה הוא טועה — כלומר האם הטעויות הן בעיקר false positives או false negatives, ואילו סוגי שינויים קשים יותר לזיהוי.</a:t>
            </a:r>
          </a:p>
          <a:p>
            <a:endParaRPr lang="en-US"/>
          </a:p>
          <a:p>
            <a:r>
              <a:rPr lang="en-US"/>
              <a:t>לבסוף, ניתחנו את שיעור השגיאות לפי רמת הביטחון של המודל. הניתוח הזה מראה שככל שהמודל בטוח יותר בהחלטה שלו, כך הסיכוי לטעות קטן. זה חשוב כי זה מאפשר להבין מתי אפשר לסמוך על החיזוי ומתי כדאי להיות זהירים, למשל במקרים עם ביטחון בינוני.</a:t>
            </a:r>
          </a:p>
          <a:p>
            <a:endParaRPr lang="en-US"/>
          </a:p>
          <a:p>
            <a:r>
              <a:rPr lang="en-US"/>
              <a:t>ביחד, שלושת הניתוחים האלה נותנים תמונה מלאה — לא רק כמה המודל מדויק, אלא גם איך להשתמש בו בצורה מושכלת במצבים אמיתיים.</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לסיכום, הצלחנו להראות שאפשר לזהות שינויים מהותיים בתכניות דירה באמצעות שילוב של דאטא סינתטי ומודלים קיימים ובנינו מאגר בן מעל ל4000 תמונות.</a:t>
            </a:r>
          </a:p>
          <a:p>
            <a:endParaRPr lang="en-US"/>
          </a:p>
          <a:p>
            <a:r>
              <a:rPr lang="en-US"/>
              <a:t>אחת התובנות החשובות היא שאיכות הדאטא והגדרת השינוי חשובות יותר ממורכבות המודל עצמו.</a:t>
            </a:r>
          </a:p>
          <a:p>
            <a:r>
              <a:rPr lang="en-US"/>
              <a:t>הבנו גם שמודלים שונים יכולים לתת לנו תוצאות שונות ביחס למה שנצטרך, אם עבור סגמנטציה ואם עבור Inpainting.</a:t>
            </a:r>
          </a:p>
          <a:p>
            <a:r>
              <a:rPr lang="en-US"/>
              <a:t>ולמדנו גם כמה חשוב לבחור את הthreshold וכמה הוא משפיע ישירות על איכות הדיוק של המודל.</a:t>
            </a:r>
          </a:p>
          <a:p>
            <a:endParaRPr lang="en-US"/>
          </a:p>
          <a:p>
            <a:r>
              <a:rPr lang="en-US"/>
              <a:t>בעתיד היינו רוצים להרחיב ולשנות את סוגי השינויים,</a:t>
            </a:r>
          </a:p>
          <a:p>
            <a:r>
              <a:rPr lang="en-US"/>
              <a:t>לשלב דאטא אמיתי,</a:t>
            </a:r>
          </a:p>
          <a:p>
            <a:r>
              <a:rPr lang="en-US"/>
              <a:t>ולהשתמש ברמת הביטחון של המודל כדי להחליט מתי לערב משתמש אנושי.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20-Jan-26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20-Jan-26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20-Jan-26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20-Jan-26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20-Jan-26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20-Jan-26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20-Jan-26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20-Jan-26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20-Jan-26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20-Jan-26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20-Jan-26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20-Jan-26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jpe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2.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2.sv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3.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jpeg"/><Relationship Id="rId7"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jpeg"/><Relationship Id="rId7"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17.sv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jpeg"/><Relationship Id="rId7"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17.sv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1.jpeg"/><Relationship Id="rId7"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1.jpeg"/><Relationship Id="rId7"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333" b="-9333"/>
            </a:stretch>
          </a:blipFill>
        </p:spPr>
        <p:txBody>
          <a:bodyPr/>
          <a:lstStyle/>
          <a:p>
            <a:endParaRPr lang="he-IL"/>
          </a:p>
        </p:txBody>
      </p:sp>
      <p:sp>
        <p:nvSpPr>
          <p:cNvPr id="3" name="Freeform 3"/>
          <p:cNvSpPr/>
          <p:nvPr/>
        </p:nvSpPr>
        <p:spPr>
          <a:xfrm flipH="1">
            <a:off x="-912325" y="4813799"/>
            <a:ext cx="4013771" cy="6473825"/>
          </a:xfrm>
          <a:custGeom>
            <a:avLst/>
            <a:gdLst/>
            <a:ahLst/>
            <a:cxnLst/>
            <a:rect l="l" t="t" r="r" b="b"/>
            <a:pathLst>
              <a:path w="4013771" h="6473825">
                <a:moveTo>
                  <a:pt x="4013772" y="0"/>
                </a:moveTo>
                <a:lnTo>
                  <a:pt x="0" y="0"/>
                </a:lnTo>
                <a:lnTo>
                  <a:pt x="0" y="6473825"/>
                </a:lnTo>
                <a:lnTo>
                  <a:pt x="4013772" y="6473825"/>
                </a:lnTo>
                <a:lnTo>
                  <a:pt x="4013772"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he-IL"/>
          </a:p>
        </p:txBody>
      </p:sp>
      <p:sp>
        <p:nvSpPr>
          <p:cNvPr id="4" name="Freeform 4"/>
          <p:cNvSpPr/>
          <p:nvPr/>
        </p:nvSpPr>
        <p:spPr>
          <a:xfrm>
            <a:off x="15190185" y="4813799"/>
            <a:ext cx="4013771" cy="6473825"/>
          </a:xfrm>
          <a:custGeom>
            <a:avLst/>
            <a:gdLst/>
            <a:ahLst/>
            <a:cxnLst/>
            <a:rect l="l" t="t" r="r" b="b"/>
            <a:pathLst>
              <a:path w="4013771" h="6473825">
                <a:moveTo>
                  <a:pt x="0" y="0"/>
                </a:moveTo>
                <a:lnTo>
                  <a:pt x="4013772" y="0"/>
                </a:lnTo>
                <a:lnTo>
                  <a:pt x="4013772" y="6473825"/>
                </a:lnTo>
                <a:lnTo>
                  <a:pt x="0" y="64738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he-IL"/>
          </a:p>
        </p:txBody>
      </p:sp>
      <p:grpSp>
        <p:nvGrpSpPr>
          <p:cNvPr id="5" name="Group 5"/>
          <p:cNvGrpSpPr/>
          <p:nvPr/>
        </p:nvGrpSpPr>
        <p:grpSpPr>
          <a:xfrm>
            <a:off x="16042187" y="-2245813"/>
            <a:ext cx="4491627" cy="4491627"/>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A6A6A6"/>
              </a:solidFill>
              <a:prstDash val="solid"/>
              <a:miter/>
            </a:ln>
          </p:spPr>
          <p:txBody>
            <a:bodyPr/>
            <a:lstStyle/>
            <a:p>
              <a:endParaRPr lang="he-IL"/>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800"/>
                </a:lnSpc>
              </a:pPr>
              <a:endParaRPr/>
            </a:p>
          </p:txBody>
        </p:sp>
      </p:grpSp>
      <p:sp>
        <p:nvSpPr>
          <p:cNvPr id="8" name="AutoShape 8"/>
          <p:cNvSpPr/>
          <p:nvPr/>
        </p:nvSpPr>
        <p:spPr>
          <a:xfrm>
            <a:off x="-758305" y="2236288"/>
            <a:ext cx="19804610" cy="0"/>
          </a:xfrm>
          <a:prstGeom prst="line">
            <a:avLst/>
          </a:prstGeom>
          <a:ln w="19050" cap="flat">
            <a:solidFill>
              <a:srgbClr val="A6A6A6"/>
            </a:solidFill>
            <a:prstDash val="solid"/>
            <a:headEnd type="none" w="sm" len="sm"/>
            <a:tailEnd type="none" w="sm" len="sm"/>
          </a:ln>
        </p:spPr>
        <p:txBody>
          <a:bodyPr/>
          <a:lstStyle/>
          <a:p>
            <a:endParaRPr lang="he-IL"/>
          </a:p>
        </p:txBody>
      </p:sp>
      <p:sp>
        <p:nvSpPr>
          <p:cNvPr id="9" name="AutoShape 9"/>
          <p:cNvSpPr/>
          <p:nvPr/>
        </p:nvSpPr>
        <p:spPr>
          <a:xfrm>
            <a:off x="1854356" y="8050712"/>
            <a:ext cx="14630090" cy="0"/>
          </a:xfrm>
          <a:prstGeom prst="line">
            <a:avLst/>
          </a:prstGeom>
          <a:ln w="19050" cap="flat">
            <a:solidFill>
              <a:srgbClr val="A6A6A6"/>
            </a:solidFill>
            <a:prstDash val="solid"/>
            <a:headEnd type="none" w="sm" len="sm"/>
            <a:tailEnd type="none" w="sm" len="sm"/>
          </a:ln>
        </p:spPr>
        <p:txBody>
          <a:bodyPr/>
          <a:lstStyle/>
          <a:p>
            <a:endParaRPr lang="he-IL"/>
          </a:p>
        </p:txBody>
      </p:sp>
      <p:sp>
        <p:nvSpPr>
          <p:cNvPr id="10" name="AutoShape 10"/>
          <p:cNvSpPr/>
          <p:nvPr/>
        </p:nvSpPr>
        <p:spPr>
          <a:xfrm flipV="1">
            <a:off x="16032662" y="-691170"/>
            <a:ext cx="0" cy="11669339"/>
          </a:xfrm>
          <a:prstGeom prst="line">
            <a:avLst/>
          </a:prstGeom>
          <a:ln w="19050" cap="flat">
            <a:solidFill>
              <a:srgbClr val="A6A6A6"/>
            </a:solidFill>
            <a:prstDash val="solid"/>
            <a:headEnd type="none" w="sm" len="sm"/>
            <a:tailEnd type="none" w="sm" len="sm"/>
          </a:ln>
        </p:spPr>
        <p:txBody>
          <a:bodyPr/>
          <a:lstStyle/>
          <a:p>
            <a:endParaRPr lang="he-IL"/>
          </a:p>
        </p:txBody>
      </p:sp>
      <p:sp>
        <p:nvSpPr>
          <p:cNvPr id="11" name="AutoShape 11"/>
          <p:cNvSpPr/>
          <p:nvPr/>
        </p:nvSpPr>
        <p:spPr>
          <a:xfrm flipV="1">
            <a:off x="2236288" y="-691170"/>
            <a:ext cx="0" cy="11669339"/>
          </a:xfrm>
          <a:prstGeom prst="line">
            <a:avLst/>
          </a:prstGeom>
          <a:ln w="19050" cap="flat">
            <a:solidFill>
              <a:srgbClr val="A6A6A6"/>
            </a:solidFill>
            <a:prstDash val="solid"/>
            <a:headEnd type="none" w="sm" len="sm"/>
            <a:tailEnd type="none" w="sm" len="sm"/>
          </a:ln>
        </p:spPr>
        <p:txBody>
          <a:bodyPr/>
          <a:lstStyle/>
          <a:p>
            <a:endParaRPr lang="he-IL"/>
          </a:p>
        </p:txBody>
      </p:sp>
      <p:grpSp>
        <p:nvGrpSpPr>
          <p:cNvPr id="12" name="Group 12"/>
          <p:cNvGrpSpPr/>
          <p:nvPr/>
        </p:nvGrpSpPr>
        <p:grpSpPr>
          <a:xfrm>
            <a:off x="-2255338" y="-2255338"/>
            <a:ext cx="4491627" cy="4491627"/>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A6A6A6"/>
              </a:solidFill>
              <a:prstDash val="solid"/>
              <a:miter/>
            </a:ln>
          </p:spPr>
          <p:txBody>
            <a:bodyPr/>
            <a:lstStyle/>
            <a:p>
              <a:endParaRPr lang="he-IL"/>
            </a:p>
          </p:txBody>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800"/>
                </a:lnSpc>
              </a:pPr>
              <a:endParaRPr/>
            </a:p>
          </p:txBody>
        </p:sp>
      </p:grpSp>
      <p:sp>
        <p:nvSpPr>
          <p:cNvPr id="15" name="TextBox 15"/>
          <p:cNvSpPr txBox="1"/>
          <p:nvPr/>
        </p:nvSpPr>
        <p:spPr>
          <a:xfrm>
            <a:off x="2609825" y="2737232"/>
            <a:ext cx="13071981" cy="2406268"/>
          </a:xfrm>
          <a:prstGeom prst="rect">
            <a:avLst/>
          </a:prstGeom>
        </p:spPr>
        <p:txBody>
          <a:bodyPr lIns="0" tIns="0" rIns="0" bIns="0" rtlCol="0" anchor="t">
            <a:spAutoFit/>
          </a:bodyPr>
          <a:lstStyle/>
          <a:p>
            <a:pPr marL="0" lvl="0" indent="0" algn="ctr">
              <a:lnSpc>
                <a:spcPts val="19621"/>
              </a:lnSpc>
              <a:spcBef>
                <a:spcPct val="0"/>
              </a:spcBef>
            </a:pPr>
            <a:r>
              <a:rPr lang="en-US" sz="14015" b="1">
                <a:solidFill>
                  <a:srgbClr val="000000"/>
                </a:solidFill>
                <a:latin typeface="Garet Bold"/>
                <a:ea typeface="Garet Bold"/>
                <a:cs typeface="Garet Bold"/>
                <a:sym typeface="Garet Bold"/>
              </a:rPr>
              <a:t>Built-in</a:t>
            </a:r>
          </a:p>
        </p:txBody>
      </p:sp>
      <p:sp>
        <p:nvSpPr>
          <p:cNvPr id="16" name="TextBox 16"/>
          <p:cNvSpPr txBox="1"/>
          <p:nvPr/>
        </p:nvSpPr>
        <p:spPr>
          <a:xfrm>
            <a:off x="2599495" y="5599539"/>
            <a:ext cx="13069960" cy="1374775"/>
          </a:xfrm>
          <a:prstGeom prst="rect">
            <a:avLst/>
          </a:prstGeom>
        </p:spPr>
        <p:txBody>
          <a:bodyPr lIns="0" tIns="0" rIns="0" bIns="0" rtlCol="0" anchor="t">
            <a:spAutoFit/>
          </a:bodyPr>
          <a:lstStyle/>
          <a:p>
            <a:pPr marL="0" lvl="0" indent="0" algn="ctr" rtl="1">
              <a:lnSpc>
                <a:spcPts val="5599"/>
              </a:lnSpc>
              <a:spcBef>
                <a:spcPct val="0"/>
              </a:spcBef>
            </a:pPr>
            <a:r>
              <a:rPr lang="en-US" sz="3999">
                <a:solidFill>
                  <a:srgbClr val="000000"/>
                </a:solidFill>
                <a:latin typeface="Garet"/>
                <a:ea typeface="Garet"/>
                <a:cs typeface="Garet"/>
                <a:sym typeface="Garet"/>
              </a:rPr>
              <a:t>A GenAI-Based System for Verifying Compliance   Between Floorplans Versions</a:t>
            </a:r>
          </a:p>
        </p:txBody>
      </p:sp>
      <p:sp>
        <p:nvSpPr>
          <p:cNvPr id="17" name="TextBox 17"/>
          <p:cNvSpPr txBox="1"/>
          <p:nvPr/>
        </p:nvSpPr>
        <p:spPr>
          <a:xfrm>
            <a:off x="6399852" y="8755307"/>
            <a:ext cx="5488297" cy="339725"/>
          </a:xfrm>
          <a:prstGeom prst="rect">
            <a:avLst/>
          </a:prstGeom>
        </p:spPr>
        <p:txBody>
          <a:bodyPr lIns="0" tIns="0" rIns="0" bIns="0" rtlCol="0" anchor="t">
            <a:spAutoFit/>
          </a:bodyPr>
          <a:lstStyle/>
          <a:p>
            <a:pPr marL="0" lvl="0" indent="0" algn="ctr">
              <a:lnSpc>
                <a:spcPts val="2800"/>
              </a:lnSpc>
              <a:spcBef>
                <a:spcPct val="0"/>
              </a:spcBef>
            </a:pPr>
            <a:r>
              <a:rPr lang="en-US" sz="2000">
                <a:solidFill>
                  <a:srgbClr val="000000"/>
                </a:solidFill>
                <a:latin typeface="Garet"/>
                <a:ea typeface="Garet"/>
                <a:cs typeface="Garet"/>
                <a:sym typeface="Garet"/>
              </a:rPr>
              <a:t>Afik Aharon, Adi Haim, Liran Aichnboim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333" b="-9333"/>
            </a:stretch>
          </a:blipFill>
        </p:spPr>
        <p:txBody>
          <a:bodyPr/>
          <a:lstStyle/>
          <a:p>
            <a:endParaRPr lang="he-IL"/>
          </a:p>
        </p:txBody>
      </p:sp>
      <p:grpSp>
        <p:nvGrpSpPr>
          <p:cNvPr id="3" name="Group 3"/>
          <p:cNvGrpSpPr/>
          <p:nvPr/>
        </p:nvGrpSpPr>
        <p:grpSpPr>
          <a:xfrm>
            <a:off x="17165093" y="-866775"/>
            <a:ext cx="2245813" cy="2245813"/>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A6A6A6"/>
              </a:solidFill>
              <a:prstDash val="solid"/>
              <a:miter/>
            </a:ln>
          </p:spPr>
          <p:txBody>
            <a:bodyPr/>
            <a:lstStyle/>
            <a:p>
              <a:endParaRPr lang="he-IL"/>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800"/>
                </a:lnSpc>
              </a:pPr>
              <a:endParaRPr/>
            </a:p>
          </p:txBody>
        </p:sp>
      </p:grpSp>
      <p:pic>
        <p:nvPicPr>
          <p:cNvPr id="6" name="Picture 6"/>
          <p:cNvPicPr>
            <a:picLocks noChangeAspect="1"/>
          </p:cNvPicPr>
          <p:nvPr/>
        </p:nvPicPr>
        <p:blipFill>
          <a:blip r:embed="rId4"/>
          <a:stretch>
            <a:fillRect/>
          </a:stretch>
        </p:blipFill>
        <p:spPr>
          <a:xfrm>
            <a:off x="1645358" y="3035773"/>
            <a:ext cx="416401" cy="389977"/>
          </a:xfrm>
          <a:prstGeom prst="rect">
            <a:avLst/>
          </a:prstGeom>
        </p:spPr>
      </p:pic>
      <p:pic>
        <p:nvPicPr>
          <p:cNvPr id="7" name="Picture 7"/>
          <p:cNvPicPr>
            <a:picLocks noChangeAspect="1"/>
          </p:cNvPicPr>
          <p:nvPr/>
        </p:nvPicPr>
        <p:blipFill>
          <a:blip r:embed="rId5"/>
          <a:stretch>
            <a:fillRect/>
          </a:stretch>
        </p:blipFill>
        <p:spPr>
          <a:xfrm>
            <a:off x="1645358" y="5421749"/>
            <a:ext cx="416401" cy="389977"/>
          </a:xfrm>
          <a:prstGeom prst="rect">
            <a:avLst/>
          </a:prstGeom>
        </p:spPr>
      </p:pic>
      <p:sp>
        <p:nvSpPr>
          <p:cNvPr id="8" name="TextBox 8"/>
          <p:cNvSpPr txBox="1"/>
          <p:nvPr/>
        </p:nvSpPr>
        <p:spPr>
          <a:xfrm>
            <a:off x="3022453" y="1356955"/>
            <a:ext cx="12243095" cy="1009651"/>
          </a:xfrm>
          <a:prstGeom prst="rect">
            <a:avLst/>
          </a:prstGeom>
        </p:spPr>
        <p:txBody>
          <a:bodyPr lIns="0" tIns="0" rIns="0" bIns="0" rtlCol="0" anchor="t">
            <a:spAutoFit/>
          </a:bodyPr>
          <a:lstStyle/>
          <a:p>
            <a:pPr marL="0" lvl="0" indent="0" algn="ctr">
              <a:lnSpc>
                <a:spcPts val="8399"/>
              </a:lnSpc>
              <a:spcBef>
                <a:spcPct val="0"/>
              </a:spcBef>
            </a:pPr>
            <a:r>
              <a:rPr lang="en-US" sz="5999" b="1">
                <a:solidFill>
                  <a:srgbClr val="000000"/>
                </a:solidFill>
                <a:latin typeface="Garet Bold"/>
                <a:ea typeface="Garet Bold"/>
                <a:cs typeface="Garet Bold"/>
                <a:sym typeface="Garet Bold"/>
              </a:rPr>
              <a:t>Project Review &amp; Definition</a:t>
            </a:r>
          </a:p>
        </p:txBody>
      </p:sp>
      <p:sp>
        <p:nvSpPr>
          <p:cNvPr id="9" name="TextBox 9"/>
          <p:cNvSpPr txBox="1"/>
          <p:nvPr/>
        </p:nvSpPr>
        <p:spPr>
          <a:xfrm>
            <a:off x="2349854" y="3013592"/>
            <a:ext cx="2096691" cy="396240"/>
          </a:xfrm>
          <a:prstGeom prst="rect">
            <a:avLst/>
          </a:prstGeom>
        </p:spPr>
        <p:txBody>
          <a:bodyPr lIns="0" tIns="0" rIns="0" bIns="0" rtlCol="0" anchor="t">
            <a:spAutoFit/>
          </a:bodyPr>
          <a:lstStyle/>
          <a:p>
            <a:pPr algn="ctr">
              <a:lnSpc>
                <a:spcPts val="3359"/>
              </a:lnSpc>
              <a:spcBef>
                <a:spcPct val="0"/>
              </a:spcBef>
            </a:pPr>
            <a:r>
              <a:rPr lang="en-US" sz="2399" b="1">
                <a:solidFill>
                  <a:srgbClr val="000000"/>
                </a:solidFill>
                <a:latin typeface="Garet Bold"/>
                <a:ea typeface="Garet Bold"/>
                <a:cs typeface="Garet Bold"/>
                <a:sym typeface="Garet Bold"/>
              </a:rPr>
              <a:t>MOTIVATION:</a:t>
            </a:r>
          </a:p>
        </p:txBody>
      </p:sp>
      <p:sp>
        <p:nvSpPr>
          <p:cNvPr id="10" name="TextBox 10"/>
          <p:cNvSpPr txBox="1"/>
          <p:nvPr/>
        </p:nvSpPr>
        <p:spPr>
          <a:xfrm>
            <a:off x="1680058" y="3514338"/>
            <a:ext cx="6168542" cy="1487587"/>
          </a:xfrm>
          <a:prstGeom prst="rect">
            <a:avLst/>
          </a:prstGeom>
        </p:spPr>
        <p:txBody>
          <a:bodyPr wrap="square" lIns="0" tIns="0" rIns="0" bIns="0" rtlCol="0" anchor="t">
            <a:spAutoFit/>
          </a:bodyPr>
          <a:lstStyle/>
          <a:p>
            <a:pPr algn="l">
              <a:lnSpc>
                <a:spcPts val="4000"/>
              </a:lnSpc>
              <a:spcBef>
                <a:spcPct val="0"/>
              </a:spcBef>
            </a:pPr>
            <a:r>
              <a:rPr lang="en-US" sz="2000" u="none" strike="noStrike" dirty="0">
                <a:solidFill>
                  <a:srgbClr val="000000"/>
                </a:solidFill>
                <a:latin typeface="Garet"/>
                <a:ea typeface="Garet"/>
                <a:cs typeface="Garet"/>
                <a:sym typeface="Garet"/>
              </a:rPr>
              <a:t>Comparing different versions of the same floorplan is difficult for buyers and may lead to financial and legal risks.</a:t>
            </a:r>
          </a:p>
        </p:txBody>
      </p:sp>
      <p:sp>
        <p:nvSpPr>
          <p:cNvPr id="11" name="TextBox 11"/>
          <p:cNvSpPr txBox="1"/>
          <p:nvPr/>
        </p:nvSpPr>
        <p:spPr>
          <a:xfrm>
            <a:off x="2350909" y="5418349"/>
            <a:ext cx="889546" cy="396240"/>
          </a:xfrm>
          <a:prstGeom prst="rect">
            <a:avLst/>
          </a:prstGeom>
        </p:spPr>
        <p:txBody>
          <a:bodyPr lIns="0" tIns="0" rIns="0" bIns="0" rtlCol="0" anchor="t">
            <a:spAutoFit/>
          </a:bodyPr>
          <a:lstStyle/>
          <a:p>
            <a:pPr algn="ctr">
              <a:lnSpc>
                <a:spcPts val="3359"/>
              </a:lnSpc>
              <a:spcBef>
                <a:spcPct val="0"/>
              </a:spcBef>
            </a:pPr>
            <a:r>
              <a:rPr lang="en-US" sz="2399" b="1">
                <a:solidFill>
                  <a:srgbClr val="000000"/>
                </a:solidFill>
                <a:latin typeface="Garet Bold"/>
                <a:ea typeface="Garet Bold"/>
                <a:cs typeface="Garet Bold"/>
                <a:sym typeface="Garet Bold"/>
              </a:rPr>
              <a:t>TASK:</a:t>
            </a:r>
          </a:p>
        </p:txBody>
      </p:sp>
      <p:sp>
        <p:nvSpPr>
          <p:cNvPr id="12" name="TextBox 12"/>
          <p:cNvSpPr txBox="1"/>
          <p:nvPr/>
        </p:nvSpPr>
        <p:spPr>
          <a:xfrm>
            <a:off x="1680058" y="5881533"/>
            <a:ext cx="6549542" cy="1487587"/>
          </a:xfrm>
          <a:prstGeom prst="rect">
            <a:avLst/>
          </a:prstGeom>
        </p:spPr>
        <p:txBody>
          <a:bodyPr wrap="square" lIns="0" tIns="0" rIns="0" bIns="0" rtlCol="0" anchor="t">
            <a:spAutoFit/>
          </a:bodyPr>
          <a:lstStyle/>
          <a:p>
            <a:pPr marL="0" lvl="0" indent="0" algn="l">
              <a:lnSpc>
                <a:spcPts val="4000"/>
              </a:lnSpc>
              <a:spcBef>
                <a:spcPct val="0"/>
              </a:spcBef>
            </a:pPr>
            <a:r>
              <a:rPr lang="en-US" sz="2000" u="none" strike="noStrike" dirty="0">
                <a:solidFill>
                  <a:srgbClr val="000000"/>
                </a:solidFill>
                <a:latin typeface="Garet"/>
                <a:ea typeface="Garet"/>
                <a:cs typeface="Garet"/>
                <a:sym typeface="Garet"/>
              </a:rPr>
              <a:t>detect meaningful content changes between two versions of the same floorplan image (before / after).</a:t>
            </a:r>
          </a:p>
        </p:txBody>
      </p:sp>
      <p:sp>
        <p:nvSpPr>
          <p:cNvPr id="13" name="TextBox 13"/>
          <p:cNvSpPr txBox="1"/>
          <p:nvPr/>
        </p:nvSpPr>
        <p:spPr>
          <a:xfrm>
            <a:off x="10303540" y="2808286"/>
            <a:ext cx="1736060" cy="419346"/>
          </a:xfrm>
          <a:prstGeom prst="rect">
            <a:avLst/>
          </a:prstGeom>
        </p:spPr>
        <p:txBody>
          <a:bodyPr wrap="square" lIns="0" tIns="0" rIns="0" bIns="0" rtlCol="0" anchor="t">
            <a:spAutoFit/>
          </a:bodyPr>
          <a:lstStyle/>
          <a:p>
            <a:pPr marL="0" lvl="0" indent="0" algn="ctr">
              <a:lnSpc>
                <a:spcPts val="3359"/>
              </a:lnSpc>
              <a:spcBef>
                <a:spcPct val="0"/>
              </a:spcBef>
            </a:pPr>
            <a:r>
              <a:rPr lang="en-US" sz="2399" b="1" u="none" strike="noStrike" dirty="0">
                <a:solidFill>
                  <a:srgbClr val="000000"/>
                </a:solidFill>
                <a:latin typeface="Garet Bold"/>
                <a:ea typeface="Garet Bold"/>
                <a:cs typeface="Garet Bold"/>
                <a:sym typeface="Garet Bold"/>
              </a:rPr>
              <a:t>MODELS:</a:t>
            </a:r>
          </a:p>
        </p:txBody>
      </p:sp>
      <p:sp>
        <p:nvSpPr>
          <p:cNvPr id="14" name="TextBox 14"/>
          <p:cNvSpPr txBox="1"/>
          <p:nvPr/>
        </p:nvSpPr>
        <p:spPr>
          <a:xfrm>
            <a:off x="9798215" y="3309033"/>
            <a:ext cx="7041985" cy="1487587"/>
          </a:xfrm>
          <a:prstGeom prst="rect">
            <a:avLst/>
          </a:prstGeom>
        </p:spPr>
        <p:txBody>
          <a:bodyPr wrap="square" lIns="0" tIns="0" rIns="0" bIns="0" rtlCol="0" anchor="t">
            <a:spAutoFit/>
          </a:bodyPr>
          <a:lstStyle/>
          <a:p>
            <a:pPr marL="431801" lvl="1" indent="-215900" algn="l">
              <a:lnSpc>
                <a:spcPts val="4000"/>
              </a:lnSpc>
              <a:buFont typeface="Arial"/>
              <a:buChar char="•"/>
            </a:pPr>
            <a:r>
              <a:rPr lang="en-US" sz="2000" u="none" strike="noStrike" dirty="0">
                <a:solidFill>
                  <a:srgbClr val="000000"/>
                </a:solidFill>
                <a:latin typeface="Garet"/>
                <a:ea typeface="Garet"/>
                <a:cs typeface="Garet"/>
                <a:sym typeface="Garet"/>
              </a:rPr>
              <a:t>Object Detection for structural understanding</a:t>
            </a:r>
          </a:p>
          <a:p>
            <a:pPr marL="431801" lvl="1" indent="-215900" algn="l">
              <a:lnSpc>
                <a:spcPts val="4000"/>
              </a:lnSpc>
              <a:buFont typeface="Arial"/>
              <a:buChar char="•"/>
            </a:pPr>
            <a:r>
              <a:rPr lang="en-US" sz="2000" u="none" strike="noStrike" dirty="0">
                <a:solidFill>
                  <a:srgbClr val="000000"/>
                </a:solidFill>
                <a:latin typeface="Garet"/>
                <a:ea typeface="Garet"/>
                <a:cs typeface="Garet"/>
                <a:sym typeface="Garet"/>
              </a:rPr>
              <a:t>Segmentation for precise change localization</a:t>
            </a:r>
          </a:p>
          <a:p>
            <a:pPr marL="431801" lvl="1" indent="-215900" algn="l">
              <a:lnSpc>
                <a:spcPts val="4000"/>
              </a:lnSpc>
              <a:buFont typeface="Arial"/>
              <a:buChar char="•"/>
            </a:pPr>
            <a:r>
              <a:rPr lang="en-US" sz="2000" u="none" strike="noStrike" dirty="0">
                <a:solidFill>
                  <a:srgbClr val="000000"/>
                </a:solidFill>
                <a:latin typeface="Garet"/>
                <a:ea typeface="Garet"/>
                <a:cs typeface="Garet"/>
                <a:sym typeface="Garet"/>
              </a:rPr>
              <a:t>Logistic Regression for classification </a:t>
            </a:r>
          </a:p>
        </p:txBody>
      </p:sp>
      <p:pic>
        <p:nvPicPr>
          <p:cNvPr id="15" name="Picture 15"/>
          <p:cNvPicPr>
            <a:picLocks noChangeAspect="1"/>
          </p:cNvPicPr>
          <p:nvPr/>
        </p:nvPicPr>
        <p:blipFill>
          <a:blip r:embed="rId6"/>
          <a:stretch>
            <a:fillRect/>
          </a:stretch>
        </p:blipFill>
        <p:spPr>
          <a:xfrm>
            <a:off x="9763515" y="2811686"/>
            <a:ext cx="416401" cy="389977"/>
          </a:xfrm>
          <a:prstGeom prst="rect">
            <a:avLst/>
          </a:prstGeom>
        </p:spPr>
      </p:pic>
      <p:pic>
        <p:nvPicPr>
          <p:cNvPr id="16" name="Picture 16"/>
          <p:cNvPicPr>
            <a:picLocks noChangeAspect="1"/>
          </p:cNvPicPr>
          <p:nvPr/>
        </p:nvPicPr>
        <p:blipFill>
          <a:blip r:embed="rId7"/>
          <a:stretch>
            <a:fillRect/>
          </a:stretch>
        </p:blipFill>
        <p:spPr>
          <a:xfrm>
            <a:off x="9763515" y="4995182"/>
            <a:ext cx="416401" cy="389977"/>
          </a:xfrm>
          <a:prstGeom prst="rect">
            <a:avLst/>
          </a:prstGeom>
        </p:spPr>
      </p:pic>
      <p:sp>
        <p:nvSpPr>
          <p:cNvPr id="17" name="TextBox 17"/>
          <p:cNvSpPr txBox="1"/>
          <p:nvPr/>
        </p:nvSpPr>
        <p:spPr>
          <a:xfrm>
            <a:off x="10303540" y="5024005"/>
            <a:ext cx="1278860" cy="419346"/>
          </a:xfrm>
          <a:prstGeom prst="rect">
            <a:avLst/>
          </a:prstGeom>
        </p:spPr>
        <p:txBody>
          <a:bodyPr wrap="square" lIns="0" tIns="0" rIns="0" bIns="0" rtlCol="0" anchor="t">
            <a:spAutoFit/>
          </a:bodyPr>
          <a:lstStyle/>
          <a:p>
            <a:pPr marL="0" lvl="0" indent="0" algn="ctr">
              <a:lnSpc>
                <a:spcPts val="3359"/>
              </a:lnSpc>
              <a:spcBef>
                <a:spcPct val="0"/>
              </a:spcBef>
            </a:pPr>
            <a:r>
              <a:rPr lang="en-US" sz="2399" b="1" u="none" strike="noStrike" dirty="0">
                <a:solidFill>
                  <a:srgbClr val="000000"/>
                </a:solidFill>
                <a:latin typeface="Garet Bold"/>
                <a:ea typeface="Garet Bold"/>
                <a:cs typeface="Garet Bold"/>
                <a:sym typeface="Garet Bold"/>
              </a:rPr>
              <a:t>DATA:</a:t>
            </a:r>
          </a:p>
        </p:txBody>
      </p:sp>
      <p:sp>
        <p:nvSpPr>
          <p:cNvPr id="18" name="TextBox 18"/>
          <p:cNvSpPr txBox="1"/>
          <p:nvPr/>
        </p:nvSpPr>
        <p:spPr>
          <a:xfrm>
            <a:off x="10303540" y="6816524"/>
            <a:ext cx="1508075" cy="396240"/>
          </a:xfrm>
          <a:prstGeom prst="rect">
            <a:avLst/>
          </a:prstGeom>
        </p:spPr>
        <p:txBody>
          <a:bodyPr lIns="0" tIns="0" rIns="0" bIns="0" rtlCol="0" anchor="t">
            <a:spAutoFit/>
          </a:bodyPr>
          <a:lstStyle/>
          <a:p>
            <a:pPr marL="0" lvl="0" indent="0" algn="ctr">
              <a:lnSpc>
                <a:spcPts val="3359"/>
              </a:lnSpc>
              <a:spcBef>
                <a:spcPct val="0"/>
              </a:spcBef>
            </a:pPr>
            <a:r>
              <a:rPr lang="en-US" sz="2399" b="1" u="none" strike="noStrike">
                <a:solidFill>
                  <a:srgbClr val="000000"/>
                </a:solidFill>
                <a:latin typeface="Garet Bold"/>
                <a:ea typeface="Garet Bold"/>
                <a:cs typeface="Garet Bold"/>
                <a:sym typeface="Garet Bold"/>
              </a:rPr>
              <a:t>METRICS:</a:t>
            </a:r>
          </a:p>
        </p:txBody>
      </p:sp>
      <p:pic>
        <p:nvPicPr>
          <p:cNvPr id="19" name="Picture 19"/>
          <p:cNvPicPr>
            <a:picLocks noChangeAspect="1"/>
          </p:cNvPicPr>
          <p:nvPr/>
        </p:nvPicPr>
        <p:blipFill>
          <a:blip r:embed="rId8"/>
          <a:stretch>
            <a:fillRect/>
          </a:stretch>
        </p:blipFill>
        <p:spPr>
          <a:xfrm>
            <a:off x="9763515" y="6819924"/>
            <a:ext cx="416401" cy="389977"/>
          </a:xfrm>
          <a:prstGeom prst="rect">
            <a:avLst/>
          </a:prstGeom>
        </p:spPr>
      </p:pic>
      <p:sp>
        <p:nvSpPr>
          <p:cNvPr id="20" name="TextBox 20"/>
          <p:cNvSpPr txBox="1"/>
          <p:nvPr/>
        </p:nvSpPr>
        <p:spPr>
          <a:xfrm>
            <a:off x="9798215" y="7317539"/>
            <a:ext cx="5975185" cy="974626"/>
          </a:xfrm>
          <a:prstGeom prst="rect">
            <a:avLst/>
          </a:prstGeom>
        </p:spPr>
        <p:txBody>
          <a:bodyPr wrap="square" lIns="0" tIns="0" rIns="0" bIns="0" rtlCol="0" anchor="t">
            <a:spAutoFit/>
          </a:bodyPr>
          <a:lstStyle/>
          <a:p>
            <a:pPr marL="431801" lvl="1" indent="-215900" algn="l">
              <a:lnSpc>
                <a:spcPts val="4000"/>
              </a:lnSpc>
              <a:spcBef>
                <a:spcPct val="0"/>
              </a:spcBef>
              <a:buFont typeface="Arial"/>
              <a:buChar char="•"/>
            </a:pPr>
            <a:r>
              <a:rPr lang="en-US" sz="2000" u="none" strike="noStrike" dirty="0">
                <a:solidFill>
                  <a:srgbClr val="000000"/>
                </a:solidFill>
                <a:latin typeface="Garet"/>
                <a:ea typeface="Garet"/>
                <a:cs typeface="Garet"/>
                <a:sym typeface="Garet"/>
              </a:rPr>
              <a:t>Accuracy, Precision, Recall, F1-score</a:t>
            </a:r>
          </a:p>
          <a:p>
            <a:pPr marL="431801" lvl="1" indent="-215900" algn="l">
              <a:lnSpc>
                <a:spcPts val="4000"/>
              </a:lnSpc>
              <a:spcBef>
                <a:spcPct val="0"/>
              </a:spcBef>
              <a:buFont typeface="Arial"/>
              <a:buChar char="•"/>
            </a:pPr>
            <a:r>
              <a:rPr lang="en-US" sz="2000" u="none" strike="noStrike" dirty="0">
                <a:solidFill>
                  <a:srgbClr val="000000"/>
                </a:solidFill>
                <a:latin typeface="Garet"/>
                <a:ea typeface="Garet"/>
                <a:cs typeface="Garet"/>
                <a:sym typeface="Garet"/>
              </a:rPr>
              <a:t>Per change-type evaluation</a:t>
            </a:r>
          </a:p>
        </p:txBody>
      </p:sp>
      <p:sp>
        <p:nvSpPr>
          <p:cNvPr id="21" name="TextBox 21"/>
          <p:cNvSpPr txBox="1"/>
          <p:nvPr/>
        </p:nvSpPr>
        <p:spPr>
          <a:xfrm>
            <a:off x="9798214" y="5525021"/>
            <a:ext cx="7118185" cy="974626"/>
          </a:xfrm>
          <a:prstGeom prst="rect">
            <a:avLst/>
          </a:prstGeom>
        </p:spPr>
        <p:txBody>
          <a:bodyPr wrap="square" lIns="0" tIns="0" rIns="0" bIns="0" rtlCol="0" anchor="t">
            <a:spAutoFit/>
          </a:bodyPr>
          <a:lstStyle/>
          <a:p>
            <a:pPr marL="431801" lvl="1" indent="-215900" algn="l">
              <a:lnSpc>
                <a:spcPts val="4000"/>
              </a:lnSpc>
              <a:spcBef>
                <a:spcPct val="0"/>
              </a:spcBef>
              <a:buFont typeface="Arial"/>
              <a:buChar char="•"/>
            </a:pPr>
            <a:r>
              <a:rPr lang="en-US" sz="2000" u="none" strike="noStrike" dirty="0">
                <a:solidFill>
                  <a:srgbClr val="000000"/>
                </a:solidFill>
                <a:latin typeface="Garet"/>
                <a:ea typeface="Garet"/>
                <a:cs typeface="Garet"/>
                <a:sym typeface="Garet"/>
              </a:rPr>
              <a:t>Synthetic data for before / after floorplan pairs</a:t>
            </a:r>
          </a:p>
          <a:p>
            <a:pPr marL="431801" lvl="1" indent="-215900" algn="l">
              <a:lnSpc>
                <a:spcPts val="4000"/>
              </a:lnSpc>
              <a:spcBef>
                <a:spcPct val="0"/>
              </a:spcBef>
              <a:buFont typeface="Arial"/>
              <a:buChar char="•"/>
            </a:pPr>
            <a:r>
              <a:rPr lang="en-US" sz="2000" u="none" strike="noStrike" dirty="0">
                <a:solidFill>
                  <a:srgbClr val="000000"/>
                </a:solidFill>
                <a:latin typeface="Garet"/>
                <a:ea typeface="Garet"/>
                <a:cs typeface="Garet"/>
                <a:sym typeface="Garet"/>
              </a:rPr>
              <a:t>Known change types and pixel-level masks</a:t>
            </a:r>
          </a:p>
        </p:txBody>
      </p:sp>
      <p:sp>
        <p:nvSpPr>
          <p:cNvPr id="22" name="TextBox 22"/>
          <p:cNvSpPr txBox="1"/>
          <p:nvPr/>
        </p:nvSpPr>
        <p:spPr>
          <a:xfrm>
            <a:off x="1077440" y="8914564"/>
            <a:ext cx="16448559" cy="469359"/>
          </a:xfrm>
          <a:prstGeom prst="rect">
            <a:avLst/>
          </a:prstGeom>
        </p:spPr>
        <p:txBody>
          <a:bodyPr wrap="square" lIns="0" tIns="0" rIns="0" bIns="0" rtlCol="0" anchor="t">
            <a:spAutoFit/>
          </a:bodyPr>
          <a:lstStyle/>
          <a:p>
            <a:pPr marL="0" lvl="0" indent="0" algn="ctr">
              <a:lnSpc>
                <a:spcPts val="3780"/>
              </a:lnSpc>
              <a:spcBef>
                <a:spcPct val="0"/>
              </a:spcBef>
            </a:pPr>
            <a:r>
              <a:rPr lang="en-US" sz="2700" b="1" u="none" strike="noStrike" dirty="0">
                <a:solidFill>
                  <a:srgbClr val="000000"/>
                </a:solidFill>
                <a:latin typeface="Garet Bold"/>
                <a:ea typeface="Garet Bold"/>
                <a:cs typeface="Garet Bold"/>
                <a:sym typeface="Garet Bold"/>
              </a:rPr>
              <a:t>We generate the data needed to teach AI how to understand meaningful design changes.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333" b="-9333"/>
            </a:stretch>
          </a:blipFill>
        </p:spPr>
        <p:txBody>
          <a:bodyPr/>
          <a:lstStyle/>
          <a:p>
            <a:endParaRPr lang="he-IL"/>
          </a:p>
        </p:txBody>
      </p:sp>
      <p:grpSp>
        <p:nvGrpSpPr>
          <p:cNvPr id="3" name="Group 3"/>
          <p:cNvGrpSpPr/>
          <p:nvPr/>
        </p:nvGrpSpPr>
        <p:grpSpPr>
          <a:xfrm>
            <a:off x="-1122907" y="-1099942"/>
            <a:ext cx="2245813" cy="2245813"/>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A6A6A6"/>
              </a:solidFill>
              <a:prstDash val="solid"/>
              <a:miter/>
            </a:ln>
          </p:spPr>
          <p:txBody>
            <a:bodyPr/>
            <a:lstStyle/>
            <a:p>
              <a:endParaRPr lang="he-IL"/>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800"/>
                </a:lnSpc>
              </a:pPr>
              <a:endParaRPr/>
            </a:p>
          </p:txBody>
        </p:sp>
      </p:grpSp>
      <p:grpSp>
        <p:nvGrpSpPr>
          <p:cNvPr id="6" name="Group 6"/>
          <p:cNvGrpSpPr/>
          <p:nvPr/>
        </p:nvGrpSpPr>
        <p:grpSpPr>
          <a:xfrm>
            <a:off x="17165093" y="9258300"/>
            <a:ext cx="2245813" cy="224581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A6A6A6"/>
              </a:solidFill>
              <a:prstDash val="solid"/>
              <a:miter/>
            </a:ln>
          </p:spPr>
          <p:txBody>
            <a:bodyPr/>
            <a:lstStyle/>
            <a:p>
              <a:endParaRPr lang="he-IL"/>
            </a:p>
          </p:txBody>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800"/>
                </a:lnSpc>
              </a:pPr>
              <a:endParaRPr/>
            </a:p>
          </p:txBody>
        </p:sp>
      </p:grpSp>
      <p:sp>
        <p:nvSpPr>
          <p:cNvPr id="9" name="AutoShape 9"/>
          <p:cNvSpPr/>
          <p:nvPr/>
        </p:nvSpPr>
        <p:spPr>
          <a:xfrm flipV="1">
            <a:off x="17155568" y="-691170"/>
            <a:ext cx="0" cy="11669339"/>
          </a:xfrm>
          <a:prstGeom prst="line">
            <a:avLst/>
          </a:prstGeom>
          <a:ln w="19050" cap="flat">
            <a:solidFill>
              <a:srgbClr val="A6A6A6"/>
            </a:solidFill>
            <a:prstDash val="solid"/>
            <a:headEnd type="none" w="sm" len="sm"/>
            <a:tailEnd type="none" w="sm" len="sm"/>
          </a:ln>
        </p:spPr>
        <p:txBody>
          <a:bodyPr/>
          <a:lstStyle/>
          <a:p>
            <a:endParaRPr lang="he-IL"/>
          </a:p>
        </p:txBody>
      </p:sp>
      <p:sp>
        <p:nvSpPr>
          <p:cNvPr id="10" name="AutoShape 10"/>
          <p:cNvSpPr/>
          <p:nvPr/>
        </p:nvSpPr>
        <p:spPr>
          <a:xfrm flipV="1">
            <a:off x="1132432" y="-691170"/>
            <a:ext cx="0" cy="11669339"/>
          </a:xfrm>
          <a:prstGeom prst="line">
            <a:avLst/>
          </a:prstGeom>
          <a:ln w="19050" cap="flat">
            <a:solidFill>
              <a:srgbClr val="A6A6A6"/>
            </a:solidFill>
            <a:prstDash val="solid"/>
            <a:headEnd type="none" w="sm" len="sm"/>
            <a:tailEnd type="none" w="sm" len="sm"/>
          </a:ln>
        </p:spPr>
        <p:txBody>
          <a:bodyPr/>
          <a:lstStyle/>
          <a:p>
            <a:endParaRPr lang="he-IL"/>
          </a:p>
        </p:txBody>
      </p:sp>
      <p:grpSp>
        <p:nvGrpSpPr>
          <p:cNvPr id="11" name="Group 11"/>
          <p:cNvGrpSpPr/>
          <p:nvPr/>
        </p:nvGrpSpPr>
        <p:grpSpPr>
          <a:xfrm>
            <a:off x="3786498" y="8326281"/>
            <a:ext cx="11186553" cy="1315980"/>
            <a:chOff x="0" y="0"/>
            <a:chExt cx="2946253" cy="346595"/>
          </a:xfrm>
        </p:grpSpPr>
        <p:sp>
          <p:nvSpPr>
            <p:cNvPr id="12" name="Freeform 12"/>
            <p:cNvSpPr/>
            <p:nvPr/>
          </p:nvSpPr>
          <p:spPr>
            <a:xfrm>
              <a:off x="0" y="0"/>
              <a:ext cx="2946253" cy="346595"/>
            </a:xfrm>
            <a:custGeom>
              <a:avLst/>
              <a:gdLst/>
              <a:ahLst/>
              <a:cxnLst/>
              <a:rect l="l" t="t" r="r" b="b"/>
              <a:pathLst>
                <a:path w="2946253" h="346595">
                  <a:moveTo>
                    <a:pt x="0" y="0"/>
                  </a:moveTo>
                  <a:lnTo>
                    <a:pt x="2946253" y="0"/>
                  </a:lnTo>
                  <a:lnTo>
                    <a:pt x="2946253" y="346595"/>
                  </a:lnTo>
                  <a:lnTo>
                    <a:pt x="0" y="346595"/>
                  </a:lnTo>
                  <a:close/>
                </a:path>
              </a:pathLst>
            </a:custGeom>
            <a:solidFill>
              <a:srgbClr val="000000">
                <a:alpha val="0"/>
              </a:srgbClr>
            </a:solidFill>
            <a:ln w="19050" cap="sq">
              <a:solidFill>
                <a:srgbClr val="A6A6A6"/>
              </a:solidFill>
              <a:prstDash val="solid"/>
              <a:miter/>
            </a:ln>
          </p:spPr>
          <p:txBody>
            <a:bodyPr/>
            <a:lstStyle/>
            <a:p>
              <a:endParaRPr lang="he-IL"/>
            </a:p>
          </p:txBody>
        </p:sp>
        <p:sp>
          <p:nvSpPr>
            <p:cNvPr id="13" name="TextBox 13"/>
            <p:cNvSpPr txBox="1"/>
            <p:nvPr/>
          </p:nvSpPr>
          <p:spPr>
            <a:xfrm>
              <a:off x="0" y="-38100"/>
              <a:ext cx="2946253" cy="384695"/>
            </a:xfrm>
            <a:prstGeom prst="rect">
              <a:avLst/>
            </a:prstGeom>
          </p:spPr>
          <p:txBody>
            <a:bodyPr lIns="50800" tIns="50800" rIns="50800" bIns="50800" rtlCol="0" anchor="ctr"/>
            <a:lstStyle/>
            <a:p>
              <a:pPr algn="ctr">
                <a:lnSpc>
                  <a:spcPts val="2800"/>
                </a:lnSpc>
              </a:pPr>
              <a:endParaRPr/>
            </a:p>
          </p:txBody>
        </p:sp>
      </p:grpSp>
      <p:sp>
        <p:nvSpPr>
          <p:cNvPr id="14" name="Freeform 14"/>
          <p:cNvSpPr/>
          <p:nvPr/>
        </p:nvSpPr>
        <p:spPr>
          <a:xfrm>
            <a:off x="1970789" y="2635926"/>
            <a:ext cx="6646481" cy="5327205"/>
          </a:xfrm>
          <a:custGeom>
            <a:avLst/>
            <a:gdLst/>
            <a:ahLst/>
            <a:cxnLst/>
            <a:rect l="l" t="t" r="r" b="b"/>
            <a:pathLst>
              <a:path w="6646481" h="5327205">
                <a:moveTo>
                  <a:pt x="0" y="0"/>
                </a:moveTo>
                <a:lnTo>
                  <a:pt x="6646481" y="0"/>
                </a:lnTo>
                <a:lnTo>
                  <a:pt x="6646481" y="5327205"/>
                </a:lnTo>
                <a:lnTo>
                  <a:pt x="0" y="5327205"/>
                </a:lnTo>
                <a:lnTo>
                  <a:pt x="0" y="0"/>
                </a:lnTo>
                <a:close/>
              </a:path>
            </a:pathLst>
          </a:custGeom>
          <a:blipFill>
            <a:blip r:embed="rId4"/>
            <a:stretch>
              <a:fillRect l="-11004" t="-978" r="-8771" b="-11100"/>
            </a:stretch>
          </a:blipFill>
        </p:spPr>
        <p:txBody>
          <a:bodyPr/>
          <a:lstStyle/>
          <a:p>
            <a:endParaRPr lang="he-IL"/>
          </a:p>
        </p:txBody>
      </p:sp>
      <p:sp>
        <p:nvSpPr>
          <p:cNvPr id="15" name="Freeform 15"/>
          <p:cNvSpPr/>
          <p:nvPr/>
        </p:nvSpPr>
        <p:spPr>
          <a:xfrm>
            <a:off x="9670730" y="2635926"/>
            <a:ext cx="6646481" cy="5327205"/>
          </a:xfrm>
          <a:custGeom>
            <a:avLst/>
            <a:gdLst/>
            <a:ahLst/>
            <a:cxnLst/>
            <a:rect l="l" t="t" r="r" b="b"/>
            <a:pathLst>
              <a:path w="6646481" h="5327205">
                <a:moveTo>
                  <a:pt x="0" y="0"/>
                </a:moveTo>
                <a:lnTo>
                  <a:pt x="6646481" y="0"/>
                </a:lnTo>
                <a:lnTo>
                  <a:pt x="6646481" y="5327205"/>
                </a:lnTo>
                <a:lnTo>
                  <a:pt x="0" y="5327205"/>
                </a:lnTo>
                <a:lnTo>
                  <a:pt x="0" y="0"/>
                </a:lnTo>
                <a:close/>
              </a:path>
            </a:pathLst>
          </a:custGeom>
          <a:blipFill>
            <a:blip r:embed="rId4"/>
            <a:stretch>
              <a:fillRect l="-11004" t="-978" r="-8771" b="-11100"/>
            </a:stretch>
          </a:blipFill>
        </p:spPr>
        <p:txBody>
          <a:bodyPr/>
          <a:lstStyle/>
          <a:p>
            <a:endParaRPr lang="he-IL"/>
          </a:p>
        </p:txBody>
      </p:sp>
      <p:sp>
        <p:nvSpPr>
          <p:cNvPr id="16" name="Freeform 16"/>
          <p:cNvSpPr/>
          <p:nvPr/>
        </p:nvSpPr>
        <p:spPr>
          <a:xfrm>
            <a:off x="15136074" y="7053134"/>
            <a:ext cx="688026" cy="167541"/>
          </a:xfrm>
          <a:custGeom>
            <a:avLst/>
            <a:gdLst/>
            <a:ahLst/>
            <a:cxnLst/>
            <a:rect l="l" t="t" r="r" b="b"/>
            <a:pathLst>
              <a:path w="688026" h="167541">
                <a:moveTo>
                  <a:pt x="0" y="0"/>
                </a:moveTo>
                <a:lnTo>
                  <a:pt x="688026" y="0"/>
                </a:lnTo>
                <a:lnTo>
                  <a:pt x="688026" y="167541"/>
                </a:lnTo>
                <a:lnTo>
                  <a:pt x="0" y="167541"/>
                </a:lnTo>
                <a:lnTo>
                  <a:pt x="0" y="0"/>
                </a:lnTo>
                <a:close/>
              </a:path>
            </a:pathLst>
          </a:custGeom>
          <a:blipFill>
            <a:blip r:embed="rId5"/>
            <a:stretch>
              <a:fillRect l="-1776" t="-8219" r="-3633"/>
            </a:stretch>
          </a:blipFill>
        </p:spPr>
        <p:txBody>
          <a:bodyPr/>
          <a:lstStyle/>
          <a:p>
            <a:endParaRPr lang="he-IL"/>
          </a:p>
        </p:txBody>
      </p:sp>
      <p:sp>
        <p:nvSpPr>
          <p:cNvPr id="17" name="Freeform 17"/>
          <p:cNvSpPr/>
          <p:nvPr/>
        </p:nvSpPr>
        <p:spPr>
          <a:xfrm>
            <a:off x="14920888" y="6626508"/>
            <a:ext cx="1118398" cy="1020793"/>
          </a:xfrm>
          <a:custGeom>
            <a:avLst/>
            <a:gdLst/>
            <a:ahLst/>
            <a:cxnLst/>
            <a:rect l="l" t="t" r="r" b="b"/>
            <a:pathLst>
              <a:path w="1118398" h="1020793">
                <a:moveTo>
                  <a:pt x="0" y="0"/>
                </a:moveTo>
                <a:lnTo>
                  <a:pt x="1118398" y="0"/>
                </a:lnTo>
                <a:lnTo>
                  <a:pt x="1118398" y="1020793"/>
                </a:lnTo>
                <a:lnTo>
                  <a:pt x="0" y="102079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he-IL"/>
          </a:p>
        </p:txBody>
      </p:sp>
      <p:sp>
        <p:nvSpPr>
          <p:cNvPr id="18" name="TextBox 18"/>
          <p:cNvSpPr txBox="1"/>
          <p:nvPr/>
        </p:nvSpPr>
        <p:spPr>
          <a:xfrm>
            <a:off x="5785365" y="682877"/>
            <a:ext cx="6717269" cy="1009651"/>
          </a:xfrm>
          <a:prstGeom prst="rect">
            <a:avLst/>
          </a:prstGeom>
        </p:spPr>
        <p:txBody>
          <a:bodyPr lIns="0" tIns="0" rIns="0" bIns="0" rtlCol="0" anchor="t">
            <a:spAutoFit/>
          </a:bodyPr>
          <a:lstStyle/>
          <a:p>
            <a:pPr marL="0" lvl="0" indent="0" algn="ctr">
              <a:lnSpc>
                <a:spcPts val="8399"/>
              </a:lnSpc>
              <a:spcBef>
                <a:spcPct val="0"/>
              </a:spcBef>
            </a:pPr>
            <a:r>
              <a:rPr lang="en-US" sz="5999" b="1">
                <a:solidFill>
                  <a:srgbClr val="000000"/>
                </a:solidFill>
                <a:latin typeface="Garet Bold"/>
                <a:ea typeface="Garet Bold"/>
                <a:cs typeface="Garet Bold"/>
                <a:sym typeface="Garet Bold"/>
              </a:rPr>
              <a:t>Example 1</a:t>
            </a:r>
          </a:p>
        </p:txBody>
      </p:sp>
      <p:sp>
        <p:nvSpPr>
          <p:cNvPr id="19" name="TextBox 19"/>
          <p:cNvSpPr txBox="1"/>
          <p:nvPr/>
        </p:nvSpPr>
        <p:spPr>
          <a:xfrm>
            <a:off x="6074803" y="8749320"/>
            <a:ext cx="6609942" cy="422275"/>
          </a:xfrm>
          <a:prstGeom prst="rect">
            <a:avLst/>
          </a:prstGeom>
        </p:spPr>
        <p:txBody>
          <a:bodyPr lIns="0" tIns="0" rIns="0" bIns="0" rtlCol="0" anchor="t">
            <a:spAutoFit/>
          </a:bodyPr>
          <a:lstStyle/>
          <a:p>
            <a:pPr marL="0" lvl="0" indent="0" algn="ctr">
              <a:lnSpc>
                <a:spcPts val="3499"/>
              </a:lnSpc>
              <a:spcBef>
                <a:spcPct val="0"/>
              </a:spcBef>
            </a:pPr>
            <a:r>
              <a:rPr lang="en-US" sz="2499">
                <a:solidFill>
                  <a:srgbClr val="000000"/>
                </a:solidFill>
                <a:latin typeface="Garet"/>
                <a:ea typeface="Garet"/>
                <a:cs typeface="Garet"/>
                <a:sym typeface="Garet"/>
              </a:rPr>
              <a:t>output: 0 – No substantial modification</a:t>
            </a:r>
          </a:p>
        </p:txBody>
      </p:sp>
      <p:sp>
        <p:nvSpPr>
          <p:cNvPr id="20" name="TextBox 20"/>
          <p:cNvSpPr txBox="1"/>
          <p:nvPr/>
        </p:nvSpPr>
        <p:spPr>
          <a:xfrm>
            <a:off x="1970789" y="2008052"/>
            <a:ext cx="1382009" cy="432811"/>
          </a:xfrm>
          <a:prstGeom prst="rect">
            <a:avLst/>
          </a:prstGeom>
        </p:spPr>
        <p:txBody>
          <a:bodyPr wrap="square" lIns="0" tIns="0" rIns="0" bIns="0" rtlCol="0" anchor="t">
            <a:spAutoFit/>
          </a:bodyPr>
          <a:lstStyle/>
          <a:p>
            <a:pPr algn="ctr">
              <a:lnSpc>
                <a:spcPts val="3499"/>
              </a:lnSpc>
              <a:spcBef>
                <a:spcPct val="0"/>
              </a:spcBef>
            </a:pPr>
            <a:r>
              <a:rPr lang="en-US" sz="2499" u="sng" dirty="0">
                <a:solidFill>
                  <a:srgbClr val="000000"/>
                </a:solidFill>
                <a:latin typeface="Garet"/>
                <a:ea typeface="Garet"/>
                <a:cs typeface="Garet"/>
                <a:sym typeface="Garet"/>
              </a:rPr>
              <a:t>BEFORE:</a:t>
            </a:r>
          </a:p>
        </p:txBody>
      </p:sp>
      <p:sp>
        <p:nvSpPr>
          <p:cNvPr id="21" name="TextBox 21"/>
          <p:cNvSpPr txBox="1"/>
          <p:nvPr/>
        </p:nvSpPr>
        <p:spPr>
          <a:xfrm>
            <a:off x="9670729" y="2008052"/>
            <a:ext cx="1382009" cy="432811"/>
          </a:xfrm>
          <a:prstGeom prst="rect">
            <a:avLst/>
          </a:prstGeom>
        </p:spPr>
        <p:txBody>
          <a:bodyPr wrap="square" lIns="0" tIns="0" rIns="0" bIns="0" rtlCol="0" anchor="t">
            <a:spAutoFit/>
          </a:bodyPr>
          <a:lstStyle/>
          <a:p>
            <a:pPr algn="ctr">
              <a:lnSpc>
                <a:spcPts val="3499"/>
              </a:lnSpc>
              <a:spcBef>
                <a:spcPct val="0"/>
              </a:spcBef>
            </a:pPr>
            <a:r>
              <a:rPr lang="en-US" sz="2499" u="sng" dirty="0">
                <a:solidFill>
                  <a:srgbClr val="000000"/>
                </a:solidFill>
                <a:latin typeface="Garet"/>
                <a:ea typeface="Garet"/>
                <a:cs typeface="Garet"/>
                <a:sym typeface="Garet"/>
              </a:rPr>
              <a:t>AFTER: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333" b="-9333"/>
            </a:stretch>
          </a:blipFill>
        </p:spPr>
        <p:txBody>
          <a:bodyPr/>
          <a:lstStyle/>
          <a:p>
            <a:endParaRPr lang="he-IL"/>
          </a:p>
        </p:txBody>
      </p:sp>
      <p:grpSp>
        <p:nvGrpSpPr>
          <p:cNvPr id="3" name="Group 3"/>
          <p:cNvGrpSpPr/>
          <p:nvPr/>
        </p:nvGrpSpPr>
        <p:grpSpPr>
          <a:xfrm>
            <a:off x="-1122907" y="-1099942"/>
            <a:ext cx="2245813" cy="2245813"/>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A6A6A6"/>
              </a:solidFill>
              <a:prstDash val="solid"/>
              <a:miter/>
            </a:ln>
          </p:spPr>
          <p:txBody>
            <a:bodyPr/>
            <a:lstStyle/>
            <a:p>
              <a:endParaRPr lang="he-IL"/>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800"/>
                </a:lnSpc>
              </a:pPr>
              <a:endParaRPr/>
            </a:p>
          </p:txBody>
        </p:sp>
      </p:grpSp>
      <p:grpSp>
        <p:nvGrpSpPr>
          <p:cNvPr id="6" name="Group 6"/>
          <p:cNvGrpSpPr/>
          <p:nvPr/>
        </p:nvGrpSpPr>
        <p:grpSpPr>
          <a:xfrm>
            <a:off x="17165093" y="9258300"/>
            <a:ext cx="2245813" cy="224581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A6A6A6"/>
              </a:solidFill>
              <a:prstDash val="solid"/>
              <a:miter/>
            </a:ln>
          </p:spPr>
          <p:txBody>
            <a:bodyPr/>
            <a:lstStyle/>
            <a:p>
              <a:endParaRPr lang="he-IL"/>
            </a:p>
          </p:txBody>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800"/>
                </a:lnSpc>
              </a:pPr>
              <a:endParaRPr/>
            </a:p>
          </p:txBody>
        </p:sp>
      </p:grpSp>
      <p:sp>
        <p:nvSpPr>
          <p:cNvPr id="9" name="AutoShape 9"/>
          <p:cNvSpPr/>
          <p:nvPr/>
        </p:nvSpPr>
        <p:spPr>
          <a:xfrm flipV="1">
            <a:off x="17155568" y="-691170"/>
            <a:ext cx="0" cy="11669339"/>
          </a:xfrm>
          <a:prstGeom prst="line">
            <a:avLst/>
          </a:prstGeom>
          <a:ln w="19050" cap="flat">
            <a:solidFill>
              <a:srgbClr val="A6A6A6"/>
            </a:solidFill>
            <a:prstDash val="solid"/>
            <a:headEnd type="none" w="sm" len="sm"/>
            <a:tailEnd type="none" w="sm" len="sm"/>
          </a:ln>
        </p:spPr>
        <p:txBody>
          <a:bodyPr/>
          <a:lstStyle/>
          <a:p>
            <a:endParaRPr lang="he-IL"/>
          </a:p>
        </p:txBody>
      </p:sp>
      <p:sp>
        <p:nvSpPr>
          <p:cNvPr id="10" name="AutoShape 10"/>
          <p:cNvSpPr/>
          <p:nvPr/>
        </p:nvSpPr>
        <p:spPr>
          <a:xfrm flipV="1">
            <a:off x="1132432" y="-691170"/>
            <a:ext cx="0" cy="11669339"/>
          </a:xfrm>
          <a:prstGeom prst="line">
            <a:avLst/>
          </a:prstGeom>
          <a:ln w="19050" cap="flat">
            <a:solidFill>
              <a:srgbClr val="A6A6A6"/>
            </a:solidFill>
            <a:prstDash val="solid"/>
            <a:headEnd type="none" w="sm" len="sm"/>
            <a:tailEnd type="none" w="sm" len="sm"/>
          </a:ln>
        </p:spPr>
        <p:txBody>
          <a:bodyPr/>
          <a:lstStyle/>
          <a:p>
            <a:endParaRPr lang="he-IL"/>
          </a:p>
        </p:txBody>
      </p:sp>
      <p:grpSp>
        <p:nvGrpSpPr>
          <p:cNvPr id="11" name="Group 11"/>
          <p:cNvGrpSpPr/>
          <p:nvPr/>
        </p:nvGrpSpPr>
        <p:grpSpPr>
          <a:xfrm>
            <a:off x="3786498" y="8326281"/>
            <a:ext cx="11186553" cy="1315980"/>
            <a:chOff x="0" y="0"/>
            <a:chExt cx="2946253" cy="346595"/>
          </a:xfrm>
        </p:grpSpPr>
        <p:sp>
          <p:nvSpPr>
            <p:cNvPr id="12" name="Freeform 12"/>
            <p:cNvSpPr/>
            <p:nvPr/>
          </p:nvSpPr>
          <p:spPr>
            <a:xfrm>
              <a:off x="0" y="0"/>
              <a:ext cx="2946253" cy="346595"/>
            </a:xfrm>
            <a:custGeom>
              <a:avLst/>
              <a:gdLst/>
              <a:ahLst/>
              <a:cxnLst/>
              <a:rect l="l" t="t" r="r" b="b"/>
              <a:pathLst>
                <a:path w="2946253" h="346595">
                  <a:moveTo>
                    <a:pt x="0" y="0"/>
                  </a:moveTo>
                  <a:lnTo>
                    <a:pt x="2946253" y="0"/>
                  </a:lnTo>
                  <a:lnTo>
                    <a:pt x="2946253" y="346595"/>
                  </a:lnTo>
                  <a:lnTo>
                    <a:pt x="0" y="346595"/>
                  </a:lnTo>
                  <a:close/>
                </a:path>
              </a:pathLst>
            </a:custGeom>
            <a:solidFill>
              <a:srgbClr val="000000">
                <a:alpha val="0"/>
              </a:srgbClr>
            </a:solidFill>
            <a:ln w="19050" cap="sq">
              <a:solidFill>
                <a:srgbClr val="A6A6A6"/>
              </a:solidFill>
              <a:prstDash val="solid"/>
              <a:miter/>
            </a:ln>
          </p:spPr>
          <p:txBody>
            <a:bodyPr/>
            <a:lstStyle/>
            <a:p>
              <a:endParaRPr lang="he-IL"/>
            </a:p>
          </p:txBody>
        </p:sp>
        <p:sp>
          <p:nvSpPr>
            <p:cNvPr id="13" name="TextBox 13"/>
            <p:cNvSpPr txBox="1"/>
            <p:nvPr/>
          </p:nvSpPr>
          <p:spPr>
            <a:xfrm>
              <a:off x="0" y="-38100"/>
              <a:ext cx="2946253" cy="384695"/>
            </a:xfrm>
            <a:prstGeom prst="rect">
              <a:avLst/>
            </a:prstGeom>
          </p:spPr>
          <p:txBody>
            <a:bodyPr lIns="50800" tIns="50800" rIns="50800" bIns="50800" rtlCol="0" anchor="ctr"/>
            <a:lstStyle/>
            <a:p>
              <a:pPr algn="ctr">
                <a:lnSpc>
                  <a:spcPts val="2800"/>
                </a:lnSpc>
              </a:pPr>
              <a:endParaRPr/>
            </a:p>
          </p:txBody>
        </p:sp>
      </p:grpSp>
      <p:sp>
        <p:nvSpPr>
          <p:cNvPr id="14" name="Freeform 14"/>
          <p:cNvSpPr/>
          <p:nvPr/>
        </p:nvSpPr>
        <p:spPr>
          <a:xfrm>
            <a:off x="1970789" y="2635926"/>
            <a:ext cx="6646481" cy="5327205"/>
          </a:xfrm>
          <a:custGeom>
            <a:avLst/>
            <a:gdLst/>
            <a:ahLst/>
            <a:cxnLst/>
            <a:rect l="l" t="t" r="r" b="b"/>
            <a:pathLst>
              <a:path w="6646481" h="5327205">
                <a:moveTo>
                  <a:pt x="0" y="0"/>
                </a:moveTo>
                <a:lnTo>
                  <a:pt x="6646481" y="0"/>
                </a:lnTo>
                <a:lnTo>
                  <a:pt x="6646481" y="5327205"/>
                </a:lnTo>
                <a:lnTo>
                  <a:pt x="0" y="5327205"/>
                </a:lnTo>
                <a:lnTo>
                  <a:pt x="0" y="0"/>
                </a:lnTo>
                <a:close/>
              </a:path>
            </a:pathLst>
          </a:custGeom>
          <a:blipFill>
            <a:blip r:embed="rId4"/>
            <a:stretch>
              <a:fillRect l="-11004" t="-978" r="-8771" b="-11100"/>
            </a:stretch>
          </a:blipFill>
        </p:spPr>
        <p:txBody>
          <a:bodyPr/>
          <a:lstStyle/>
          <a:p>
            <a:endParaRPr lang="he-IL"/>
          </a:p>
        </p:txBody>
      </p:sp>
      <p:sp>
        <p:nvSpPr>
          <p:cNvPr id="15" name="Freeform 15"/>
          <p:cNvSpPr/>
          <p:nvPr/>
        </p:nvSpPr>
        <p:spPr>
          <a:xfrm>
            <a:off x="9654306" y="2635926"/>
            <a:ext cx="6646481" cy="5327205"/>
          </a:xfrm>
          <a:custGeom>
            <a:avLst/>
            <a:gdLst/>
            <a:ahLst/>
            <a:cxnLst/>
            <a:rect l="l" t="t" r="r" b="b"/>
            <a:pathLst>
              <a:path w="6646481" h="5327205">
                <a:moveTo>
                  <a:pt x="0" y="0"/>
                </a:moveTo>
                <a:lnTo>
                  <a:pt x="6646482" y="0"/>
                </a:lnTo>
                <a:lnTo>
                  <a:pt x="6646482" y="5327205"/>
                </a:lnTo>
                <a:lnTo>
                  <a:pt x="0" y="5327205"/>
                </a:lnTo>
                <a:lnTo>
                  <a:pt x="0" y="0"/>
                </a:lnTo>
                <a:close/>
              </a:path>
            </a:pathLst>
          </a:custGeom>
          <a:blipFill>
            <a:blip r:embed="rId4"/>
            <a:stretch>
              <a:fillRect l="-11004" t="-978" r="-8771" b="-11100"/>
            </a:stretch>
          </a:blipFill>
        </p:spPr>
        <p:txBody>
          <a:bodyPr/>
          <a:lstStyle/>
          <a:p>
            <a:endParaRPr lang="he-IL"/>
          </a:p>
        </p:txBody>
      </p:sp>
      <p:sp>
        <p:nvSpPr>
          <p:cNvPr id="16" name="Freeform 16"/>
          <p:cNvSpPr/>
          <p:nvPr/>
        </p:nvSpPr>
        <p:spPr>
          <a:xfrm rot="-10800000">
            <a:off x="12977547" y="5260542"/>
            <a:ext cx="321734" cy="637020"/>
          </a:xfrm>
          <a:custGeom>
            <a:avLst/>
            <a:gdLst/>
            <a:ahLst/>
            <a:cxnLst/>
            <a:rect l="l" t="t" r="r" b="b"/>
            <a:pathLst>
              <a:path w="321734" h="637020">
                <a:moveTo>
                  <a:pt x="0" y="0"/>
                </a:moveTo>
                <a:lnTo>
                  <a:pt x="321734" y="0"/>
                </a:lnTo>
                <a:lnTo>
                  <a:pt x="321734" y="637019"/>
                </a:lnTo>
                <a:lnTo>
                  <a:pt x="0" y="637019"/>
                </a:lnTo>
                <a:lnTo>
                  <a:pt x="0" y="0"/>
                </a:lnTo>
                <a:close/>
              </a:path>
            </a:pathLst>
          </a:custGeom>
          <a:blipFill>
            <a:blip r:embed="rId5"/>
            <a:stretch>
              <a:fillRect l="-6114" t="-2251" r="-6932" b="-5883"/>
            </a:stretch>
          </a:blipFill>
        </p:spPr>
        <p:txBody>
          <a:bodyPr/>
          <a:lstStyle/>
          <a:p>
            <a:endParaRPr lang="he-IL"/>
          </a:p>
        </p:txBody>
      </p:sp>
      <p:sp>
        <p:nvSpPr>
          <p:cNvPr id="17" name="TextBox 17"/>
          <p:cNvSpPr txBox="1"/>
          <p:nvPr/>
        </p:nvSpPr>
        <p:spPr>
          <a:xfrm>
            <a:off x="5785365" y="682877"/>
            <a:ext cx="6717269" cy="1009651"/>
          </a:xfrm>
          <a:prstGeom prst="rect">
            <a:avLst/>
          </a:prstGeom>
        </p:spPr>
        <p:txBody>
          <a:bodyPr lIns="0" tIns="0" rIns="0" bIns="0" rtlCol="0" anchor="t">
            <a:spAutoFit/>
          </a:bodyPr>
          <a:lstStyle/>
          <a:p>
            <a:pPr marL="0" lvl="0" indent="0" algn="ctr">
              <a:lnSpc>
                <a:spcPts val="8399"/>
              </a:lnSpc>
              <a:spcBef>
                <a:spcPct val="0"/>
              </a:spcBef>
            </a:pPr>
            <a:r>
              <a:rPr lang="en-US" sz="5999" b="1">
                <a:solidFill>
                  <a:srgbClr val="000000"/>
                </a:solidFill>
                <a:latin typeface="Garet Bold"/>
                <a:ea typeface="Garet Bold"/>
                <a:cs typeface="Garet Bold"/>
                <a:sym typeface="Garet Bold"/>
              </a:rPr>
              <a:t>Example 2</a:t>
            </a:r>
          </a:p>
        </p:txBody>
      </p:sp>
      <p:sp>
        <p:nvSpPr>
          <p:cNvPr id="18" name="TextBox 18"/>
          <p:cNvSpPr txBox="1"/>
          <p:nvPr/>
        </p:nvSpPr>
        <p:spPr>
          <a:xfrm>
            <a:off x="6345558" y="8749320"/>
            <a:ext cx="6068431" cy="422275"/>
          </a:xfrm>
          <a:prstGeom prst="rect">
            <a:avLst/>
          </a:prstGeom>
        </p:spPr>
        <p:txBody>
          <a:bodyPr lIns="0" tIns="0" rIns="0" bIns="0" rtlCol="0" anchor="t">
            <a:spAutoFit/>
          </a:bodyPr>
          <a:lstStyle/>
          <a:p>
            <a:pPr marL="0" lvl="0" indent="0" algn="ctr">
              <a:lnSpc>
                <a:spcPts val="3499"/>
              </a:lnSpc>
              <a:spcBef>
                <a:spcPct val="0"/>
              </a:spcBef>
            </a:pPr>
            <a:r>
              <a:rPr lang="en-US" sz="2499">
                <a:solidFill>
                  <a:srgbClr val="000000"/>
                </a:solidFill>
                <a:latin typeface="Garet"/>
                <a:ea typeface="Garet"/>
                <a:cs typeface="Garet"/>
                <a:sym typeface="Garet"/>
              </a:rPr>
              <a:t>output: 1 – substantial modification</a:t>
            </a:r>
          </a:p>
        </p:txBody>
      </p:sp>
      <p:sp>
        <p:nvSpPr>
          <p:cNvPr id="19" name="TextBox 19"/>
          <p:cNvSpPr txBox="1"/>
          <p:nvPr/>
        </p:nvSpPr>
        <p:spPr>
          <a:xfrm>
            <a:off x="1970789" y="2008052"/>
            <a:ext cx="1534411" cy="432811"/>
          </a:xfrm>
          <a:prstGeom prst="rect">
            <a:avLst/>
          </a:prstGeom>
        </p:spPr>
        <p:txBody>
          <a:bodyPr wrap="square" lIns="0" tIns="0" rIns="0" bIns="0" rtlCol="0" anchor="t">
            <a:spAutoFit/>
          </a:bodyPr>
          <a:lstStyle/>
          <a:p>
            <a:pPr algn="ctr">
              <a:lnSpc>
                <a:spcPts val="3499"/>
              </a:lnSpc>
              <a:spcBef>
                <a:spcPct val="0"/>
              </a:spcBef>
            </a:pPr>
            <a:r>
              <a:rPr lang="en-US" sz="2499" u="sng" dirty="0">
                <a:solidFill>
                  <a:srgbClr val="000000"/>
                </a:solidFill>
                <a:latin typeface="Garet"/>
                <a:ea typeface="Garet"/>
                <a:cs typeface="Garet"/>
                <a:sym typeface="Garet"/>
              </a:rPr>
              <a:t>BEFORE:</a:t>
            </a:r>
          </a:p>
        </p:txBody>
      </p:sp>
      <p:sp>
        <p:nvSpPr>
          <p:cNvPr id="20" name="TextBox 20"/>
          <p:cNvSpPr txBox="1"/>
          <p:nvPr/>
        </p:nvSpPr>
        <p:spPr>
          <a:xfrm>
            <a:off x="9670730" y="2008052"/>
            <a:ext cx="1302070" cy="432811"/>
          </a:xfrm>
          <a:prstGeom prst="rect">
            <a:avLst/>
          </a:prstGeom>
        </p:spPr>
        <p:txBody>
          <a:bodyPr wrap="square" lIns="0" tIns="0" rIns="0" bIns="0" rtlCol="0" anchor="t">
            <a:spAutoFit/>
          </a:bodyPr>
          <a:lstStyle/>
          <a:p>
            <a:pPr algn="ctr">
              <a:lnSpc>
                <a:spcPts val="3499"/>
              </a:lnSpc>
              <a:spcBef>
                <a:spcPct val="0"/>
              </a:spcBef>
            </a:pPr>
            <a:r>
              <a:rPr lang="en-US" sz="2499" u="sng" dirty="0">
                <a:solidFill>
                  <a:srgbClr val="000000"/>
                </a:solidFill>
                <a:latin typeface="Garet"/>
                <a:ea typeface="Garet"/>
                <a:cs typeface="Garet"/>
                <a:sym typeface="Garet"/>
              </a:rPr>
              <a:t>AFTER:</a:t>
            </a:r>
          </a:p>
        </p:txBody>
      </p:sp>
      <p:sp>
        <p:nvSpPr>
          <p:cNvPr id="21" name="Freeform 21"/>
          <p:cNvSpPr/>
          <p:nvPr/>
        </p:nvSpPr>
        <p:spPr>
          <a:xfrm>
            <a:off x="12848902" y="5143500"/>
            <a:ext cx="579025" cy="528492"/>
          </a:xfrm>
          <a:custGeom>
            <a:avLst/>
            <a:gdLst/>
            <a:ahLst/>
            <a:cxnLst/>
            <a:rect l="l" t="t" r="r" b="b"/>
            <a:pathLst>
              <a:path w="579025" h="528492">
                <a:moveTo>
                  <a:pt x="0" y="0"/>
                </a:moveTo>
                <a:lnTo>
                  <a:pt x="579025" y="0"/>
                </a:lnTo>
                <a:lnTo>
                  <a:pt x="579025" y="528492"/>
                </a:lnTo>
                <a:lnTo>
                  <a:pt x="0" y="52849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he-IL"/>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333" b="-9333"/>
            </a:stretch>
          </a:blipFill>
        </p:spPr>
        <p:txBody>
          <a:bodyPr/>
          <a:lstStyle/>
          <a:p>
            <a:endParaRPr lang="he-IL"/>
          </a:p>
        </p:txBody>
      </p:sp>
      <p:sp>
        <p:nvSpPr>
          <p:cNvPr id="3" name="AutoShape 3"/>
          <p:cNvSpPr/>
          <p:nvPr/>
        </p:nvSpPr>
        <p:spPr>
          <a:xfrm>
            <a:off x="-758305" y="1369513"/>
            <a:ext cx="19804610" cy="0"/>
          </a:xfrm>
          <a:prstGeom prst="line">
            <a:avLst/>
          </a:prstGeom>
          <a:ln w="19050" cap="flat">
            <a:solidFill>
              <a:srgbClr val="A6A6A6"/>
            </a:solidFill>
            <a:prstDash val="solid"/>
            <a:headEnd type="none" w="sm" len="sm"/>
            <a:tailEnd type="none" w="sm" len="sm"/>
          </a:ln>
        </p:spPr>
        <p:txBody>
          <a:bodyPr/>
          <a:lstStyle/>
          <a:p>
            <a:endParaRPr lang="he-IL"/>
          </a:p>
        </p:txBody>
      </p:sp>
      <p:grpSp>
        <p:nvGrpSpPr>
          <p:cNvPr id="4" name="Group 4"/>
          <p:cNvGrpSpPr/>
          <p:nvPr/>
        </p:nvGrpSpPr>
        <p:grpSpPr>
          <a:xfrm>
            <a:off x="17165093" y="-866775"/>
            <a:ext cx="2245813" cy="2245813"/>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A6A6A6"/>
              </a:solidFill>
              <a:prstDash val="solid"/>
              <a:miter/>
            </a:ln>
          </p:spPr>
          <p:txBody>
            <a:bodyPr/>
            <a:lstStyle/>
            <a:p>
              <a:endParaRPr lang="he-IL"/>
            </a:p>
          </p:txBody>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800"/>
                </a:lnSpc>
              </a:pPr>
              <a:endParaRPr/>
            </a:p>
          </p:txBody>
        </p:sp>
      </p:grpSp>
      <p:pic>
        <p:nvPicPr>
          <p:cNvPr id="7" name="Picture 7"/>
          <p:cNvPicPr>
            <a:picLocks noChangeAspect="1"/>
          </p:cNvPicPr>
          <p:nvPr/>
        </p:nvPicPr>
        <p:blipFill>
          <a:blip r:embed="rId4"/>
          <a:stretch>
            <a:fillRect/>
          </a:stretch>
        </p:blipFill>
        <p:spPr>
          <a:xfrm>
            <a:off x="1277935" y="4108727"/>
            <a:ext cx="416401" cy="389977"/>
          </a:xfrm>
          <a:prstGeom prst="rect">
            <a:avLst/>
          </a:prstGeom>
        </p:spPr>
      </p:pic>
      <p:pic>
        <p:nvPicPr>
          <p:cNvPr id="8" name="Picture 8"/>
          <p:cNvPicPr>
            <a:picLocks noChangeAspect="1"/>
          </p:cNvPicPr>
          <p:nvPr/>
        </p:nvPicPr>
        <p:blipFill>
          <a:blip r:embed="rId5"/>
          <a:stretch>
            <a:fillRect/>
          </a:stretch>
        </p:blipFill>
        <p:spPr>
          <a:xfrm>
            <a:off x="9649583" y="4108727"/>
            <a:ext cx="416401" cy="389977"/>
          </a:xfrm>
          <a:prstGeom prst="rect">
            <a:avLst/>
          </a:prstGeom>
        </p:spPr>
      </p:pic>
      <p:sp>
        <p:nvSpPr>
          <p:cNvPr id="9" name="TextBox 9"/>
          <p:cNvSpPr txBox="1"/>
          <p:nvPr/>
        </p:nvSpPr>
        <p:spPr>
          <a:xfrm>
            <a:off x="1028700" y="4749341"/>
            <a:ext cx="7875612" cy="3482975"/>
          </a:xfrm>
          <a:prstGeom prst="rect">
            <a:avLst/>
          </a:prstGeom>
        </p:spPr>
        <p:txBody>
          <a:bodyPr lIns="0" tIns="0" rIns="0" bIns="0" rtlCol="0" anchor="t">
            <a:spAutoFit/>
          </a:bodyPr>
          <a:lstStyle/>
          <a:p>
            <a:pPr marL="431801" lvl="1" indent="-215900" algn="l">
              <a:lnSpc>
                <a:spcPts val="4000"/>
              </a:lnSpc>
              <a:spcBef>
                <a:spcPct val="0"/>
              </a:spcBef>
              <a:buFont typeface="Arial"/>
              <a:buChar char="•"/>
            </a:pPr>
            <a:r>
              <a:rPr lang="en-US" sz="2000" u="none" strike="noStrike">
                <a:solidFill>
                  <a:srgbClr val="000000"/>
                </a:solidFill>
                <a:latin typeface="Garet"/>
                <a:ea typeface="Garet"/>
                <a:cs typeface="Garet"/>
                <a:sym typeface="Garet"/>
              </a:rPr>
              <a:t>Designed a model-guided generative pipeline for structural floor plan changes</a:t>
            </a:r>
          </a:p>
          <a:p>
            <a:pPr marL="431801" lvl="1" indent="-215900" algn="l">
              <a:lnSpc>
                <a:spcPts val="4000"/>
              </a:lnSpc>
              <a:spcBef>
                <a:spcPct val="0"/>
              </a:spcBef>
              <a:buFont typeface="Arial"/>
              <a:buChar char="•"/>
            </a:pPr>
            <a:r>
              <a:rPr lang="en-US" sz="2000" u="none" strike="noStrike">
                <a:solidFill>
                  <a:srgbClr val="000000"/>
                </a:solidFill>
                <a:latin typeface="Garet"/>
                <a:ea typeface="Garet"/>
                <a:cs typeface="Garet"/>
                <a:sym typeface="Garet"/>
              </a:rPr>
              <a:t>generated a labeled before / after dataset</a:t>
            </a:r>
          </a:p>
          <a:p>
            <a:pPr marL="431801" lvl="1" indent="-215900" algn="l">
              <a:lnSpc>
                <a:spcPts val="4000"/>
              </a:lnSpc>
              <a:spcBef>
                <a:spcPct val="0"/>
              </a:spcBef>
              <a:buFont typeface="Arial"/>
              <a:buChar char="•"/>
            </a:pPr>
            <a:r>
              <a:rPr lang="en-US" sz="2000" u="none" strike="noStrike">
                <a:solidFill>
                  <a:srgbClr val="000000"/>
                </a:solidFill>
                <a:latin typeface="Garet"/>
                <a:ea typeface="Garet"/>
                <a:cs typeface="Garet"/>
                <a:sym typeface="Garet"/>
              </a:rPr>
              <a:t>Trained and evaluated a change-type classification model</a:t>
            </a:r>
          </a:p>
          <a:p>
            <a:pPr marL="431801" lvl="1" indent="-215900" algn="l">
              <a:lnSpc>
                <a:spcPts val="4000"/>
              </a:lnSpc>
              <a:spcBef>
                <a:spcPct val="0"/>
              </a:spcBef>
              <a:buFont typeface="Arial"/>
              <a:buChar char="•"/>
            </a:pPr>
            <a:r>
              <a:rPr lang="en-US" sz="2000" u="none" strike="noStrike">
                <a:solidFill>
                  <a:srgbClr val="000000"/>
                </a:solidFill>
                <a:latin typeface="Garet"/>
                <a:ea typeface="Garet"/>
                <a:cs typeface="Garet"/>
                <a:sym typeface="Garet"/>
              </a:rPr>
              <a:t>Achieved understanding and detection of meaningful content changes.</a:t>
            </a:r>
          </a:p>
        </p:txBody>
      </p:sp>
      <p:sp>
        <p:nvSpPr>
          <p:cNvPr id="10" name="TextBox 10"/>
          <p:cNvSpPr txBox="1"/>
          <p:nvPr/>
        </p:nvSpPr>
        <p:spPr>
          <a:xfrm>
            <a:off x="2199919" y="2200326"/>
            <a:ext cx="13888161" cy="1009651"/>
          </a:xfrm>
          <a:prstGeom prst="rect">
            <a:avLst/>
          </a:prstGeom>
        </p:spPr>
        <p:txBody>
          <a:bodyPr lIns="0" tIns="0" rIns="0" bIns="0" rtlCol="0" anchor="t">
            <a:spAutoFit/>
          </a:bodyPr>
          <a:lstStyle/>
          <a:p>
            <a:pPr marL="0" lvl="0" indent="0" algn="l">
              <a:lnSpc>
                <a:spcPts val="8399"/>
              </a:lnSpc>
              <a:spcBef>
                <a:spcPct val="0"/>
              </a:spcBef>
            </a:pPr>
            <a:r>
              <a:rPr lang="en-US" sz="5999" b="1">
                <a:solidFill>
                  <a:srgbClr val="000000"/>
                </a:solidFill>
                <a:latin typeface="Garet Bold"/>
                <a:ea typeface="Garet Bold"/>
                <a:cs typeface="Garet Bold"/>
                <a:sym typeface="Garet Bold"/>
              </a:rPr>
              <a:t>Project achievements and novelty</a:t>
            </a:r>
          </a:p>
        </p:txBody>
      </p:sp>
      <p:sp>
        <p:nvSpPr>
          <p:cNvPr id="11" name="TextBox 11"/>
          <p:cNvSpPr txBox="1"/>
          <p:nvPr/>
        </p:nvSpPr>
        <p:spPr>
          <a:xfrm>
            <a:off x="1913784" y="4105327"/>
            <a:ext cx="4258416" cy="419346"/>
          </a:xfrm>
          <a:prstGeom prst="rect">
            <a:avLst/>
          </a:prstGeom>
        </p:spPr>
        <p:txBody>
          <a:bodyPr wrap="square" lIns="0" tIns="0" rIns="0" bIns="0" rtlCol="0" anchor="t">
            <a:spAutoFit/>
          </a:bodyPr>
          <a:lstStyle/>
          <a:p>
            <a:pPr marL="0" lvl="0" indent="0" algn="ctr">
              <a:lnSpc>
                <a:spcPts val="3359"/>
              </a:lnSpc>
              <a:spcBef>
                <a:spcPct val="0"/>
              </a:spcBef>
            </a:pPr>
            <a:r>
              <a:rPr lang="en-US" sz="2399" b="1" u="none" strike="noStrike" dirty="0">
                <a:solidFill>
                  <a:srgbClr val="000000"/>
                </a:solidFill>
                <a:latin typeface="Garet Bold"/>
                <a:ea typeface="Garet Bold"/>
                <a:cs typeface="Garet Bold"/>
                <a:sym typeface="Garet Bold"/>
              </a:rPr>
              <a:t>PROJECT ACHIEVEMENTS:</a:t>
            </a:r>
          </a:p>
        </p:txBody>
      </p:sp>
      <p:sp>
        <p:nvSpPr>
          <p:cNvPr id="12" name="TextBox 12"/>
          <p:cNvSpPr txBox="1"/>
          <p:nvPr/>
        </p:nvSpPr>
        <p:spPr>
          <a:xfrm>
            <a:off x="10285430" y="4105327"/>
            <a:ext cx="3257937" cy="419346"/>
          </a:xfrm>
          <a:prstGeom prst="rect">
            <a:avLst/>
          </a:prstGeom>
        </p:spPr>
        <p:txBody>
          <a:bodyPr wrap="square" lIns="0" tIns="0" rIns="0" bIns="0" rtlCol="0" anchor="t">
            <a:spAutoFit/>
          </a:bodyPr>
          <a:lstStyle/>
          <a:p>
            <a:pPr marL="0" lvl="0" indent="0" algn="ctr">
              <a:lnSpc>
                <a:spcPts val="3359"/>
              </a:lnSpc>
              <a:spcBef>
                <a:spcPct val="0"/>
              </a:spcBef>
            </a:pPr>
            <a:r>
              <a:rPr lang="en-US" sz="2399" b="1" u="none" strike="noStrike" dirty="0">
                <a:solidFill>
                  <a:srgbClr val="000000"/>
                </a:solidFill>
                <a:latin typeface="Garet Bold"/>
                <a:ea typeface="Garet Bold"/>
                <a:cs typeface="Garet Bold"/>
                <a:sym typeface="Garet Bold"/>
              </a:rPr>
              <a:t>PROJECT NOVELTY:</a:t>
            </a:r>
          </a:p>
        </p:txBody>
      </p:sp>
      <p:sp>
        <p:nvSpPr>
          <p:cNvPr id="13" name="TextBox 13"/>
          <p:cNvSpPr txBox="1"/>
          <p:nvPr/>
        </p:nvSpPr>
        <p:spPr>
          <a:xfrm>
            <a:off x="9684283" y="4749341"/>
            <a:ext cx="7575017" cy="1968500"/>
          </a:xfrm>
          <a:prstGeom prst="rect">
            <a:avLst/>
          </a:prstGeom>
        </p:spPr>
        <p:txBody>
          <a:bodyPr lIns="0" tIns="0" rIns="0" bIns="0" rtlCol="0" anchor="t">
            <a:spAutoFit/>
          </a:bodyPr>
          <a:lstStyle/>
          <a:p>
            <a:pPr marL="431801" lvl="1" indent="-215900" algn="l">
              <a:lnSpc>
                <a:spcPts val="4000"/>
              </a:lnSpc>
              <a:buFont typeface="Arial"/>
              <a:buChar char="•"/>
            </a:pPr>
            <a:r>
              <a:rPr lang="en-US" sz="2000">
                <a:solidFill>
                  <a:srgbClr val="000000"/>
                </a:solidFill>
                <a:latin typeface="Garet"/>
                <a:ea typeface="Garet"/>
                <a:cs typeface="Garet"/>
                <a:sym typeface="Garet"/>
              </a:rPr>
              <a:t>No existing dataset for floor plan change detection</a:t>
            </a:r>
          </a:p>
          <a:p>
            <a:pPr marL="431801" lvl="1" indent="-215900" algn="l">
              <a:lnSpc>
                <a:spcPts val="4000"/>
              </a:lnSpc>
              <a:buFont typeface="Arial"/>
              <a:buChar char="•"/>
            </a:pPr>
            <a:r>
              <a:rPr lang="en-US" sz="2000">
                <a:solidFill>
                  <a:srgbClr val="000000"/>
                </a:solidFill>
                <a:latin typeface="Garet"/>
                <a:ea typeface="Garet"/>
                <a:cs typeface="Garet"/>
                <a:sym typeface="Garet"/>
              </a:rPr>
              <a:t>Custom synthetic dataset created from real plans</a:t>
            </a:r>
          </a:p>
          <a:p>
            <a:pPr marL="431801" lvl="1" indent="-215900" algn="l">
              <a:lnSpc>
                <a:spcPts val="4000"/>
              </a:lnSpc>
              <a:spcBef>
                <a:spcPct val="0"/>
              </a:spcBef>
              <a:buFont typeface="Arial"/>
              <a:buChar char="•"/>
            </a:pPr>
            <a:r>
              <a:rPr lang="en-US" sz="2000" u="none" strike="noStrike">
                <a:solidFill>
                  <a:srgbClr val="000000"/>
                </a:solidFill>
                <a:latin typeface="Garet"/>
                <a:ea typeface="Garet"/>
                <a:cs typeface="Garet"/>
                <a:sym typeface="Garet"/>
              </a:rPr>
              <a:t>Controlled, explainable generation with precisely defined change annotations.</a:t>
            </a:r>
          </a:p>
        </p:txBody>
      </p:sp>
      <p:sp>
        <p:nvSpPr>
          <p:cNvPr id="14" name="AutoShape 14"/>
          <p:cNvSpPr/>
          <p:nvPr/>
        </p:nvSpPr>
        <p:spPr>
          <a:xfrm>
            <a:off x="-756489" y="9173618"/>
            <a:ext cx="19804610" cy="0"/>
          </a:xfrm>
          <a:prstGeom prst="line">
            <a:avLst/>
          </a:prstGeom>
          <a:ln w="19050" cap="flat">
            <a:solidFill>
              <a:srgbClr val="A6A6A6"/>
            </a:solidFill>
            <a:prstDash val="solid"/>
            <a:headEnd type="none" w="sm" len="sm"/>
            <a:tailEnd type="none" w="sm" len="sm"/>
          </a:ln>
        </p:spPr>
        <p:txBody>
          <a:bodyPr/>
          <a:lstStyle/>
          <a:p>
            <a:endParaRPr lang="he-IL"/>
          </a:p>
        </p:txBody>
      </p:sp>
      <p:grpSp>
        <p:nvGrpSpPr>
          <p:cNvPr id="15" name="Group 15"/>
          <p:cNvGrpSpPr/>
          <p:nvPr/>
        </p:nvGrpSpPr>
        <p:grpSpPr>
          <a:xfrm>
            <a:off x="-1122907" y="9164093"/>
            <a:ext cx="2245813" cy="2245813"/>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A6A6A6"/>
              </a:solidFill>
              <a:prstDash val="solid"/>
              <a:miter/>
            </a:ln>
          </p:spPr>
          <p:txBody>
            <a:bodyPr/>
            <a:lstStyle/>
            <a:p>
              <a:endParaRPr lang="he-IL"/>
            </a:p>
          </p:txBody>
        </p:sp>
        <p:sp>
          <p:nvSpPr>
            <p:cNvPr id="17" name="TextBox 17"/>
            <p:cNvSpPr txBox="1"/>
            <p:nvPr/>
          </p:nvSpPr>
          <p:spPr>
            <a:xfrm>
              <a:off x="76200" y="38100"/>
              <a:ext cx="660400" cy="698500"/>
            </a:xfrm>
            <a:prstGeom prst="rect">
              <a:avLst/>
            </a:prstGeom>
          </p:spPr>
          <p:txBody>
            <a:bodyPr lIns="50800" tIns="50800" rIns="50800" bIns="50800" rtlCol="0" anchor="ctr"/>
            <a:lstStyle/>
            <a:p>
              <a:pPr algn="ctr">
                <a:lnSpc>
                  <a:spcPts val="2800"/>
                </a:lnSpc>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333" b="-9333"/>
            </a:stretch>
          </a:blipFill>
        </p:spPr>
        <p:txBody>
          <a:bodyPr/>
          <a:lstStyle/>
          <a:p>
            <a:endParaRPr lang="he-IL"/>
          </a:p>
        </p:txBody>
      </p:sp>
      <p:sp>
        <p:nvSpPr>
          <p:cNvPr id="3" name="Freeform 3"/>
          <p:cNvSpPr/>
          <p:nvPr/>
        </p:nvSpPr>
        <p:spPr>
          <a:xfrm rot="2435451">
            <a:off x="3221883" y="8062419"/>
            <a:ext cx="2410786" cy="681047"/>
          </a:xfrm>
          <a:custGeom>
            <a:avLst/>
            <a:gdLst/>
            <a:ahLst/>
            <a:cxnLst/>
            <a:rect l="l" t="t" r="r" b="b"/>
            <a:pathLst>
              <a:path w="2410786" h="681047">
                <a:moveTo>
                  <a:pt x="0" y="0"/>
                </a:moveTo>
                <a:lnTo>
                  <a:pt x="2410786" y="0"/>
                </a:lnTo>
                <a:lnTo>
                  <a:pt x="2410786" y="681048"/>
                </a:lnTo>
                <a:lnTo>
                  <a:pt x="0" y="68104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he-IL"/>
          </a:p>
        </p:txBody>
      </p:sp>
      <p:sp>
        <p:nvSpPr>
          <p:cNvPr id="4" name="Freeform 4"/>
          <p:cNvSpPr/>
          <p:nvPr/>
        </p:nvSpPr>
        <p:spPr>
          <a:xfrm rot="-2837169">
            <a:off x="12434066" y="8123181"/>
            <a:ext cx="2410786" cy="681047"/>
          </a:xfrm>
          <a:custGeom>
            <a:avLst/>
            <a:gdLst/>
            <a:ahLst/>
            <a:cxnLst/>
            <a:rect l="l" t="t" r="r" b="b"/>
            <a:pathLst>
              <a:path w="2410786" h="681047">
                <a:moveTo>
                  <a:pt x="0" y="0"/>
                </a:moveTo>
                <a:lnTo>
                  <a:pt x="2410786" y="0"/>
                </a:lnTo>
                <a:lnTo>
                  <a:pt x="2410786" y="681047"/>
                </a:lnTo>
                <a:lnTo>
                  <a:pt x="0" y="68104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he-IL"/>
          </a:p>
        </p:txBody>
      </p:sp>
      <p:sp>
        <p:nvSpPr>
          <p:cNvPr id="5" name="Freeform 5"/>
          <p:cNvSpPr/>
          <p:nvPr/>
        </p:nvSpPr>
        <p:spPr>
          <a:xfrm>
            <a:off x="429249" y="2659158"/>
            <a:ext cx="7083099" cy="4687893"/>
          </a:xfrm>
          <a:custGeom>
            <a:avLst/>
            <a:gdLst/>
            <a:ahLst/>
            <a:cxnLst/>
            <a:rect l="l" t="t" r="r" b="b"/>
            <a:pathLst>
              <a:path w="7083099" h="4687893">
                <a:moveTo>
                  <a:pt x="0" y="0"/>
                </a:moveTo>
                <a:lnTo>
                  <a:pt x="7083099" y="0"/>
                </a:lnTo>
                <a:lnTo>
                  <a:pt x="7083099" y="4687893"/>
                </a:lnTo>
                <a:lnTo>
                  <a:pt x="0" y="4687893"/>
                </a:lnTo>
                <a:lnTo>
                  <a:pt x="0" y="0"/>
                </a:lnTo>
                <a:close/>
              </a:path>
            </a:pathLst>
          </a:custGeom>
          <a:blipFill>
            <a:blip r:embed="rId6"/>
            <a:stretch>
              <a:fillRect/>
            </a:stretch>
          </a:blipFill>
        </p:spPr>
        <p:txBody>
          <a:bodyPr/>
          <a:lstStyle/>
          <a:p>
            <a:endParaRPr lang="he-IL"/>
          </a:p>
        </p:txBody>
      </p:sp>
      <p:sp>
        <p:nvSpPr>
          <p:cNvPr id="6" name="Freeform 6"/>
          <p:cNvSpPr/>
          <p:nvPr/>
        </p:nvSpPr>
        <p:spPr>
          <a:xfrm>
            <a:off x="5632598" y="5397909"/>
            <a:ext cx="7022804" cy="4647987"/>
          </a:xfrm>
          <a:custGeom>
            <a:avLst/>
            <a:gdLst/>
            <a:ahLst/>
            <a:cxnLst/>
            <a:rect l="l" t="t" r="r" b="b"/>
            <a:pathLst>
              <a:path w="7022804" h="4647987">
                <a:moveTo>
                  <a:pt x="0" y="0"/>
                </a:moveTo>
                <a:lnTo>
                  <a:pt x="7022804" y="0"/>
                </a:lnTo>
                <a:lnTo>
                  <a:pt x="7022804" y="4647987"/>
                </a:lnTo>
                <a:lnTo>
                  <a:pt x="0" y="4647987"/>
                </a:lnTo>
                <a:lnTo>
                  <a:pt x="0" y="0"/>
                </a:lnTo>
                <a:close/>
              </a:path>
            </a:pathLst>
          </a:custGeom>
          <a:blipFill>
            <a:blip r:embed="rId7"/>
            <a:stretch>
              <a:fillRect/>
            </a:stretch>
          </a:blipFill>
        </p:spPr>
        <p:txBody>
          <a:bodyPr/>
          <a:lstStyle/>
          <a:p>
            <a:endParaRPr lang="he-IL"/>
          </a:p>
        </p:txBody>
      </p:sp>
      <p:sp>
        <p:nvSpPr>
          <p:cNvPr id="7" name="Freeform 7"/>
          <p:cNvSpPr/>
          <p:nvPr/>
        </p:nvSpPr>
        <p:spPr>
          <a:xfrm>
            <a:off x="10747703" y="2659158"/>
            <a:ext cx="7002044" cy="4634247"/>
          </a:xfrm>
          <a:custGeom>
            <a:avLst/>
            <a:gdLst/>
            <a:ahLst/>
            <a:cxnLst/>
            <a:rect l="l" t="t" r="r" b="b"/>
            <a:pathLst>
              <a:path w="7002044" h="4634247">
                <a:moveTo>
                  <a:pt x="0" y="0"/>
                </a:moveTo>
                <a:lnTo>
                  <a:pt x="7002043" y="0"/>
                </a:lnTo>
                <a:lnTo>
                  <a:pt x="7002043" y="4634247"/>
                </a:lnTo>
                <a:lnTo>
                  <a:pt x="0" y="4634247"/>
                </a:lnTo>
                <a:lnTo>
                  <a:pt x="0" y="0"/>
                </a:lnTo>
                <a:close/>
              </a:path>
            </a:pathLst>
          </a:custGeom>
          <a:blipFill>
            <a:blip r:embed="rId8"/>
            <a:stretch>
              <a:fillRect/>
            </a:stretch>
          </a:blipFill>
        </p:spPr>
        <p:txBody>
          <a:bodyPr/>
          <a:lstStyle/>
          <a:p>
            <a:endParaRPr lang="he-IL"/>
          </a:p>
        </p:txBody>
      </p:sp>
      <p:sp>
        <p:nvSpPr>
          <p:cNvPr id="8" name="TextBox 8"/>
          <p:cNvSpPr txBox="1"/>
          <p:nvPr/>
        </p:nvSpPr>
        <p:spPr>
          <a:xfrm>
            <a:off x="3458898" y="699853"/>
            <a:ext cx="11370203" cy="1009651"/>
          </a:xfrm>
          <a:prstGeom prst="rect">
            <a:avLst/>
          </a:prstGeom>
        </p:spPr>
        <p:txBody>
          <a:bodyPr lIns="0" tIns="0" rIns="0" bIns="0" rtlCol="0" anchor="t">
            <a:spAutoFit/>
          </a:bodyPr>
          <a:lstStyle/>
          <a:p>
            <a:pPr marL="0" lvl="0" indent="0" algn="ctr">
              <a:lnSpc>
                <a:spcPts val="8399"/>
              </a:lnSpc>
              <a:spcBef>
                <a:spcPct val="0"/>
              </a:spcBef>
            </a:pPr>
            <a:r>
              <a:rPr lang="en-US" sz="5999" b="1">
                <a:solidFill>
                  <a:srgbClr val="000000"/>
                </a:solidFill>
                <a:latin typeface="Garet Bold"/>
                <a:ea typeface="Garet Bold"/>
                <a:cs typeface="Garet Bold"/>
                <a:sym typeface="Garet Bold"/>
              </a:rPr>
              <a:t>Toilet to Stove Example:</a:t>
            </a:r>
          </a:p>
        </p:txBody>
      </p:sp>
      <p:sp>
        <p:nvSpPr>
          <p:cNvPr id="9" name="TextBox 9"/>
          <p:cNvSpPr txBox="1"/>
          <p:nvPr/>
        </p:nvSpPr>
        <p:spPr>
          <a:xfrm>
            <a:off x="574268" y="1976204"/>
            <a:ext cx="1406932" cy="432811"/>
          </a:xfrm>
          <a:prstGeom prst="rect">
            <a:avLst/>
          </a:prstGeom>
        </p:spPr>
        <p:txBody>
          <a:bodyPr wrap="square" lIns="0" tIns="0" rIns="0" bIns="0" rtlCol="0" anchor="t">
            <a:spAutoFit/>
          </a:bodyPr>
          <a:lstStyle/>
          <a:p>
            <a:pPr algn="ctr">
              <a:lnSpc>
                <a:spcPts val="3499"/>
              </a:lnSpc>
              <a:spcBef>
                <a:spcPct val="0"/>
              </a:spcBef>
            </a:pPr>
            <a:r>
              <a:rPr lang="en-US" sz="2499" u="sng" dirty="0">
                <a:solidFill>
                  <a:srgbClr val="000000"/>
                </a:solidFill>
                <a:latin typeface="Garet"/>
                <a:ea typeface="Garet"/>
                <a:cs typeface="Garet"/>
                <a:sym typeface="Garet"/>
              </a:rPr>
              <a:t>BEFORE:</a:t>
            </a:r>
          </a:p>
        </p:txBody>
      </p:sp>
      <p:sp>
        <p:nvSpPr>
          <p:cNvPr id="10" name="TextBox 10"/>
          <p:cNvSpPr txBox="1"/>
          <p:nvPr/>
        </p:nvSpPr>
        <p:spPr>
          <a:xfrm>
            <a:off x="10801728" y="1976204"/>
            <a:ext cx="1161672" cy="432811"/>
          </a:xfrm>
          <a:prstGeom prst="rect">
            <a:avLst/>
          </a:prstGeom>
        </p:spPr>
        <p:txBody>
          <a:bodyPr wrap="square" lIns="0" tIns="0" rIns="0" bIns="0" rtlCol="0" anchor="t">
            <a:spAutoFit/>
          </a:bodyPr>
          <a:lstStyle/>
          <a:p>
            <a:pPr algn="ctr">
              <a:lnSpc>
                <a:spcPts val="3499"/>
              </a:lnSpc>
              <a:spcBef>
                <a:spcPct val="0"/>
              </a:spcBef>
            </a:pPr>
            <a:r>
              <a:rPr lang="en-US" sz="2499" u="sng" dirty="0">
                <a:solidFill>
                  <a:srgbClr val="000000"/>
                </a:solidFill>
                <a:latin typeface="Garet"/>
                <a:ea typeface="Garet"/>
                <a:cs typeface="Garet"/>
                <a:sym typeface="Garet"/>
              </a:rPr>
              <a:t>AFTER:</a:t>
            </a:r>
          </a:p>
        </p:txBody>
      </p:sp>
      <p:sp>
        <p:nvSpPr>
          <p:cNvPr id="11" name="TextBox 11"/>
          <p:cNvSpPr txBox="1"/>
          <p:nvPr/>
        </p:nvSpPr>
        <p:spPr>
          <a:xfrm>
            <a:off x="8747452" y="4373922"/>
            <a:ext cx="929947" cy="432811"/>
          </a:xfrm>
          <a:prstGeom prst="rect">
            <a:avLst/>
          </a:prstGeom>
        </p:spPr>
        <p:txBody>
          <a:bodyPr wrap="square" lIns="0" tIns="0" rIns="0" bIns="0" rtlCol="0" anchor="t">
            <a:spAutoFit/>
          </a:bodyPr>
          <a:lstStyle/>
          <a:p>
            <a:pPr algn="ctr">
              <a:lnSpc>
                <a:spcPts val="3499"/>
              </a:lnSpc>
              <a:spcBef>
                <a:spcPct val="0"/>
              </a:spcBef>
            </a:pPr>
            <a:r>
              <a:rPr lang="en-US" sz="2499" u="sng" dirty="0">
                <a:solidFill>
                  <a:srgbClr val="000000"/>
                </a:solidFill>
                <a:latin typeface="Garet"/>
                <a:ea typeface="Garet"/>
                <a:cs typeface="Garet"/>
                <a:sym typeface="Garet"/>
              </a:rPr>
              <a:t>BOX:</a:t>
            </a:r>
          </a:p>
        </p:txBody>
      </p:sp>
      <p:sp>
        <p:nvSpPr>
          <p:cNvPr id="12" name="TextBox 12"/>
          <p:cNvSpPr txBox="1"/>
          <p:nvPr/>
        </p:nvSpPr>
        <p:spPr>
          <a:xfrm>
            <a:off x="0" y="9947275"/>
            <a:ext cx="4681342" cy="339725"/>
          </a:xfrm>
          <a:prstGeom prst="rect">
            <a:avLst/>
          </a:prstGeom>
        </p:spPr>
        <p:txBody>
          <a:bodyPr lIns="0" tIns="0" rIns="0" bIns="0" rtlCol="0" anchor="t">
            <a:spAutoFit/>
          </a:bodyPr>
          <a:lstStyle/>
          <a:p>
            <a:pPr algn="ctr">
              <a:lnSpc>
                <a:spcPts val="2800"/>
              </a:lnSpc>
              <a:spcBef>
                <a:spcPct val="0"/>
              </a:spcBef>
            </a:pPr>
            <a:r>
              <a:rPr lang="en-US" sz="2000">
                <a:solidFill>
                  <a:srgbClr val="000000"/>
                </a:solidFill>
                <a:latin typeface="Garet"/>
                <a:ea typeface="Garet"/>
                <a:cs typeface="Garet"/>
                <a:sym typeface="Garet"/>
              </a:rPr>
              <a:t>SUBSTANTIAL CHANGE CREATION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333" b="-9333"/>
            </a:stretch>
          </a:blipFill>
        </p:spPr>
        <p:txBody>
          <a:bodyPr/>
          <a:lstStyle/>
          <a:p>
            <a:endParaRPr lang="he-IL"/>
          </a:p>
        </p:txBody>
      </p:sp>
      <p:sp>
        <p:nvSpPr>
          <p:cNvPr id="3" name="Freeform 3"/>
          <p:cNvSpPr/>
          <p:nvPr/>
        </p:nvSpPr>
        <p:spPr>
          <a:xfrm rot="2435451">
            <a:off x="3221883" y="8062419"/>
            <a:ext cx="2410786" cy="681047"/>
          </a:xfrm>
          <a:custGeom>
            <a:avLst/>
            <a:gdLst/>
            <a:ahLst/>
            <a:cxnLst/>
            <a:rect l="l" t="t" r="r" b="b"/>
            <a:pathLst>
              <a:path w="2410786" h="681047">
                <a:moveTo>
                  <a:pt x="0" y="0"/>
                </a:moveTo>
                <a:lnTo>
                  <a:pt x="2410786" y="0"/>
                </a:lnTo>
                <a:lnTo>
                  <a:pt x="2410786" y="681048"/>
                </a:lnTo>
                <a:lnTo>
                  <a:pt x="0" y="68104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he-IL"/>
          </a:p>
        </p:txBody>
      </p:sp>
      <p:sp>
        <p:nvSpPr>
          <p:cNvPr id="4" name="Freeform 4"/>
          <p:cNvSpPr/>
          <p:nvPr/>
        </p:nvSpPr>
        <p:spPr>
          <a:xfrm rot="-2837169">
            <a:off x="12434066" y="8123181"/>
            <a:ext cx="2410786" cy="681047"/>
          </a:xfrm>
          <a:custGeom>
            <a:avLst/>
            <a:gdLst/>
            <a:ahLst/>
            <a:cxnLst/>
            <a:rect l="l" t="t" r="r" b="b"/>
            <a:pathLst>
              <a:path w="2410786" h="681047">
                <a:moveTo>
                  <a:pt x="0" y="0"/>
                </a:moveTo>
                <a:lnTo>
                  <a:pt x="2410786" y="0"/>
                </a:lnTo>
                <a:lnTo>
                  <a:pt x="2410786" y="681047"/>
                </a:lnTo>
                <a:lnTo>
                  <a:pt x="0" y="68104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he-IL"/>
          </a:p>
        </p:txBody>
      </p:sp>
      <p:sp>
        <p:nvSpPr>
          <p:cNvPr id="5" name="Freeform 5"/>
          <p:cNvSpPr/>
          <p:nvPr/>
        </p:nvSpPr>
        <p:spPr>
          <a:xfrm>
            <a:off x="429249" y="2659158"/>
            <a:ext cx="6630268" cy="4558309"/>
          </a:xfrm>
          <a:custGeom>
            <a:avLst/>
            <a:gdLst/>
            <a:ahLst/>
            <a:cxnLst/>
            <a:rect l="l" t="t" r="r" b="b"/>
            <a:pathLst>
              <a:path w="6630268" h="4558309">
                <a:moveTo>
                  <a:pt x="0" y="0"/>
                </a:moveTo>
                <a:lnTo>
                  <a:pt x="6630268" y="0"/>
                </a:lnTo>
                <a:lnTo>
                  <a:pt x="6630268" y="4558310"/>
                </a:lnTo>
                <a:lnTo>
                  <a:pt x="0" y="4558310"/>
                </a:lnTo>
                <a:lnTo>
                  <a:pt x="0" y="0"/>
                </a:lnTo>
                <a:close/>
              </a:path>
            </a:pathLst>
          </a:custGeom>
          <a:blipFill>
            <a:blip r:embed="rId6"/>
            <a:stretch>
              <a:fillRect/>
            </a:stretch>
          </a:blipFill>
        </p:spPr>
        <p:txBody>
          <a:bodyPr/>
          <a:lstStyle/>
          <a:p>
            <a:endParaRPr lang="he-IL"/>
          </a:p>
        </p:txBody>
      </p:sp>
      <p:sp>
        <p:nvSpPr>
          <p:cNvPr id="6" name="Freeform 6"/>
          <p:cNvSpPr/>
          <p:nvPr/>
        </p:nvSpPr>
        <p:spPr>
          <a:xfrm>
            <a:off x="5866758" y="5429921"/>
            <a:ext cx="6554484" cy="4506208"/>
          </a:xfrm>
          <a:custGeom>
            <a:avLst/>
            <a:gdLst/>
            <a:ahLst/>
            <a:cxnLst/>
            <a:rect l="l" t="t" r="r" b="b"/>
            <a:pathLst>
              <a:path w="6554484" h="4506208">
                <a:moveTo>
                  <a:pt x="0" y="0"/>
                </a:moveTo>
                <a:lnTo>
                  <a:pt x="6554484" y="0"/>
                </a:lnTo>
                <a:lnTo>
                  <a:pt x="6554484" y="4506208"/>
                </a:lnTo>
                <a:lnTo>
                  <a:pt x="0" y="4506208"/>
                </a:lnTo>
                <a:lnTo>
                  <a:pt x="0" y="0"/>
                </a:lnTo>
                <a:close/>
              </a:path>
            </a:pathLst>
          </a:custGeom>
          <a:blipFill>
            <a:blip r:embed="rId7"/>
            <a:stretch>
              <a:fillRect/>
            </a:stretch>
          </a:blipFill>
        </p:spPr>
        <p:txBody>
          <a:bodyPr/>
          <a:lstStyle/>
          <a:p>
            <a:endParaRPr lang="he-IL"/>
          </a:p>
        </p:txBody>
      </p:sp>
      <p:sp>
        <p:nvSpPr>
          <p:cNvPr id="7" name="Freeform 7"/>
          <p:cNvSpPr/>
          <p:nvPr/>
        </p:nvSpPr>
        <p:spPr>
          <a:xfrm>
            <a:off x="10801728" y="2659158"/>
            <a:ext cx="6630268" cy="4558309"/>
          </a:xfrm>
          <a:custGeom>
            <a:avLst/>
            <a:gdLst/>
            <a:ahLst/>
            <a:cxnLst/>
            <a:rect l="l" t="t" r="r" b="b"/>
            <a:pathLst>
              <a:path w="6630268" h="4558309">
                <a:moveTo>
                  <a:pt x="0" y="0"/>
                </a:moveTo>
                <a:lnTo>
                  <a:pt x="6630268" y="0"/>
                </a:lnTo>
                <a:lnTo>
                  <a:pt x="6630268" y="4558310"/>
                </a:lnTo>
                <a:lnTo>
                  <a:pt x="0" y="4558310"/>
                </a:lnTo>
                <a:lnTo>
                  <a:pt x="0" y="0"/>
                </a:lnTo>
                <a:close/>
              </a:path>
            </a:pathLst>
          </a:custGeom>
          <a:blipFill>
            <a:blip r:embed="rId8"/>
            <a:stretch>
              <a:fillRect/>
            </a:stretch>
          </a:blipFill>
        </p:spPr>
        <p:txBody>
          <a:bodyPr/>
          <a:lstStyle/>
          <a:p>
            <a:endParaRPr lang="he-IL"/>
          </a:p>
        </p:txBody>
      </p:sp>
      <p:sp>
        <p:nvSpPr>
          <p:cNvPr id="8" name="TextBox 8"/>
          <p:cNvSpPr txBox="1"/>
          <p:nvPr/>
        </p:nvSpPr>
        <p:spPr>
          <a:xfrm>
            <a:off x="3458898" y="699853"/>
            <a:ext cx="11370203" cy="1009651"/>
          </a:xfrm>
          <a:prstGeom prst="rect">
            <a:avLst/>
          </a:prstGeom>
        </p:spPr>
        <p:txBody>
          <a:bodyPr lIns="0" tIns="0" rIns="0" bIns="0" rtlCol="0" anchor="t">
            <a:spAutoFit/>
          </a:bodyPr>
          <a:lstStyle/>
          <a:p>
            <a:pPr marL="0" lvl="0" indent="0" algn="ctr">
              <a:lnSpc>
                <a:spcPts val="8399"/>
              </a:lnSpc>
              <a:spcBef>
                <a:spcPct val="0"/>
              </a:spcBef>
            </a:pPr>
            <a:r>
              <a:rPr lang="en-US" sz="5999" b="1">
                <a:solidFill>
                  <a:srgbClr val="000000"/>
                </a:solidFill>
                <a:latin typeface="Garet Bold"/>
                <a:ea typeface="Garet Bold"/>
                <a:cs typeface="Garet Bold"/>
                <a:sym typeface="Garet Bold"/>
              </a:rPr>
              <a:t>Erase Stove Example:</a:t>
            </a:r>
          </a:p>
        </p:txBody>
      </p:sp>
      <p:sp>
        <p:nvSpPr>
          <p:cNvPr id="9" name="TextBox 9"/>
          <p:cNvSpPr txBox="1"/>
          <p:nvPr/>
        </p:nvSpPr>
        <p:spPr>
          <a:xfrm>
            <a:off x="574268" y="1976204"/>
            <a:ext cx="1483132" cy="432811"/>
          </a:xfrm>
          <a:prstGeom prst="rect">
            <a:avLst/>
          </a:prstGeom>
        </p:spPr>
        <p:txBody>
          <a:bodyPr wrap="square" lIns="0" tIns="0" rIns="0" bIns="0" rtlCol="0" anchor="t">
            <a:spAutoFit/>
          </a:bodyPr>
          <a:lstStyle/>
          <a:p>
            <a:pPr algn="ctr">
              <a:lnSpc>
                <a:spcPts val="3499"/>
              </a:lnSpc>
              <a:spcBef>
                <a:spcPct val="0"/>
              </a:spcBef>
            </a:pPr>
            <a:r>
              <a:rPr lang="en-US" sz="2499" u="sng" dirty="0">
                <a:solidFill>
                  <a:srgbClr val="000000"/>
                </a:solidFill>
                <a:latin typeface="Garet"/>
                <a:ea typeface="Garet"/>
                <a:cs typeface="Garet"/>
                <a:sym typeface="Garet"/>
              </a:rPr>
              <a:t>BEFORE:</a:t>
            </a:r>
          </a:p>
        </p:txBody>
      </p:sp>
      <p:sp>
        <p:nvSpPr>
          <p:cNvPr id="10" name="TextBox 10"/>
          <p:cNvSpPr txBox="1"/>
          <p:nvPr/>
        </p:nvSpPr>
        <p:spPr>
          <a:xfrm>
            <a:off x="10801728" y="1976204"/>
            <a:ext cx="1161672" cy="432811"/>
          </a:xfrm>
          <a:prstGeom prst="rect">
            <a:avLst/>
          </a:prstGeom>
        </p:spPr>
        <p:txBody>
          <a:bodyPr wrap="square" lIns="0" tIns="0" rIns="0" bIns="0" rtlCol="0" anchor="t">
            <a:spAutoFit/>
          </a:bodyPr>
          <a:lstStyle/>
          <a:p>
            <a:pPr algn="ctr">
              <a:lnSpc>
                <a:spcPts val="3499"/>
              </a:lnSpc>
              <a:spcBef>
                <a:spcPct val="0"/>
              </a:spcBef>
            </a:pPr>
            <a:r>
              <a:rPr lang="en-US" sz="2499" u="sng" dirty="0">
                <a:solidFill>
                  <a:srgbClr val="000000"/>
                </a:solidFill>
                <a:latin typeface="Garet"/>
                <a:ea typeface="Garet"/>
                <a:cs typeface="Garet"/>
                <a:sym typeface="Garet"/>
              </a:rPr>
              <a:t>AFTER:</a:t>
            </a:r>
          </a:p>
        </p:txBody>
      </p:sp>
      <p:sp>
        <p:nvSpPr>
          <p:cNvPr id="11" name="TextBox 11"/>
          <p:cNvSpPr txBox="1"/>
          <p:nvPr/>
        </p:nvSpPr>
        <p:spPr>
          <a:xfrm>
            <a:off x="8747452" y="4373922"/>
            <a:ext cx="853747" cy="432811"/>
          </a:xfrm>
          <a:prstGeom prst="rect">
            <a:avLst/>
          </a:prstGeom>
        </p:spPr>
        <p:txBody>
          <a:bodyPr wrap="square" lIns="0" tIns="0" rIns="0" bIns="0" rtlCol="0" anchor="t">
            <a:spAutoFit/>
          </a:bodyPr>
          <a:lstStyle/>
          <a:p>
            <a:pPr algn="ctr">
              <a:lnSpc>
                <a:spcPts val="3499"/>
              </a:lnSpc>
              <a:spcBef>
                <a:spcPct val="0"/>
              </a:spcBef>
            </a:pPr>
            <a:r>
              <a:rPr lang="en-US" sz="2499" u="sng" dirty="0">
                <a:solidFill>
                  <a:srgbClr val="000000"/>
                </a:solidFill>
                <a:latin typeface="Garet"/>
                <a:ea typeface="Garet"/>
                <a:cs typeface="Garet"/>
                <a:sym typeface="Garet"/>
              </a:rPr>
              <a:t>BOX:</a:t>
            </a:r>
          </a:p>
        </p:txBody>
      </p:sp>
      <p:sp>
        <p:nvSpPr>
          <p:cNvPr id="12" name="TextBox 12"/>
          <p:cNvSpPr txBox="1"/>
          <p:nvPr/>
        </p:nvSpPr>
        <p:spPr>
          <a:xfrm>
            <a:off x="0" y="9947275"/>
            <a:ext cx="4681342" cy="339725"/>
          </a:xfrm>
          <a:prstGeom prst="rect">
            <a:avLst/>
          </a:prstGeom>
        </p:spPr>
        <p:txBody>
          <a:bodyPr lIns="0" tIns="0" rIns="0" bIns="0" rtlCol="0" anchor="t">
            <a:spAutoFit/>
          </a:bodyPr>
          <a:lstStyle/>
          <a:p>
            <a:pPr algn="ctr">
              <a:lnSpc>
                <a:spcPts val="2800"/>
              </a:lnSpc>
              <a:spcBef>
                <a:spcPct val="0"/>
              </a:spcBef>
            </a:pPr>
            <a:r>
              <a:rPr lang="en-US" sz="2000">
                <a:solidFill>
                  <a:srgbClr val="000000"/>
                </a:solidFill>
                <a:latin typeface="Garet"/>
                <a:ea typeface="Garet"/>
                <a:cs typeface="Garet"/>
                <a:sym typeface="Garet"/>
              </a:rPr>
              <a:t>SUBSTANTIAL CHANGE CREATION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333" b="-9333"/>
            </a:stretch>
          </a:blipFill>
        </p:spPr>
        <p:txBody>
          <a:bodyPr/>
          <a:lstStyle/>
          <a:p>
            <a:endParaRPr lang="he-IL"/>
          </a:p>
        </p:txBody>
      </p:sp>
      <p:sp>
        <p:nvSpPr>
          <p:cNvPr id="3" name="Freeform 3"/>
          <p:cNvSpPr/>
          <p:nvPr/>
        </p:nvSpPr>
        <p:spPr>
          <a:xfrm rot="2435451">
            <a:off x="3221883" y="8062419"/>
            <a:ext cx="2410786" cy="681047"/>
          </a:xfrm>
          <a:custGeom>
            <a:avLst/>
            <a:gdLst/>
            <a:ahLst/>
            <a:cxnLst/>
            <a:rect l="l" t="t" r="r" b="b"/>
            <a:pathLst>
              <a:path w="2410786" h="681047">
                <a:moveTo>
                  <a:pt x="0" y="0"/>
                </a:moveTo>
                <a:lnTo>
                  <a:pt x="2410786" y="0"/>
                </a:lnTo>
                <a:lnTo>
                  <a:pt x="2410786" y="681048"/>
                </a:lnTo>
                <a:lnTo>
                  <a:pt x="0" y="68104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he-IL"/>
          </a:p>
        </p:txBody>
      </p:sp>
      <p:sp>
        <p:nvSpPr>
          <p:cNvPr id="4" name="Freeform 4"/>
          <p:cNvSpPr/>
          <p:nvPr/>
        </p:nvSpPr>
        <p:spPr>
          <a:xfrm rot="-2837169">
            <a:off x="12434066" y="8123181"/>
            <a:ext cx="2410786" cy="681047"/>
          </a:xfrm>
          <a:custGeom>
            <a:avLst/>
            <a:gdLst/>
            <a:ahLst/>
            <a:cxnLst/>
            <a:rect l="l" t="t" r="r" b="b"/>
            <a:pathLst>
              <a:path w="2410786" h="681047">
                <a:moveTo>
                  <a:pt x="0" y="0"/>
                </a:moveTo>
                <a:lnTo>
                  <a:pt x="2410786" y="0"/>
                </a:lnTo>
                <a:lnTo>
                  <a:pt x="2410786" y="681047"/>
                </a:lnTo>
                <a:lnTo>
                  <a:pt x="0" y="68104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he-IL"/>
          </a:p>
        </p:txBody>
      </p:sp>
      <p:sp>
        <p:nvSpPr>
          <p:cNvPr id="5" name="Freeform 5"/>
          <p:cNvSpPr/>
          <p:nvPr/>
        </p:nvSpPr>
        <p:spPr>
          <a:xfrm rot="-5400000">
            <a:off x="1172695" y="1894664"/>
            <a:ext cx="4787416" cy="5984270"/>
          </a:xfrm>
          <a:custGeom>
            <a:avLst/>
            <a:gdLst/>
            <a:ahLst/>
            <a:cxnLst/>
            <a:rect l="l" t="t" r="r" b="b"/>
            <a:pathLst>
              <a:path w="4787416" h="5984270">
                <a:moveTo>
                  <a:pt x="0" y="0"/>
                </a:moveTo>
                <a:lnTo>
                  <a:pt x="4787416" y="0"/>
                </a:lnTo>
                <a:lnTo>
                  <a:pt x="4787416" y="5984270"/>
                </a:lnTo>
                <a:lnTo>
                  <a:pt x="0" y="5984270"/>
                </a:lnTo>
                <a:lnTo>
                  <a:pt x="0" y="0"/>
                </a:lnTo>
                <a:close/>
              </a:path>
            </a:pathLst>
          </a:custGeom>
          <a:blipFill>
            <a:blip r:embed="rId6"/>
            <a:stretch>
              <a:fillRect/>
            </a:stretch>
          </a:blipFill>
        </p:spPr>
        <p:txBody>
          <a:bodyPr/>
          <a:lstStyle/>
          <a:p>
            <a:endParaRPr lang="he-IL"/>
          </a:p>
        </p:txBody>
      </p:sp>
      <p:sp>
        <p:nvSpPr>
          <p:cNvPr id="6" name="Freeform 6"/>
          <p:cNvSpPr/>
          <p:nvPr/>
        </p:nvSpPr>
        <p:spPr>
          <a:xfrm rot="-5400000">
            <a:off x="6682271" y="4495090"/>
            <a:ext cx="4923457" cy="6154322"/>
          </a:xfrm>
          <a:custGeom>
            <a:avLst/>
            <a:gdLst/>
            <a:ahLst/>
            <a:cxnLst/>
            <a:rect l="l" t="t" r="r" b="b"/>
            <a:pathLst>
              <a:path w="4923457" h="6154322">
                <a:moveTo>
                  <a:pt x="0" y="0"/>
                </a:moveTo>
                <a:lnTo>
                  <a:pt x="4923458" y="0"/>
                </a:lnTo>
                <a:lnTo>
                  <a:pt x="4923458" y="6154322"/>
                </a:lnTo>
                <a:lnTo>
                  <a:pt x="0" y="6154322"/>
                </a:lnTo>
                <a:lnTo>
                  <a:pt x="0" y="0"/>
                </a:lnTo>
                <a:close/>
              </a:path>
            </a:pathLst>
          </a:custGeom>
          <a:blipFill>
            <a:blip r:embed="rId7"/>
            <a:stretch>
              <a:fillRect/>
            </a:stretch>
          </a:blipFill>
        </p:spPr>
        <p:txBody>
          <a:bodyPr/>
          <a:lstStyle/>
          <a:p>
            <a:endParaRPr lang="he-IL"/>
          </a:p>
        </p:txBody>
      </p:sp>
      <p:sp>
        <p:nvSpPr>
          <p:cNvPr id="7" name="Freeform 7"/>
          <p:cNvSpPr/>
          <p:nvPr/>
        </p:nvSpPr>
        <p:spPr>
          <a:xfrm rot="-5400000">
            <a:off x="11396646" y="1898172"/>
            <a:ext cx="4759348" cy="5949185"/>
          </a:xfrm>
          <a:custGeom>
            <a:avLst/>
            <a:gdLst/>
            <a:ahLst/>
            <a:cxnLst/>
            <a:rect l="l" t="t" r="r" b="b"/>
            <a:pathLst>
              <a:path w="4759348" h="5949185">
                <a:moveTo>
                  <a:pt x="0" y="0"/>
                </a:moveTo>
                <a:lnTo>
                  <a:pt x="4759349" y="0"/>
                </a:lnTo>
                <a:lnTo>
                  <a:pt x="4759349" y="5949186"/>
                </a:lnTo>
                <a:lnTo>
                  <a:pt x="0" y="5949186"/>
                </a:lnTo>
                <a:lnTo>
                  <a:pt x="0" y="0"/>
                </a:lnTo>
                <a:close/>
              </a:path>
            </a:pathLst>
          </a:custGeom>
          <a:blipFill>
            <a:blip r:embed="rId8"/>
            <a:stretch>
              <a:fillRect/>
            </a:stretch>
          </a:blipFill>
        </p:spPr>
        <p:txBody>
          <a:bodyPr/>
          <a:lstStyle/>
          <a:p>
            <a:endParaRPr lang="he-IL"/>
          </a:p>
        </p:txBody>
      </p:sp>
      <p:sp>
        <p:nvSpPr>
          <p:cNvPr id="8" name="TextBox 8"/>
          <p:cNvSpPr txBox="1"/>
          <p:nvPr/>
        </p:nvSpPr>
        <p:spPr>
          <a:xfrm>
            <a:off x="3458898" y="699853"/>
            <a:ext cx="11370203" cy="1009651"/>
          </a:xfrm>
          <a:prstGeom prst="rect">
            <a:avLst/>
          </a:prstGeom>
        </p:spPr>
        <p:txBody>
          <a:bodyPr lIns="0" tIns="0" rIns="0" bIns="0" rtlCol="0" anchor="t">
            <a:spAutoFit/>
          </a:bodyPr>
          <a:lstStyle/>
          <a:p>
            <a:pPr marL="0" lvl="0" indent="0" algn="ctr">
              <a:lnSpc>
                <a:spcPts val="8399"/>
              </a:lnSpc>
              <a:spcBef>
                <a:spcPct val="0"/>
              </a:spcBef>
            </a:pPr>
            <a:r>
              <a:rPr lang="en-US" sz="5999" b="1">
                <a:solidFill>
                  <a:srgbClr val="000000"/>
                </a:solidFill>
                <a:latin typeface="Garet Bold"/>
                <a:ea typeface="Garet Bold"/>
                <a:cs typeface="Garet Bold"/>
                <a:sym typeface="Garet Bold"/>
              </a:rPr>
              <a:t>Erase Closet Example:</a:t>
            </a:r>
          </a:p>
        </p:txBody>
      </p:sp>
      <p:sp>
        <p:nvSpPr>
          <p:cNvPr id="9" name="TextBox 9"/>
          <p:cNvSpPr txBox="1"/>
          <p:nvPr/>
        </p:nvSpPr>
        <p:spPr>
          <a:xfrm>
            <a:off x="574268" y="1976204"/>
            <a:ext cx="1483132" cy="432811"/>
          </a:xfrm>
          <a:prstGeom prst="rect">
            <a:avLst/>
          </a:prstGeom>
        </p:spPr>
        <p:txBody>
          <a:bodyPr wrap="square" lIns="0" tIns="0" rIns="0" bIns="0" rtlCol="0" anchor="t">
            <a:spAutoFit/>
          </a:bodyPr>
          <a:lstStyle/>
          <a:p>
            <a:pPr algn="ctr">
              <a:lnSpc>
                <a:spcPts val="3499"/>
              </a:lnSpc>
              <a:spcBef>
                <a:spcPct val="0"/>
              </a:spcBef>
            </a:pPr>
            <a:r>
              <a:rPr lang="en-US" sz="2499" u="sng" dirty="0">
                <a:solidFill>
                  <a:srgbClr val="000000"/>
                </a:solidFill>
                <a:latin typeface="Garet"/>
                <a:ea typeface="Garet"/>
                <a:cs typeface="Garet"/>
                <a:sym typeface="Garet"/>
              </a:rPr>
              <a:t>BEFORE:</a:t>
            </a:r>
          </a:p>
        </p:txBody>
      </p:sp>
      <p:sp>
        <p:nvSpPr>
          <p:cNvPr id="10" name="TextBox 10"/>
          <p:cNvSpPr txBox="1"/>
          <p:nvPr/>
        </p:nvSpPr>
        <p:spPr>
          <a:xfrm>
            <a:off x="10801728" y="1976204"/>
            <a:ext cx="1237872" cy="432811"/>
          </a:xfrm>
          <a:prstGeom prst="rect">
            <a:avLst/>
          </a:prstGeom>
        </p:spPr>
        <p:txBody>
          <a:bodyPr wrap="square" lIns="0" tIns="0" rIns="0" bIns="0" rtlCol="0" anchor="t">
            <a:spAutoFit/>
          </a:bodyPr>
          <a:lstStyle/>
          <a:p>
            <a:pPr algn="ctr">
              <a:lnSpc>
                <a:spcPts val="3499"/>
              </a:lnSpc>
              <a:spcBef>
                <a:spcPct val="0"/>
              </a:spcBef>
            </a:pPr>
            <a:r>
              <a:rPr lang="en-US" sz="2499" u="sng" dirty="0">
                <a:solidFill>
                  <a:srgbClr val="000000"/>
                </a:solidFill>
                <a:latin typeface="Garet"/>
                <a:ea typeface="Garet"/>
                <a:cs typeface="Garet"/>
                <a:sym typeface="Garet"/>
              </a:rPr>
              <a:t>AFTER:</a:t>
            </a:r>
          </a:p>
        </p:txBody>
      </p:sp>
      <p:sp>
        <p:nvSpPr>
          <p:cNvPr id="11" name="TextBox 11"/>
          <p:cNvSpPr txBox="1"/>
          <p:nvPr/>
        </p:nvSpPr>
        <p:spPr>
          <a:xfrm>
            <a:off x="8747452" y="4373922"/>
            <a:ext cx="929947" cy="432811"/>
          </a:xfrm>
          <a:prstGeom prst="rect">
            <a:avLst/>
          </a:prstGeom>
        </p:spPr>
        <p:txBody>
          <a:bodyPr wrap="square" lIns="0" tIns="0" rIns="0" bIns="0" rtlCol="0" anchor="t">
            <a:spAutoFit/>
          </a:bodyPr>
          <a:lstStyle/>
          <a:p>
            <a:pPr algn="ctr">
              <a:lnSpc>
                <a:spcPts val="3499"/>
              </a:lnSpc>
              <a:spcBef>
                <a:spcPct val="0"/>
              </a:spcBef>
            </a:pPr>
            <a:r>
              <a:rPr lang="en-US" sz="2499" u="sng" dirty="0">
                <a:solidFill>
                  <a:srgbClr val="000000"/>
                </a:solidFill>
                <a:latin typeface="Garet"/>
                <a:ea typeface="Garet"/>
                <a:cs typeface="Garet"/>
                <a:sym typeface="Garet"/>
              </a:rPr>
              <a:t>BOX:</a:t>
            </a:r>
          </a:p>
        </p:txBody>
      </p:sp>
      <p:sp>
        <p:nvSpPr>
          <p:cNvPr id="12" name="TextBox 12"/>
          <p:cNvSpPr txBox="1"/>
          <p:nvPr/>
        </p:nvSpPr>
        <p:spPr>
          <a:xfrm>
            <a:off x="0" y="9947275"/>
            <a:ext cx="5315931" cy="339725"/>
          </a:xfrm>
          <a:prstGeom prst="rect">
            <a:avLst/>
          </a:prstGeom>
        </p:spPr>
        <p:txBody>
          <a:bodyPr lIns="0" tIns="0" rIns="0" bIns="0" rtlCol="0" anchor="t">
            <a:spAutoFit/>
          </a:bodyPr>
          <a:lstStyle/>
          <a:p>
            <a:pPr algn="ctr">
              <a:lnSpc>
                <a:spcPts val="2800"/>
              </a:lnSpc>
              <a:spcBef>
                <a:spcPct val="0"/>
              </a:spcBef>
            </a:pPr>
            <a:r>
              <a:rPr lang="en-US" sz="2000">
                <a:solidFill>
                  <a:srgbClr val="000000"/>
                </a:solidFill>
                <a:latin typeface="Garet"/>
                <a:ea typeface="Garet"/>
                <a:cs typeface="Garet"/>
                <a:sym typeface="Garet"/>
              </a:rPr>
              <a:t>NON - SUBSTANTIAL CHANGE CREATION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333" b="-9333"/>
            </a:stretch>
          </a:blipFill>
        </p:spPr>
        <p:txBody>
          <a:bodyPr/>
          <a:lstStyle/>
          <a:p>
            <a:endParaRPr lang="he-IL"/>
          </a:p>
        </p:txBody>
      </p:sp>
      <p:sp>
        <p:nvSpPr>
          <p:cNvPr id="3" name="AutoShape 3"/>
          <p:cNvSpPr/>
          <p:nvPr/>
        </p:nvSpPr>
        <p:spPr>
          <a:xfrm>
            <a:off x="-758305" y="1369513"/>
            <a:ext cx="19804610" cy="0"/>
          </a:xfrm>
          <a:prstGeom prst="line">
            <a:avLst/>
          </a:prstGeom>
          <a:ln w="19050" cap="flat">
            <a:solidFill>
              <a:srgbClr val="A6A6A6"/>
            </a:solidFill>
            <a:prstDash val="solid"/>
            <a:headEnd type="none" w="sm" len="sm"/>
            <a:tailEnd type="none" w="sm" len="sm"/>
          </a:ln>
        </p:spPr>
        <p:txBody>
          <a:bodyPr/>
          <a:lstStyle/>
          <a:p>
            <a:endParaRPr lang="he-IL"/>
          </a:p>
        </p:txBody>
      </p:sp>
      <p:grpSp>
        <p:nvGrpSpPr>
          <p:cNvPr id="4" name="Group 4"/>
          <p:cNvGrpSpPr/>
          <p:nvPr/>
        </p:nvGrpSpPr>
        <p:grpSpPr>
          <a:xfrm>
            <a:off x="17165093" y="-866775"/>
            <a:ext cx="2245813" cy="2245813"/>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A6A6A6"/>
              </a:solidFill>
              <a:prstDash val="solid"/>
              <a:miter/>
            </a:ln>
          </p:spPr>
          <p:txBody>
            <a:bodyPr/>
            <a:lstStyle/>
            <a:p>
              <a:endParaRPr lang="he-IL"/>
            </a:p>
          </p:txBody>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800"/>
                </a:lnSpc>
              </a:pPr>
              <a:endParaRPr/>
            </a:p>
          </p:txBody>
        </p:sp>
      </p:grpSp>
      <p:sp>
        <p:nvSpPr>
          <p:cNvPr id="7" name="TextBox 7"/>
          <p:cNvSpPr txBox="1"/>
          <p:nvPr/>
        </p:nvSpPr>
        <p:spPr>
          <a:xfrm>
            <a:off x="4799493" y="1538214"/>
            <a:ext cx="8689015" cy="1009651"/>
          </a:xfrm>
          <a:prstGeom prst="rect">
            <a:avLst/>
          </a:prstGeom>
        </p:spPr>
        <p:txBody>
          <a:bodyPr lIns="0" tIns="0" rIns="0" bIns="0" rtlCol="0" anchor="t">
            <a:spAutoFit/>
          </a:bodyPr>
          <a:lstStyle/>
          <a:p>
            <a:pPr marL="0" lvl="0" indent="0" algn="l">
              <a:lnSpc>
                <a:spcPts val="8399"/>
              </a:lnSpc>
              <a:spcBef>
                <a:spcPct val="0"/>
              </a:spcBef>
            </a:pPr>
            <a:r>
              <a:rPr lang="en-US" sz="5999" b="1">
                <a:solidFill>
                  <a:srgbClr val="000000"/>
                </a:solidFill>
                <a:latin typeface="Garet Bold"/>
                <a:ea typeface="Garet Bold"/>
                <a:cs typeface="Garet Bold"/>
                <a:sym typeface="Garet Bold"/>
              </a:rPr>
              <a:t>Review methodology</a:t>
            </a:r>
          </a:p>
        </p:txBody>
      </p:sp>
      <p:sp>
        <p:nvSpPr>
          <p:cNvPr id="8" name="TextBox 8"/>
          <p:cNvSpPr txBox="1"/>
          <p:nvPr/>
        </p:nvSpPr>
        <p:spPr>
          <a:xfrm>
            <a:off x="1538214" y="3155079"/>
            <a:ext cx="5167386" cy="419346"/>
          </a:xfrm>
          <a:prstGeom prst="rect">
            <a:avLst/>
          </a:prstGeom>
        </p:spPr>
        <p:txBody>
          <a:bodyPr wrap="square" lIns="0" tIns="0" rIns="0" bIns="0" rtlCol="0" anchor="t">
            <a:spAutoFit/>
          </a:bodyPr>
          <a:lstStyle/>
          <a:p>
            <a:pPr marL="0" lvl="0" indent="0" algn="ctr">
              <a:lnSpc>
                <a:spcPts val="3359"/>
              </a:lnSpc>
              <a:spcBef>
                <a:spcPct val="0"/>
              </a:spcBef>
            </a:pPr>
            <a:r>
              <a:rPr lang="en-US" sz="2399" b="1" u="none" strike="noStrike" dirty="0">
                <a:solidFill>
                  <a:srgbClr val="000000"/>
                </a:solidFill>
                <a:latin typeface="Garet Bold"/>
                <a:ea typeface="Garet Bold"/>
                <a:cs typeface="Garet Bold"/>
                <a:sym typeface="Garet Bold"/>
              </a:rPr>
              <a:t>SYNTHETIC DATA GENERATION:</a:t>
            </a:r>
          </a:p>
        </p:txBody>
      </p:sp>
      <p:pic>
        <p:nvPicPr>
          <p:cNvPr id="9" name="Picture 9"/>
          <p:cNvPicPr>
            <a:picLocks noChangeAspect="1"/>
          </p:cNvPicPr>
          <p:nvPr/>
        </p:nvPicPr>
        <p:blipFill>
          <a:blip r:embed="rId4"/>
          <a:stretch>
            <a:fillRect/>
          </a:stretch>
        </p:blipFill>
        <p:spPr>
          <a:xfrm>
            <a:off x="994000" y="3177260"/>
            <a:ext cx="416401" cy="389977"/>
          </a:xfrm>
          <a:prstGeom prst="rect">
            <a:avLst/>
          </a:prstGeom>
        </p:spPr>
      </p:pic>
      <p:sp>
        <p:nvSpPr>
          <p:cNvPr id="10" name="TextBox 10"/>
          <p:cNvSpPr txBox="1"/>
          <p:nvPr/>
        </p:nvSpPr>
        <p:spPr>
          <a:xfrm>
            <a:off x="1028700" y="3814121"/>
            <a:ext cx="7957542" cy="1968500"/>
          </a:xfrm>
          <a:prstGeom prst="rect">
            <a:avLst/>
          </a:prstGeom>
        </p:spPr>
        <p:txBody>
          <a:bodyPr lIns="0" tIns="0" rIns="0" bIns="0" rtlCol="0" anchor="t">
            <a:spAutoFit/>
          </a:bodyPr>
          <a:lstStyle/>
          <a:p>
            <a:pPr marL="431801" lvl="1" indent="-215900" algn="l">
              <a:lnSpc>
                <a:spcPts val="4000"/>
              </a:lnSpc>
              <a:spcBef>
                <a:spcPct val="0"/>
              </a:spcBef>
              <a:buFont typeface="Arial"/>
              <a:buChar char="•"/>
            </a:pPr>
            <a:r>
              <a:rPr lang="en-US" sz="2000" u="none" strike="noStrike" dirty="0">
                <a:solidFill>
                  <a:srgbClr val="000000"/>
                </a:solidFill>
                <a:latin typeface="Garet"/>
                <a:ea typeface="Garet"/>
                <a:cs typeface="Garet"/>
                <a:sym typeface="Garet"/>
              </a:rPr>
              <a:t>DETR for object detection and localization</a:t>
            </a:r>
          </a:p>
          <a:p>
            <a:pPr marL="431801" lvl="1" indent="-215900" algn="l">
              <a:lnSpc>
                <a:spcPts val="4000"/>
              </a:lnSpc>
              <a:spcBef>
                <a:spcPct val="0"/>
              </a:spcBef>
              <a:buFont typeface="Arial"/>
              <a:buChar char="•"/>
            </a:pPr>
            <a:r>
              <a:rPr lang="en-US" sz="2000" u="none" strike="noStrike" dirty="0">
                <a:solidFill>
                  <a:srgbClr val="000000"/>
                </a:solidFill>
                <a:latin typeface="Garet"/>
                <a:ea typeface="Garet"/>
                <a:cs typeface="Garet"/>
                <a:sym typeface="Garet"/>
              </a:rPr>
              <a:t>SAM for precise region segmentation</a:t>
            </a:r>
          </a:p>
          <a:p>
            <a:pPr marL="431801" lvl="1" indent="-215900" algn="l">
              <a:lnSpc>
                <a:spcPts val="4000"/>
              </a:lnSpc>
              <a:spcBef>
                <a:spcPct val="0"/>
              </a:spcBef>
              <a:buFont typeface="Arial"/>
              <a:buChar char="•"/>
            </a:pPr>
            <a:r>
              <a:rPr lang="en-US" sz="2000" u="none" strike="noStrike" dirty="0">
                <a:solidFill>
                  <a:srgbClr val="000000"/>
                </a:solidFill>
                <a:latin typeface="Garet"/>
                <a:ea typeface="Garet"/>
                <a:cs typeface="Garet"/>
                <a:sym typeface="Garet"/>
              </a:rPr>
              <a:t>Controlled patch-based edits to create before / after pairs</a:t>
            </a:r>
          </a:p>
        </p:txBody>
      </p:sp>
      <p:sp>
        <p:nvSpPr>
          <p:cNvPr id="11" name="TextBox 11"/>
          <p:cNvSpPr txBox="1"/>
          <p:nvPr/>
        </p:nvSpPr>
        <p:spPr>
          <a:xfrm>
            <a:off x="5674742" y="6163621"/>
            <a:ext cx="5374257" cy="419346"/>
          </a:xfrm>
          <a:prstGeom prst="rect">
            <a:avLst/>
          </a:prstGeom>
        </p:spPr>
        <p:txBody>
          <a:bodyPr wrap="square" lIns="0" tIns="0" rIns="0" bIns="0" rtlCol="0" anchor="t">
            <a:spAutoFit/>
          </a:bodyPr>
          <a:lstStyle/>
          <a:p>
            <a:pPr marL="0" lvl="0" indent="0" algn="ctr">
              <a:lnSpc>
                <a:spcPts val="3359"/>
              </a:lnSpc>
              <a:spcBef>
                <a:spcPct val="0"/>
              </a:spcBef>
            </a:pPr>
            <a:r>
              <a:rPr lang="en-US" sz="2399" b="1" u="none" strike="noStrike" dirty="0">
                <a:solidFill>
                  <a:srgbClr val="000000"/>
                </a:solidFill>
                <a:latin typeface="Garet Bold"/>
                <a:ea typeface="Garet Bold"/>
                <a:cs typeface="Garet Bold"/>
                <a:sym typeface="Garet Bold"/>
              </a:rPr>
              <a:t>CHANGE-TYPE CLASSIFICATION:</a:t>
            </a:r>
          </a:p>
        </p:txBody>
      </p:sp>
      <p:pic>
        <p:nvPicPr>
          <p:cNvPr id="12" name="Picture 12"/>
          <p:cNvPicPr>
            <a:picLocks noChangeAspect="1"/>
          </p:cNvPicPr>
          <p:nvPr/>
        </p:nvPicPr>
        <p:blipFill>
          <a:blip r:embed="rId5"/>
          <a:stretch>
            <a:fillRect/>
          </a:stretch>
        </p:blipFill>
        <p:spPr>
          <a:xfrm>
            <a:off x="5130529" y="6167021"/>
            <a:ext cx="416401" cy="389977"/>
          </a:xfrm>
          <a:prstGeom prst="rect">
            <a:avLst/>
          </a:prstGeom>
        </p:spPr>
      </p:pic>
      <p:sp>
        <p:nvSpPr>
          <p:cNvPr id="13" name="TextBox 13"/>
          <p:cNvSpPr txBox="1"/>
          <p:nvPr/>
        </p:nvSpPr>
        <p:spPr>
          <a:xfrm>
            <a:off x="5165228" y="6822663"/>
            <a:ext cx="8323279" cy="2000548"/>
          </a:xfrm>
          <a:prstGeom prst="rect">
            <a:avLst/>
          </a:prstGeom>
        </p:spPr>
        <p:txBody>
          <a:bodyPr wrap="square" lIns="0" tIns="0" rIns="0" bIns="0" rtlCol="0" anchor="t">
            <a:spAutoFit/>
          </a:bodyPr>
          <a:lstStyle/>
          <a:p>
            <a:pPr marL="431801" lvl="1" indent="-215900" algn="l">
              <a:lnSpc>
                <a:spcPts val="4000"/>
              </a:lnSpc>
              <a:spcBef>
                <a:spcPct val="0"/>
              </a:spcBef>
              <a:buFont typeface="Arial"/>
              <a:buChar char="•"/>
            </a:pPr>
            <a:r>
              <a:rPr lang="en-US" sz="2000" u="none" strike="noStrike" dirty="0">
                <a:solidFill>
                  <a:srgbClr val="000000"/>
                </a:solidFill>
                <a:latin typeface="Garet"/>
                <a:ea typeface="Garet"/>
                <a:cs typeface="Garet"/>
                <a:sym typeface="Garet"/>
              </a:rPr>
              <a:t>DETR-based classifier with Hungarian Matching</a:t>
            </a:r>
          </a:p>
          <a:p>
            <a:pPr marL="431801" lvl="1" indent="-215900" algn="l">
              <a:lnSpc>
                <a:spcPts val="4000"/>
              </a:lnSpc>
              <a:spcBef>
                <a:spcPct val="0"/>
              </a:spcBef>
              <a:buFont typeface="Arial"/>
              <a:buChar char="•"/>
            </a:pPr>
            <a:r>
              <a:rPr lang="en-US" sz="2000" u="none" strike="noStrike" dirty="0">
                <a:solidFill>
                  <a:srgbClr val="000000"/>
                </a:solidFill>
                <a:latin typeface="Garet"/>
                <a:ea typeface="Garet"/>
                <a:cs typeface="Garet"/>
                <a:sym typeface="Garet"/>
              </a:rPr>
              <a:t>Feature Engineering produced by the Hungarian Matching</a:t>
            </a:r>
          </a:p>
          <a:p>
            <a:pPr marL="431801" lvl="1" indent="-215900" algn="l">
              <a:lnSpc>
                <a:spcPts val="4000"/>
              </a:lnSpc>
              <a:spcBef>
                <a:spcPct val="0"/>
              </a:spcBef>
              <a:buFont typeface="Arial"/>
              <a:buChar char="•"/>
            </a:pPr>
            <a:r>
              <a:rPr lang="en-US" sz="2000" u="none" strike="noStrike" dirty="0">
                <a:solidFill>
                  <a:srgbClr val="000000"/>
                </a:solidFill>
                <a:latin typeface="Garet"/>
                <a:ea typeface="Garet"/>
                <a:cs typeface="Garet"/>
                <a:sym typeface="Garet"/>
              </a:rPr>
              <a:t>Logistic Regression model</a:t>
            </a:r>
          </a:p>
          <a:p>
            <a:pPr marL="431801" lvl="1" indent="-215900" algn="l">
              <a:lnSpc>
                <a:spcPts val="4000"/>
              </a:lnSpc>
              <a:spcBef>
                <a:spcPct val="0"/>
              </a:spcBef>
              <a:buFont typeface="Arial"/>
              <a:buChar char="•"/>
            </a:pPr>
            <a:r>
              <a:rPr lang="en-US" sz="2000" u="none" strike="noStrike" dirty="0">
                <a:solidFill>
                  <a:srgbClr val="000000"/>
                </a:solidFill>
                <a:latin typeface="Garet"/>
                <a:ea typeface="Garet"/>
                <a:cs typeface="Garet"/>
                <a:sym typeface="Garet"/>
              </a:rPr>
              <a:t>Output: predicted change type between image pairs</a:t>
            </a:r>
          </a:p>
        </p:txBody>
      </p:sp>
      <p:sp>
        <p:nvSpPr>
          <p:cNvPr id="14" name="TextBox 14"/>
          <p:cNvSpPr txBox="1"/>
          <p:nvPr/>
        </p:nvSpPr>
        <p:spPr>
          <a:xfrm>
            <a:off x="10766228" y="3155079"/>
            <a:ext cx="4245172" cy="419346"/>
          </a:xfrm>
          <a:prstGeom prst="rect">
            <a:avLst/>
          </a:prstGeom>
        </p:spPr>
        <p:txBody>
          <a:bodyPr wrap="square" lIns="0" tIns="0" rIns="0" bIns="0" rtlCol="0" anchor="t">
            <a:spAutoFit/>
          </a:bodyPr>
          <a:lstStyle/>
          <a:p>
            <a:pPr marL="0" lvl="0" indent="0" algn="ctr">
              <a:lnSpc>
                <a:spcPts val="3359"/>
              </a:lnSpc>
              <a:spcBef>
                <a:spcPct val="0"/>
              </a:spcBef>
            </a:pPr>
            <a:r>
              <a:rPr lang="en-US" sz="2399" b="1" u="none" strike="noStrike" dirty="0">
                <a:solidFill>
                  <a:srgbClr val="000000"/>
                </a:solidFill>
                <a:latin typeface="Garet Bold"/>
                <a:ea typeface="Garet Bold"/>
                <a:cs typeface="Garet Bold"/>
                <a:sym typeface="Garet Bold"/>
              </a:rPr>
              <a:t>EVALUATION STRATEGY:</a:t>
            </a:r>
          </a:p>
        </p:txBody>
      </p:sp>
      <p:pic>
        <p:nvPicPr>
          <p:cNvPr id="15" name="Picture 15"/>
          <p:cNvPicPr>
            <a:picLocks noChangeAspect="1"/>
          </p:cNvPicPr>
          <p:nvPr/>
        </p:nvPicPr>
        <p:blipFill>
          <a:blip r:embed="rId6"/>
          <a:stretch>
            <a:fillRect/>
          </a:stretch>
        </p:blipFill>
        <p:spPr>
          <a:xfrm>
            <a:off x="10182513" y="3196579"/>
            <a:ext cx="416401" cy="389977"/>
          </a:xfrm>
          <a:prstGeom prst="rect">
            <a:avLst/>
          </a:prstGeom>
        </p:spPr>
      </p:pic>
      <p:sp>
        <p:nvSpPr>
          <p:cNvPr id="16" name="TextBox 16"/>
          <p:cNvSpPr txBox="1"/>
          <p:nvPr/>
        </p:nvSpPr>
        <p:spPr>
          <a:xfrm>
            <a:off x="10217213" y="3777626"/>
            <a:ext cx="7042087" cy="1968500"/>
          </a:xfrm>
          <a:prstGeom prst="rect">
            <a:avLst/>
          </a:prstGeom>
        </p:spPr>
        <p:txBody>
          <a:bodyPr lIns="0" tIns="0" rIns="0" bIns="0" rtlCol="0" anchor="t">
            <a:spAutoFit/>
          </a:bodyPr>
          <a:lstStyle/>
          <a:p>
            <a:pPr marL="431801" lvl="1" indent="-215900" algn="l">
              <a:lnSpc>
                <a:spcPts val="4000"/>
              </a:lnSpc>
              <a:spcBef>
                <a:spcPct val="0"/>
              </a:spcBef>
              <a:buFont typeface="Arial"/>
              <a:buChar char="•"/>
            </a:pPr>
            <a:r>
              <a:rPr lang="en-US" sz="2000" u="none" strike="noStrike" dirty="0">
                <a:solidFill>
                  <a:srgbClr val="000000"/>
                </a:solidFill>
                <a:latin typeface="Garet"/>
                <a:ea typeface="Garet"/>
                <a:cs typeface="Garet"/>
                <a:sym typeface="Garet"/>
              </a:rPr>
              <a:t>Accuracy, Precision, Recall, F1-score</a:t>
            </a:r>
          </a:p>
          <a:p>
            <a:pPr marL="431801" lvl="1" indent="-215900" algn="l">
              <a:lnSpc>
                <a:spcPts val="4000"/>
              </a:lnSpc>
              <a:spcBef>
                <a:spcPct val="0"/>
              </a:spcBef>
              <a:buFont typeface="Arial"/>
              <a:buChar char="•"/>
            </a:pPr>
            <a:r>
              <a:rPr lang="en-US" sz="2000" u="none" strike="noStrike" dirty="0">
                <a:solidFill>
                  <a:srgbClr val="000000"/>
                </a:solidFill>
                <a:latin typeface="Garet"/>
                <a:ea typeface="Garet"/>
                <a:cs typeface="Garet"/>
                <a:sym typeface="Garet"/>
              </a:rPr>
              <a:t>Threshold sweep on prediction confidence</a:t>
            </a:r>
          </a:p>
          <a:p>
            <a:pPr marL="431801" lvl="1" indent="-215900" algn="l">
              <a:lnSpc>
                <a:spcPts val="4000"/>
              </a:lnSpc>
              <a:spcBef>
                <a:spcPct val="0"/>
              </a:spcBef>
              <a:buFont typeface="Arial"/>
              <a:buChar char="•"/>
            </a:pPr>
            <a:r>
              <a:rPr lang="en-US" sz="2000" u="none" strike="noStrike" dirty="0">
                <a:solidFill>
                  <a:srgbClr val="000000"/>
                </a:solidFill>
                <a:latin typeface="Garet"/>
                <a:ea typeface="Garet"/>
                <a:cs typeface="Garet"/>
                <a:sym typeface="Garet"/>
              </a:rPr>
              <a:t>Threshold = 0.3 selected for best performance on meaningful changes</a:t>
            </a:r>
          </a:p>
        </p:txBody>
      </p:sp>
      <p:sp>
        <p:nvSpPr>
          <p:cNvPr id="17" name="AutoShape 17"/>
          <p:cNvSpPr/>
          <p:nvPr/>
        </p:nvSpPr>
        <p:spPr>
          <a:xfrm>
            <a:off x="-756489" y="9173618"/>
            <a:ext cx="19804610" cy="0"/>
          </a:xfrm>
          <a:prstGeom prst="line">
            <a:avLst/>
          </a:prstGeom>
          <a:ln w="19050" cap="flat">
            <a:solidFill>
              <a:srgbClr val="A6A6A6"/>
            </a:solidFill>
            <a:prstDash val="solid"/>
            <a:headEnd type="none" w="sm" len="sm"/>
            <a:tailEnd type="none" w="sm" len="sm"/>
          </a:ln>
        </p:spPr>
        <p:txBody>
          <a:bodyPr/>
          <a:lstStyle/>
          <a:p>
            <a:endParaRPr lang="he-IL"/>
          </a:p>
        </p:txBody>
      </p:sp>
      <p:grpSp>
        <p:nvGrpSpPr>
          <p:cNvPr id="18" name="Group 18"/>
          <p:cNvGrpSpPr/>
          <p:nvPr/>
        </p:nvGrpSpPr>
        <p:grpSpPr>
          <a:xfrm>
            <a:off x="-1122907" y="9164093"/>
            <a:ext cx="2245813" cy="2245813"/>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A6A6A6"/>
              </a:solidFill>
              <a:prstDash val="solid"/>
              <a:miter/>
            </a:ln>
          </p:spPr>
          <p:txBody>
            <a:bodyPr/>
            <a:lstStyle/>
            <a:p>
              <a:endParaRPr lang="he-IL"/>
            </a:p>
          </p:txBody>
        </p:sp>
        <p:sp>
          <p:nvSpPr>
            <p:cNvPr id="20" name="TextBox 20"/>
            <p:cNvSpPr txBox="1"/>
            <p:nvPr/>
          </p:nvSpPr>
          <p:spPr>
            <a:xfrm>
              <a:off x="76200" y="38100"/>
              <a:ext cx="660400" cy="698500"/>
            </a:xfrm>
            <a:prstGeom prst="rect">
              <a:avLst/>
            </a:prstGeom>
          </p:spPr>
          <p:txBody>
            <a:bodyPr lIns="50800" tIns="50800" rIns="50800" bIns="50800" rtlCol="0" anchor="ctr"/>
            <a:lstStyle/>
            <a:p>
              <a:pPr algn="ctr">
                <a:lnSpc>
                  <a:spcPts val="2800"/>
                </a:lnSpc>
              </a:pP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333" b="-9333"/>
            </a:stretch>
          </a:blipFill>
        </p:spPr>
        <p:txBody>
          <a:bodyPr/>
          <a:lstStyle/>
          <a:p>
            <a:endParaRPr lang="he-IL"/>
          </a:p>
        </p:txBody>
      </p:sp>
      <p:sp>
        <p:nvSpPr>
          <p:cNvPr id="3" name="Freeform 3"/>
          <p:cNvSpPr/>
          <p:nvPr/>
        </p:nvSpPr>
        <p:spPr>
          <a:xfrm>
            <a:off x="2026160" y="1709504"/>
            <a:ext cx="13815184" cy="7822848"/>
          </a:xfrm>
          <a:custGeom>
            <a:avLst/>
            <a:gdLst/>
            <a:ahLst/>
            <a:cxnLst/>
            <a:rect l="l" t="t" r="r" b="b"/>
            <a:pathLst>
              <a:path w="13815184" h="7822848">
                <a:moveTo>
                  <a:pt x="0" y="0"/>
                </a:moveTo>
                <a:lnTo>
                  <a:pt x="13815183" y="0"/>
                </a:lnTo>
                <a:lnTo>
                  <a:pt x="13815183" y="7822847"/>
                </a:lnTo>
                <a:lnTo>
                  <a:pt x="0" y="7822847"/>
                </a:lnTo>
                <a:lnTo>
                  <a:pt x="0" y="0"/>
                </a:lnTo>
                <a:close/>
              </a:path>
            </a:pathLst>
          </a:custGeom>
          <a:blipFill>
            <a:blip r:embed="rId4"/>
            <a:stretch>
              <a:fillRect/>
            </a:stretch>
          </a:blipFill>
        </p:spPr>
        <p:txBody>
          <a:bodyPr/>
          <a:lstStyle/>
          <a:p>
            <a:endParaRPr lang="he-IL"/>
          </a:p>
        </p:txBody>
      </p:sp>
      <p:sp>
        <p:nvSpPr>
          <p:cNvPr id="4" name="TextBox 4"/>
          <p:cNvSpPr txBox="1"/>
          <p:nvPr/>
        </p:nvSpPr>
        <p:spPr>
          <a:xfrm>
            <a:off x="3248650" y="471487"/>
            <a:ext cx="11370203" cy="1009651"/>
          </a:xfrm>
          <a:prstGeom prst="rect">
            <a:avLst/>
          </a:prstGeom>
        </p:spPr>
        <p:txBody>
          <a:bodyPr lIns="0" tIns="0" rIns="0" bIns="0" rtlCol="0" anchor="t">
            <a:spAutoFit/>
          </a:bodyPr>
          <a:lstStyle/>
          <a:p>
            <a:pPr marL="0" lvl="0" indent="0" algn="ctr">
              <a:lnSpc>
                <a:spcPts val="8399"/>
              </a:lnSpc>
              <a:spcBef>
                <a:spcPct val="0"/>
              </a:spcBef>
            </a:pPr>
            <a:r>
              <a:rPr lang="en-US" sz="5999" b="1">
                <a:solidFill>
                  <a:srgbClr val="000000"/>
                </a:solidFill>
                <a:latin typeface="Garet Bold"/>
                <a:ea typeface="Garet Bold"/>
                <a:cs typeface="Garet Bold"/>
                <a:sym typeface="Garet Bold"/>
              </a:rPr>
              <a:t>predicted: significant</a:t>
            </a:r>
          </a:p>
        </p:txBody>
      </p:sp>
      <p:sp>
        <p:nvSpPr>
          <p:cNvPr id="5" name="Freeform 5"/>
          <p:cNvSpPr/>
          <p:nvPr/>
        </p:nvSpPr>
        <p:spPr>
          <a:xfrm>
            <a:off x="13760321" y="255325"/>
            <a:ext cx="1337692" cy="1225813"/>
          </a:xfrm>
          <a:custGeom>
            <a:avLst/>
            <a:gdLst/>
            <a:ahLst/>
            <a:cxnLst/>
            <a:rect l="l" t="t" r="r" b="b"/>
            <a:pathLst>
              <a:path w="1337692" h="1225813">
                <a:moveTo>
                  <a:pt x="0" y="0"/>
                </a:moveTo>
                <a:lnTo>
                  <a:pt x="1337692" y="0"/>
                </a:lnTo>
                <a:lnTo>
                  <a:pt x="1337692" y="1225813"/>
                </a:lnTo>
                <a:lnTo>
                  <a:pt x="0" y="122581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he-IL"/>
          </a:p>
        </p:txBody>
      </p:sp>
      <p:sp>
        <p:nvSpPr>
          <p:cNvPr id="6" name="Freeform 6"/>
          <p:cNvSpPr/>
          <p:nvPr/>
        </p:nvSpPr>
        <p:spPr>
          <a:xfrm>
            <a:off x="14217936" y="6501127"/>
            <a:ext cx="880077" cy="803270"/>
          </a:xfrm>
          <a:custGeom>
            <a:avLst/>
            <a:gdLst/>
            <a:ahLst/>
            <a:cxnLst/>
            <a:rect l="l" t="t" r="r" b="b"/>
            <a:pathLst>
              <a:path w="880077" h="803270">
                <a:moveTo>
                  <a:pt x="0" y="0"/>
                </a:moveTo>
                <a:lnTo>
                  <a:pt x="880077" y="0"/>
                </a:lnTo>
                <a:lnTo>
                  <a:pt x="880077" y="803270"/>
                </a:lnTo>
                <a:lnTo>
                  <a:pt x="0" y="80327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he-IL"/>
          </a:p>
        </p:txBody>
      </p:sp>
      <p:sp>
        <p:nvSpPr>
          <p:cNvPr id="7" name="Freeform 7"/>
          <p:cNvSpPr/>
          <p:nvPr/>
        </p:nvSpPr>
        <p:spPr>
          <a:xfrm>
            <a:off x="6294962" y="6501127"/>
            <a:ext cx="880077" cy="803270"/>
          </a:xfrm>
          <a:custGeom>
            <a:avLst/>
            <a:gdLst/>
            <a:ahLst/>
            <a:cxnLst/>
            <a:rect l="l" t="t" r="r" b="b"/>
            <a:pathLst>
              <a:path w="880077" h="803270">
                <a:moveTo>
                  <a:pt x="0" y="0"/>
                </a:moveTo>
                <a:lnTo>
                  <a:pt x="880077" y="0"/>
                </a:lnTo>
                <a:lnTo>
                  <a:pt x="880077" y="803270"/>
                </a:lnTo>
                <a:lnTo>
                  <a:pt x="0" y="80327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he-IL"/>
          </a:p>
        </p:txBody>
      </p:sp>
      <p:sp>
        <p:nvSpPr>
          <p:cNvPr id="8" name="TextBox 8"/>
          <p:cNvSpPr txBox="1"/>
          <p:nvPr/>
        </p:nvSpPr>
        <p:spPr>
          <a:xfrm>
            <a:off x="0" y="9947275"/>
            <a:ext cx="2286000" cy="346249"/>
          </a:xfrm>
          <a:prstGeom prst="rect">
            <a:avLst/>
          </a:prstGeom>
        </p:spPr>
        <p:txBody>
          <a:bodyPr wrap="square" lIns="0" tIns="0" rIns="0" bIns="0" rtlCol="0" anchor="t">
            <a:spAutoFit/>
          </a:bodyPr>
          <a:lstStyle/>
          <a:p>
            <a:pPr marL="0" lvl="0" indent="0" algn="ctr">
              <a:lnSpc>
                <a:spcPts val="2800"/>
              </a:lnSpc>
              <a:spcBef>
                <a:spcPct val="0"/>
              </a:spcBef>
            </a:pPr>
            <a:r>
              <a:rPr lang="en-US" sz="2000" u="none" strike="noStrike" dirty="0">
                <a:solidFill>
                  <a:srgbClr val="000000"/>
                </a:solidFill>
                <a:latin typeface="Garet"/>
                <a:ea typeface="Garet"/>
                <a:cs typeface="Garet"/>
                <a:sym typeface="Garet"/>
              </a:rPr>
              <a:t>REMOVED STOVE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333" b="-9333"/>
            </a:stretch>
          </a:blipFill>
        </p:spPr>
        <p:txBody>
          <a:bodyPr/>
          <a:lstStyle/>
          <a:p>
            <a:endParaRPr lang="he-IL"/>
          </a:p>
        </p:txBody>
      </p:sp>
      <p:sp>
        <p:nvSpPr>
          <p:cNvPr id="3" name="Freeform 3"/>
          <p:cNvSpPr/>
          <p:nvPr/>
        </p:nvSpPr>
        <p:spPr>
          <a:xfrm>
            <a:off x="1453264" y="2564813"/>
            <a:ext cx="15381471" cy="6823626"/>
          </a:xfrm>
          <a:custGeom>
            <a:avLst/>
            <a:gdLst/>
            <a:ahLst/>
            <a:cxnLst/>
            <a:rect l="l" t="t" r="r" b="b"/>
            <a:pathLst>
              <a:path w="15381471" h="6823626">
                <a:moveTo>
                  <a:pt x="0" y="0"/>
                </a:moveTo>
                <a:lnTo>
                  <a:pt x="15381472" y="0"/>
                </a:lnTo>
                <a:lnTo>
                  <a:pt x="15381472" y="6823626"/>
                </a:lnTo>
                <a:lnTo>
                  <a:pt x="0" y="6823626"/>
                </a:lnTo>
                <a:lnTo>
                  <a:pt x="0" y="0"/>
                </a:lnTo>
                <a:close/>
              </a:path>
            </a:pathLst>
          </a:custGeom>
          <a:blipFill>
            <a:blip r:embed="rId4"/>
            <a:stretch>
              <a:fillRect l="-412" r="-412"/>
            </a:stretch>
          </a:blipFill>
        </p:spPr>
        <p:txBody>
          <a:bodyPr/>
          <a:lstStyle/>
          <a:p>
            <a:endParaRPr lang="he-IL"/>
          </a:p>
        </p:txBody>
      </p:sp>
      <p:sp>
        <p:nvSpPr>
          <p:cNvPr id="4" name="Freeform 4"/>
          <p:cNvSpPr/>
          <p:nvPr/>
        </p:nvSpPr>
        <p:spPr>
          <a:xfrm>
            <a:off x="14829102" y="577624"/>
            <a:ext cx="1337692" cy="1225813"/>
          </a:xfrm>
          <a:custGeom>
            <a:avLst/>
            <a:gdLst/>
            <a:ahLst/>
            <a:cxnLst/>
            <a:rect l="l" t="t" r="r" b="b"/>
            <a:pathLst>
              <a:path w="1337692" h="1225813">
                <a:moveTo>
                  <a:pt x="0" y="0"/>
                </a:moveTo>
                <a:lnTo>
                  <a:pt x="1337692" y="0"/>
                </a:lnTo>
                <a:lnTo>
                  <a:pt x="1337692" y="1225813"/>
                </a:lnTo>
                <a:lnTo>
                  <a:pt x="0" y="122581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he-IL"/>
          </a:p>
        </p:txBody>
      </p:sp>
      <p:sp>
        <p:nvSpPr>
          <p:cNvPr id="5" name="TextBox 5"/>
          <p:cNvSpPr txBox="1"/>
          <p:nvPr/>
        </p:nvSpPr>
        <p:spPr>
          <a:xfrm>
            <a:off x="3458898" y="793786"/>
            <a:ext cx="11370203" cy="1009651"/>
          </a:xfrm>
          <a:prstGeom prst="rect">
            <a:avLst/>
          </a:prstGeom>
        </p:spPr>
        <p:txBody>
          <a:bodyPr lIns="0" tIns="0" rIns="0" bIns="0" rtlCol="0" anchor="t">
            <a:spAutoFit/>
          </a:bodyPr>
          <a:lstStyle/>
          <a:p>
            <a:pPr marL="0" lvl="0" indent="0" algn="ctr">
              <a:lnSpc>
                <a:spcPts val="8399"/>
              </a:lnSpc>
              <a:spcBef>
                <a:spcPct val="0"/>
              </a:spcBef>
            </a:pPr>
            <a:r>
              <a:rPr lang="en-US" sz="5999" b="1">
                <a:solidFill>
                  <a:srgbClr val="000000"/>
                </a:solidFill>
                <a:latin typeface="Garet Bold"/>
                <a:ea typeface="Garet Bold"/>
                <a:cs typeface="Garet Bold"/>
                <a:sym typeface="Garet Bold"/>
              </a:rPr>
              <a:t>predicted: non-significant</a:t>
            </a:r>
          </a:p>
        </p:txBody>
      </p:sp>
      <p:sp>
        <p:nvSpPr>
          <p:cNvPr id="6" name="Freeform 6"/>
          <p:cNvSpPr/>
          <p:nvPr/>
        </p:nvSpPr>
        <p:spPr>
          <a:xfrm>
            <a:off x="12194806" y="8044192"/>
            <a:ext cx="880077" cy="803270"/>
          </a:xfrm>
          <a:custGeom>
            <a:avLst/>
            <a:gdLst/>
            <a:ahLst/>
            <a:cxnLst/>
            <a:rect l="l" t="t" r="r" b="b"/>
            <a:pathLst>
              <a:path w="880077" h="803270">
                <a:moveTo>
                  <a:pt x="0" y="0"/>
                </a:moveTo>
                <a:lnTo>
                  <a:pt x="880077" y="0"/>
                </a:lnTo>
                <a:lnTo>
                  <a:pt x="880077" y="803270"/>
                </a:lnTo>
                <a:lnTo>
                  <a:pt x="0" y="80327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he-IL"/>
          </a:p>
        </p:txBody>
      </p:sp>
      <p:sp>
        <p:nvSpPr>
          <p:cNvPr id="7" name="Freeform 7"/>
          <p:cNvSpPr/>
          <p:nvPr/>
        </p:nvSpPr>
        <p:spPr>
          <a:xfrm>
            <a:off x="4443284" y="8044192"/>
            <a:ext cx="880077" cy="803270"/>
          </a:xfrm>
          <a:custGeom>
            <a:avLst/>
            <a:gdLst/>
            <a:ahLst/>
            <a:cxnLst/>
            <a:rect l="l" t="t" r="r" b="b"/>
            <a:pathLst>
              <a:path w="880077" h="803270">
                <a:moveTo>
                  <a:pt x="0" y="0"/>
                </a:moveTo>
                <a:lnTo>
                  <a:pt x="880077" y="0"/>
                </a:lnTo>
                <a:lnTo>
                  <a:pt x="880077" y="803270"/>
                </a:lnTo>
                <a:lnTo>
                  <a:pt x="0" y="80327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he-IL"/>
          </a:p>
        </p:txBody>
      </p:sp>
      <p:sp>
        <p:nvSpPr>
          <p:cNvPr id="8" name="TextBox 8"/>
          <p:cNvSpPr txBox="1"/>
          <p:nvPr/>
        </p:nvSpPr>
        <p:spPr>
          <a:xfrm>
            <a:off x="22696" y="9947275"/>
            <a:ext cx="2110904" cy="346249"/>
          </a:xfrm>
          <a:prstGeom prst="rect">
            <a:avLst/>
          </a:prstGeom>
        </p:spPr>
        <p:txBody>
          <a:bodyPr wrap="square" lIns="0" tIns="0" rIns="0" bIns="0" rtlCol="0" anchor="t">
            <a:spAutoFit/>
          </a:bodyPr>
          <a:lstStyle/>
          <a:p>
            <a:pPr marL="0" lvl="0" indent="0" algn="ctr">
              <a:lnSpc>
                <a:spcPts val="2800"/>
              </a:lnSpc>
              <a:spcBef>
                <a:spcPct val="0"/>
              </a:spcBef>
            </a:pPr>
            <a:r>
              <a:rPr lang="en-US" sz="2000" u="none" strike="noStrike" dirty="0">
                <a:solidFill>
                  <a:srgbClr val="000000"/>
                </a:solidFill>
                <a:latin typeface="Garet"/>
                <a:ea typeface="Garet"/>
                <a:cs typeface="Garet"/>
                <a:sym typeface="Garet"/>
              </a:rPr>
              <a:t>ADDED CLOSET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333" b="-9333"/>
            </a:stretch>
          </a:blipFill>
        </p:spPr>
        <p:txBody>
          <a:bodyPr/>
          <a:lstStyle/>
          <a:p>
            <a:endParaRPr lang="he-IL"/>
          </a:p>
        </p:txBody>
      </p:sp>
      <p:sp>
        <p:nvSpPr>
          <p:cNvPr id="3" name="Freeform 3"/>
          <p:cNvSpPr/>
          <p:nvPr/>
        </p:nvSpPr>
        <p:spPr>
          <a:xfrm>
            <a:off x="489292" y="1765464"/>
            <a:ext cx="6289425" cy="4118360"/>
          </a:xfrm>
          <a:custGeom>
            <a:avLst/>
            <a:gdLst/>
            <a:ahLst/>
            <a:cxnLst/>
            <a:rect l="l" t="t" r="r" b="b"/>
            <a:pathLst>
              <a:path w="6289425" h="4118360">
                <a:moveTo>
                  <a:pt x="0" y="0"/>
                </a:moveTo>
                <a:lnTo>
                  <a:pt x="6289425" y="0"/>
                </a:lnTo>
                <a:lnTo>
                  <a:pt x="6289425" y="4118360"/>
                </a:lnTo>
                <a:lnTo>
                  <a:pt x="0" y="4118360"/>
                </a:lnTo>
                <a:lnTo>
                  <a:pt x="0" y="0"/>
                </a:lnTo>
                <a:close/>
              </a:path>
            </a:pathLst>
          </a:custGeom>
          <a:blipFill>
            <a:blip r:embed="rId4"/>
            <a:stretch>
              <a:fillRect t="-873" b="-873"/>
            </a:stretch>
          </a:blipFill>
        </p:spPr>
        <p:txBody>
          <a:bodyPr/>
          <a:lstStyle/>
          <a:p>
            <a:endParaRPr lang="he-IL"/>
          </a:p>
        </p:txBody>
      </p:sp>
      <p:sp>
        <p:nvSpPr>
          <p:cNvPr id="4" name="Freeform 4"/>
          <p:cNvSpPr/>
          <p:nvPr/>
        </p:nvSpPr>
        <p:spPr>
          <a:xfrm>
            <a:off x="11617306" y="1765464"/>
            <a:ext cx="6181403" cy="4118360"/>
          </a:xfrm>
          <a:custGeom>
            <a:avLst/>
            <a:gdLst/>
            <a:ahLst/>
            <a:cxnLst/>
            <a:rect l="l" t="t" r="r" b="b"/>
            <a:pathLst>
              <a:path w="6181403" h="4118360">
                <a:moveTo>
                  <a:pt x="0" y="0"/>
                </a:moveTo>
                <a:lnTo>
                  <a:pt x="6181402" y="0"/>
                </a:lnTo>
                <a:lnTo>
                  <a:pt x="6181402" y="4118360"/>
                </a:lnTo>
                <a:lnTo>
                  <a:pt x="0" y="4118360"/>
                </a:lnTo>
                <a:lnTo>
                  <a:pt x="0" y="0"/>
                </a:lnTo>
                <a:close/>
              </a:path>
            </a:pathLst>
          </a:custGeom>
          <a:blipFill>
            <a:blip r:embed="rId5"/>
            <a:stretch>
              <a:fillRect/>
            </a:stretch>
          </a:blipFill>
        </p:spPr>
        <p:txBody>
          <a:bodyPr/>
          <a:lstStyle/>
          <a:p>
            <a:endParaRPr lang="he-IL"/>
          </a:p>
        </p:txBody>
      </p:sp>
      <p:sp>
        <p:nvSpPr>
          <p:cNvPr id="5" name="Freeform 5"/>
          <p:cNvSpPr/>
          <p:nvPr/>
        </p:nvSpPr>
        <p:spPr>
          <a:xfrm>
            <a:off x="7053673" y="4973099"/>
            <a:ext cx="4287408" cy="3574627"/>
          </a:xfrm>
          <a:custGeom>
            <a:avLst/>
            <a:gdLst/>
            <a:ahLst/>
            <a:cxnLst/>
            <a:rect l="l" t="t" r="r" b="b"/>
            <a:pathLst>
              <a:path w="4287408" h="3574627">
                <a:moveTo>
                  <a:pt x="0" y="0"/>
                </a:moveTo>
                <a:lnTo>
                  <a:pt x="4287408" y="0"/>
                </a:lnTo>
                <a:lnTo>
                  <a:pt x="4287408" y="3574626"/>
                </a:lnTo>
                <a:lnTo>
                  <a:pt x="0" y="3574626"/>
                </a:lnTo>
                <a:lnTo>
                  <a:pt x="0" y="0"/>
                </a:lnTo>
                <a:close/>
              </a:path>
            </a:pathLst>
          </a:custGeom>
          <a:blipFill>
            <a:blip r:embed="rId6"/>
            <a:stretch>
              <a:fillRect/>
            </a:stretch>
          </a:blipFill>
        </p:spPr>
        <p:txBody>
          <a:bodyPr/>
          <a:lstStyle/>
          <a:p>
            <a:endParaRPr lang="he-IL"/>
          </a:p>
        </p:txBody>
      </p:sp>
      <p:sp>
        <p:nvSpPr>
          <p:cNvPr id="6" name="TextBox 6"/>
          <p:cNvSpPr txBox="1"/>
          <p:nvPr/>
        </p:nvSpPr>
        <p:spPr>
          <a:xfrm>
            <a:off x="7876387" y="725055"/>
            <a:ext cx="3090848" cy="1040409"/>
          </a:xfrm>
          <a:prstGeom prst="rect">
            <a:avLst/>
          </a:prstGeom>
        </p:spPr>
        <p:txBody>
          <a:bodyPr lIns="0" tIns="0" rIns="0" bIns="0" rtlCol="0" anchor="t">
            <a:spAutoFit/>
          </a:bodyPr>
          <a:lstStyle/>
          <a:p>
            <a:pPr marL="0" lvl="0" indent="0" algn="l">
              <a:lnSpc>
                <a:spcPts val="8597"/>
              </a:lnSpc>
              <a:spcBef>
                <a:spcPct val="0"/>
              </a:spcBef>
            </a:pPr>
            <a:r>
              <a:rPr lang="en-US" sz="6140" b="1">
                <a:solidFill>
                  <a:srgbClr val="000000"/>
                </a:solidFill>
                <a:latin typeface="Garet Bold"/>
                <a:ea typeface="Garet Bold"/>
                <a:cs typeface="Garet Bold"/>
                <a:sym typeface="Garet Bold"/>
              </a:rPr>
              <a:t>Results</a:t>
            </a:r>
          </a:p>
        </p:txBody>
      </p:sp>
      <p:sp>
        <p:nvSpPr>
          <p:cNvPr id="7" name="TextBox 7"/>
          <p:cNvSpPr txBox="1"/>
          <p:nvPr/>
        </p:nvSpPr>
        <p:spPr>
          <a:xfrm>
            <a:off x="717116" y="6265580"/>
            <a:ext cx="5833776" cy="717022"/>
          </a:xfrm>
          <a:prstGeom prst="rect">
            <a:avLst/>
          </a:prstGeom>
        </p:spPr>
        <p:txBody>
          <a:bodyPr lIns="0" tIns="0" rIns="0" bIns="0" rtlCol="0" anchor="t">
            <a:spAutoFit/>
          </a:bodyPr>
          <a:lstStyle/>
          <a:p>
            <a:pPr algn="ctr">
              <a:lnSpc>
                <a:spcPts val="2865"/>
              </a:lnSpc>
              <a:spcBef>
                <a:spcPct val="0"/>
              </a:spcBef>
            </a:pPr>
            <a:r>
              <a:rPr lang="en-US" sz="2046">
                <a:solidFill>
                  <a:srgbClr val="000000"/>
                </a:solidFill>
                <a:latin typeface="Garet"/>
                <a:ea typeface="Garet"/>
                <a:cs typeface="Garet"/>
                <a:sym typeface="Garet"/>
              </a:rPr>
              <a:t>THRESHOLD = 0.3 SELECTED FOR F1 SCORE OF 0.81  </a:t>
            </a:r>
          </a:p>
        </p:txBody>
      </p:sp>
      <p:sp>
        <p:nvSpPr>
          <p:cNvPr id="8" name="TextBox 8"/>
          <p:cNvSpPr txBox="1"/>
          <p:nvPr/>
        </p:nvSpPr>
        <p:spPr>
          <a:xfrm>
            <a:off x="11777724" y="6265580"/>
            <a:ext cx="5410428" cy="717022"/>
          </a:xfrm>
          <a:prstGeom prst="rect">
            <a:avLst/>
          </a:prstGeom>
        </p:spPr>
        <p:txBody>
          <a:bodyPr lIns="0" tIns="0" rIns="0" bIns="0" rtlCol="0" anchor="t">
            <a:spAutoFit/>
          </a:bodyPr>
          <a:lstStyle/>
          <a:p>
            <a:pPr algn="ctr">
              <a:lnSpc>
                <a:spcPts val="2865"/>
              </a:lnSpc>
              <a:spcBef>
                <a:spcPct val="0"/>
              </a:spcBef>
            </a:pPr>
            <a:r>
              <a:rPr lang="en-US" sz="2046">
                <a:solidFill>
                  <a:srgbClr val="000000"/>
                </a:solidFill>
                <a:latin typeface="Garet"/>
                <a:ea typeface="Garet"/>
                <a:cs typeface="Garet"/>
                <a:sym typeface="Garet"/>
              </a:rPr>
              <a:t>HIGH-CONFIDENCE PREDICTIONS ARE RELIABLE</a:t>
            </a:r>
          </a:p>
        </p:txBody>
      </p:sp>
      <p:sp>
        <p:nvSpPr>
          <p:cNvPr id="9" name="TextBox 9"/>
          <p:cNvSpPr txBox="1"/>
          <p:nvPr/>
        </p:nvSpPr>
        <p:spPr>
          <a:xfrm>
            <a:off x="5635357" y="8730622"/>
            <a:ext cx="7010343" cy="717022"/>
          </a:xfrm>
          <a:prstGeom prst="rect">
            <a:avLst/>
          </a:prstGeom>
        </p:spPr>
        <p:txBody>
          <a:bodyPr lIns="0" tIns="0" rIns="0" bIns="0" rtlCol="0" anchor="t">
            <a:spAutoFit/>
          </a:bodyPr>
          <a:lstStyle/>
          <a:p>
            <a:pPr algn="ctr">
              <a:lnSpc>
                <a:spcPts val="2865"/>
              </a:lnSpc>
              <a:spcBef>
                <a:spcPct val="0"/>
              </a:spcBef>
            </a:pPr>
            <a:r>
              <a:rPr lang="en-US" sz="2046">
                <a:solidFill>
                  <a:srgbClr val="000000"/>
                </a:solidFill>
                <a:latin typeface="Garet"/>
                <a:ea typeface="Garet"/>
                <a:cs typeface="Garet"/>
                <a:sym typeface="Garet"/>
              </a:rPr>
              <a:t>HELPS ANALYZE FALSE POSITIVES AND FALSE NEGATIVES.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333" b="-9333"/>
            </a:stretch>
          </a:blipFill>
        </p:spPr>
        <p:txBody>
          <a:bodyPr/>
          <a:lstStyle/>
          <a:p>
            <a:endParaRPr lang="he-IL"/>
          </a:p>
        </p:txBody>
      </p:sp>
      <p:sp>
        <p:nvSpPr>
          <p:cNvPr id="3" name="AutoShape 3"/>
          <p:cNvSpPr/>
          <p:nvPr/>
        </p:nvSpPr>
        <p:spPr>
          <a:xfrm>
            <a:off x="-758305" y="1369513"/>
            <a:ext cx="19804610" cy="0"/>
          </a:xfrm>
          <a:prstGeom prst="line">
            <a:avLst/>
          </a:prstGeom>
          <a:ln w="19050" cap="flat">
            <a:solidFill>
              <a:srgbClr val="A6A6A6"/>
            </a:solidFill>
            <a:prstDash val="solid"/>
            <a:headEnd type="none" w="sm" len="sm"/>
            <a:tailEnd type="none" w="sm" len="sm"/>
          </a:ln>
        </p:spPr>
        <p:txBody>
          <a:bodyPr/>
          <a:lstStyle/>
          <a:p>
            <a:endParaRPr lang="he-IL"/>
          </a:p>
        </p:txBody>
      </p:sp>
      <p:grpSp>
        <p:nvGrpSpPr>
          <p:cNvPr id="4" name="Group 4"/>
          <p:cNvGrpSpPr/>
          <p:nvPr/>
        </p:nvGrpSpPr>
        <p:grpSpPr>
          <a:xfrm>
            <a:off x="17165093" y="-866775"/>
            <a:ext cx="2245813" cy="2245813"/>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A6A6A6"/>
              </a:solidFill>
              <a:prstDash val="solid"/>
              <a:miter/>
            </a:ln>
          </p:spPr>
          <p:txBody>
            <a:bodyPr/>
            <a:lstStyle/>
            <a:p>
              <a:endParaRPr lang="he-IL"/>
            </a:p>
          </p:txBody>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800"/>
                </a:lnSpc>
              </a:pPr>
              <a:endParaRPr/>
            </a:p>
          </p:txBody>
        </p:sp>
      </p:grpSp>
      <p:sp>
        <p:nvSpPr>
          <p:cNvPr id="7" name="TextBox 7"/>
          <p:cNvSpPr txBox="1"/>
          <p:nvPr/>
        </p:nvSpPr>
        <p:spPr>
          <a:xfrm>
            <a:off x="6829834" y="1474517"/>
            <a:ext cx="4628332" cy="1009651"/>
          </a:xfrm>
          <a:prstGeom prst="rect">
            <a:avLst/>
          </a:prstGeom>
        </p:spPr>
        <p:txBody>
          <a:bodyPr lIns="0" tIns="0" rIns="0" bIns="0" rtlCol="0" anchor="t">
            <a:spAutoFit/>
          </a:bodyPr>
          <a:lstStyle/>
          <a:p>
            <a:pPr marL="0" lvl="0" indent="0" algn="l">
              <a:lnSpc>
                <a:spcPts val="8399"/>
              </a:lnSpc>
              <a:spcBef>
                <a:spcPct val="0"/>
              </a:spcBef>
            </a:pPr>
            <a:r>
              <a:rPr lang="en-US" sz="5999" b="1">
                <a:solidFill>
                  <a:srgbClr val="000000"/>
                </a:solidFill>
                <a:latin typeface="Garet Bold"/>
                <a:ea typeface="Garet Bold"/>
                <a:cs typeface="Garet Bold"/>
                <a:sym typeface="Garet Bold"/>
              </a:rPr>
              <a:t>Conclusion</a:t>
            </a:r>
          </a:p>
        </p:txBody>
      </p:sp>
      <p:sp>
        <p:nvSpPr>
          <p:cNvPr id="8" name="TextBox 8"/>
          <p:cNvSpPr txBox="1"/>
          <p:nvPr/>
        </p:nvSpPr>
        <p:spPr>
          <a:xfrm>
            <a:off x="1712376" y="2795857"/>
            <a:ext cx="1945224" cy="419346"/>
          </a:xfrm>
          <a:prstGeom prst="rect">
            <a:avLst/>
          </a:prstGeom>
        </p:spPr>
        <p:txBody>
          <a:bodyPr wrap="square" lIns="0" tIns="0" rIns="0" bIns="0" rtlCol="0" anchor="t">
            <a:spAutoFit/>
          </a:bodyPr>
          <a:lstStyle/>
          <a:p>
            <a:pPr marL="0" lvl="0" indent="0" algn="ctr">
              <a:lnSpc>
                <a:spcPts val="3359"/>
              </a:lnSpc>
              <a:spcBef>
                <a:spcPct val="0"/>
              </a:spcBef>
            </a:pPr>
            <a:r>
              <a:rPr lang="en-US" sz="2399" b="1" u="none" strike="noStrike" dirty="0">
                <a:solidFill>
                  <a:srgbClr val="000000"/>
                </a:solidFill>
                <a:latin typeface="Garet Bold"/>
                <a:ea typeface="Garet Bold"/>
                <a:cs typeface="Garet Bold"/>
                <a:sym typeface="Garet Bold"/>
              </a:rPr>
              <a:t>SUMMARY:</a:t>
            </a:r>
          </a:p>
        </p:txBody>
      </p:sp>
      <p:pic>
        <p:nvPicPr>
          <p:cNvPr id="9" name="Picture 9"/>
          <p:cNvPicPr>
            <a:picLocks noChangeAspect="1"/>
          </p:cNvPicPr>
          <p:nvPr/>
        </p:nvPicPr>
        <p:blipFill>
          <a:blip r:embed="rId4"/>
          <a:stretch>
            <a:fillRect/>
          </a:stretch>
        </p:blipFill>
        <p:spPr>
          <a:xfrm>
            <a:off x="1095426" y="2791050"/>
            <a:ext cx="416401" cy="389977"/>
          </a:xfrm>
          <a:prstGeom prst="rect">
            <a:avLst/>
          </a:prstGeom>
        </p:spPr>
      </p:pic>
      <p:sp>
        <p:nvSpPr>
          <p:cNvPr id="10" name="TextBox 10"/>
          <p:cNvSpPr txBox="1"/>
          <p:nvPr/>
        </p:nvSpPr>
        <p:spPr>
          <a:xfrm>
            <a:off x="1130126" y="3373072"/>
            <a:ext cx="7155535" cy="2473325"/>
          </a:xfrm>
          <a:prstGeom prst="rect">
            <a:avLst/>
          </a:prstGeom>
        </p:spPr>
        <p:txBody>
          <a:bodyPr lIns="0" tIns="0" rIns="0" bIns="0" rtlCol="0" anchor="t">
            <a:spAutoFit/>
          </a:bodyPr>
          <a:lstStyle/>
          <a:p>
            <a:pPr marL="431801" lvl="1" indent="-215900" algn="l">
              <a:lnSpc>
                <a:spcPts val="4000"/>
              </a:lnSpc>
              <a:spcBef>
                <a:spcPct val="0"/>
              </a:spcBef>
              <a:buFont typeface="Arial"/>
              <a:buChar char="•"/>
            </a:pPr>
            <a:r>
              <a:rPr lang="en-US" sz="2000">
                <a:solidFill>
                  <a:srgbClr val="000000"/>
                </a:solidFill>
                <a:latin typeface="Garet"/>
                <a:ea typeface="Garet"/>
                <a:cs typeface="Garet"/>
                <a:sym typeface="Garet"/>
              </a:rPr>
              <a:t>D</a:t>
            </a:r>
            <a:r>
              <a:rPr lang="en-US" sz="2000" u="none" strike="noStrike">
                <a:solidFill>
                  <a:srgbClr val="000000"/>
                </a:solidFill>
                <a:latin typeface="Garet"/>
                <a:ea typeface="Garet"/>
                <a:cs typeface="Garet"/>
                <a:sym typeface="Garet"/>
              </a:rPr>
              <a:t>etected meaningful changes in floor plan images</a:t>
            </a:r>
          </a:p>
          <a:p>
            <a:pPr marL="431801" lvl="1" indent="-215900" algn="l">
              <a:lnSpc>
                <a:spcPts val="4000"/>
              </a:lnSpc>
              <a:spcBef>
                <a:spcPct val="0"/>
              </a:spcBef>
              <a:buFont typeface="Arial"/>
              <a:buChar char="•"/>
            </a:pPr>
            <a:r>
              <a:rPr lang="en-US" sz="2000" u="none" strike="noStrike">
                <a:solidFill>
                  <a:srgbClr val="000000"/>
                </a:solidFill>
                <a:latin typeface="Garet"/>
                <a:ea typeface="Garet"/>
                <a:cs typeface="Garet"/>
                <a:sym typeface="Garet"/>
              </a:rPr>
              <a:t>Created a novel synthetic dataset where none previously existed</a:t>
            </a:r>
          </a:p>
          <a:p>
            <a:pPr marL="431801" lvl="1" indent="-215900" algn="l">
              <a:lnSpc>
                <a:spcPts val="4000"/>
              </a:lnSpc>
              <a:spcBef>
                <a:spcPct val="0"/>
              </a:spcBef>
              <a:buFont typeface="Arial"/>
              <a:buChar char="•"/>
            </a:pPr>
            <a:r>
              <a:rPr lang="en-US" sz="2000" u="none" strike="noStrike">
                <a:solidFill>
                  <a:srgbClr val="000000"/>
                </a:solidFill>
                <a:latin typeface="Garet"/>
                <a:ea typeface="Garet"/>
                <a:cs typeface="Garet"/>
                <a:sym typeface="Garet"/>
              </a:rPr>
              <a:t>Built a large labeled before/after image set</a:t>
            </a:r>
          </a:p>
          <a:p>
            <a:pPr algn="l">
              <a:lnSpc>
                <a:spcPts val="4000"/>
              </a:lnSpc>
              <a:spcBef>
                <a:spcPct val="0"/>
              </a:spcBef>
            </a:pPr>
            <a:endParaRPr lang="en-US" sz="2000" u="none" strike="noStrike">
              <a:solidFill>
                <a:srgbClr val="000000"/>
              </a:solidFill>
              <a:latin typeface="Garet"/>
              <a:ea typeface="Garet"/>
              <a:cs typeface="Garet"/>
              <a:sym typeface="Garet"/>
            </a:endParaRPr>
          </a:p>
        </p:txBody>
      </p:sp>
      <p:sp>
        <p:nvSpPr>
          <p:cNvPr id="11" name="TextBox 11"/>
          <p:cNvSpPr txBox="1"/>
          <p:nvPr/>
        </p:nvSpPr>
        <p:spPr>
          <a:xfrm>
            <a:off x="10180352" y="3904909"/>
            <a:ext cx="2468847" cy="419346"/>
          </a:xfrm>
          <a:prstGeom prst="rect">
            <a:avLst/>
          </a:prstGeom>
        </p:spPr>
        <p:txBody>
          <a:bodyPr wrap="square" lIns="0" tIns="0" rIns="0" bIns="0" rtlCol="0" anchor="t">
            <a:spAutoFit/>
          </a:bodyPr>
          <a:lstStyle/>
          <a:p>
            <a:pPr marL="0" lvl="0" indent="0" algn="ctr">
              <a:lnSpc>
                <a:spcPts val="3359"/>
              </a:lnSpc>
              <a:spcBef>
                <a:spcPct val="0"/>
              </a:spcBef>
            </a:pPr>
            <a:r>
              <a:rPr lang="en-US" sz="2399" b="1" u="none" strike="noStrike" dirty="0">
                <a:solidFill>
                  <a:srgbClr val="000000"/>
                </a:solidFill>
                <a:latin typeface="Garet Bold"/>
                <a:ea typeface="Garet Bold"/>
                <a:cs typeface="Garet Bold"/>
                <a:sym typeface="Garet Bold"/>
              </a:rPr>
              <a:t>KEY INSIGHTS:</a:t>
            </a:r>
          </a:p>
        </p:txBody>
      </p:sp>
      <p:pic>
        <p:nvPicPr>
          <p:cNvPr id="12" name="Picture 12"/>
          <p:cNvPicPr>
            <a:picLocks noChangeAspect="1"/>
          </p:cNvPicPr>
          <p:nvPr/>
        </p:nvPicPr>
        <p:blipFill>
          <a:blip r:embed="rId5"/>
          <a:stretch>
            <a:fillRect/>
          </a:stretch>
        </p:blipFill>
        <p:spPr>
          <a:xfrm>
            <a:off x="9563403" y="3908309"/>
            <a:ext cx="416401" cy="389977"/>
          </a:xfrm>
          <a:prstGeom prst="rect">
            <a:avLst/>
          </a:prstGeom>
        </p:spPr>
      </p:pic>
      <p:sp>
        <p:nvSpPr>
          <p:cNvPr id="13" name="TextBox 13"/>
          <p:cNvSpPr txBox="1"/>
          <p:nvPr/>
        </p:nvSpPr>
        <p:spPr>
          <a:xfrm>
            <a:off x="9596875" y="4387827"/>
            <a:ext cx="7319525" cy="3026470"/>
          </a:xfrm>
          <a:prstGeom prst="rect">
            <a:avLst/>
          </a:prstGeom>
        </p:spPr>
        <p:txBody>
          <a:bodyPr wrap="square" lIns="0" tIns="0" rIns="0" bIns="0" rtlCol="0" anchor="t">
            <a:spAutoFit/>
          </a:bodyPr>
          <a:lstStyle/>
          <a:p>
            <a:pPr marL="431801" lvl="1" indent="-215900" algn="l">
              <a:lnSpc>
                <a:spcPts val="4000"/>
              </a:lnSpc>
              <a:spcBef>
                <a:spcPct val="0"/>
              </a:spcBef>
              <a:buFont typeface="Arial"/>
              <a:buChar char="•"/>
            </a:pPr>
            <a:r>
              <a:rPr lang="en-US" sz="2000" u="none" strike="noStrike" dirty="0">
                <a:solidFill>
                  <a:srgbClr val="000000"/>
                </a:solidFill>
                <a:latin typeface="Garet"/>
                <a:ea typeface="Garet"/>
                <a:cs typeface="Garet"/>
                <a:sym typeface="Garet"/>
              </a:rPr>
              <a:t>Data quality and change definition are more critical than model complexity</a:t>
            </a:r>
          </a:p>
          <a:p>
            <a:pPr marL="431801" lvl="1" indent="-215900" algn="l">
              <a:lnSpc>
                <a:spcPts val="4000"/>
              </a:lnSpc>
              <a:spcBef>
                <a:spcPct val="0"/>
              </a:spcBef>
              <a:buFont typeface="Arial"/>
              <a:buChar char="•"/>
            </a:pPr>
            <a:r>
              <a:rPr lang="en-US" sz="2000" u="none" strike="noStrike" dirty="0">
                <a:solidFill>
                  <a:srgbClr val="000000"/>
                </a:solidFill>
                <a:latin typeface="Garet"/>
                <a:ea typeface="Garet"/>
                <a:cs typeface="Garet"/>
                <a:sym typeface="Garet"/>
              </a:rPr>
              <a:t>Different models perform better for different change types</a:t>
            </a:r>
          </a:p>
          <a:p>
            <a:pPr marL="431801" lvl="1" indent="-215900" algn="l">
              <a:lnSpc>
                <a:spcPts val="4000"/>
              </a:lnSpc>
              <a:spcBef>
                <a:spcPct val="0"/>
              </a:spcBef>
              <a:buFont typeface="Arial"/>
              <a:buChar char="•"/>
            </a:pPr>
            <a:r>
              <a:rPr lang="en-US" sz="2000" u="none" strike="noStrike" dirty="0">
                <a:solidFill>
                  <a:srgbClr val="000000"/>
                </a:solidFill>
                <a:latin typeface="Garet"/>
                <a:ea typeface="Garet"/>
                <a:cs typeface="Garet"/>
                <a:sym typeface="Garet"/>
              </a:rPr>
              <a:t>Threshold selection has a strong impact on practical performance</a:t>
            </a:r>
          </a:p>
        </p:txBody>
      </p:sp>
      <p:sp>
        <p:nvSpPr>
          <p:cNvPr id="14" name="TextBox 14"/>
          <p:cNvSpPr txBox="1"/>
          <p:nvPr/>
        </p:nvSpPr>
        <p:spPr>
          <a:xfrm>
            <a:off x="1672341" y="6370272"/>
            <a:ext cx="2442459" cy="419346"/>
          </a:xfrm>
          <a:prstGeom prst="rect">
            <a:avLst/>
          </a:prstGeom>
        </p:spPr>
        <p:txBody>
          <a:bodyPr wrap="square" lIns="0" tIns="0" rIns="0" bIns="0" rtlCol="0" anchor="t">
            <a:spAutoFit/>
          </a:bodyPr>
          <a:lstStyle/>
          <a:p>
            <a:pPr marL="0" lvl="0" indent="0" algn="ctr">
              <a:lnSpc>
                <a:spcPts val="3359"/>
              </a:lnSpc>
              <a:spcBef>
                <a:spcPct val="0"/>
              </a:spcBef>
            </a:pPr>
            <a:r>
              <a:rPr lang="en-US" sz="2399" b="1" u="none" strike="noStrike" dirty="0">
                <a:solidFill>
                  <a:srgbClr val="000000"/>
                </a:solidFill>
                <a:latin typeface="Garet Bold"/>
                <a:ea typeface="Garet Bold"/>
                <a:cs typeface="Garet Bold"/>
                <a:sym typeface="Garet Bold"/>
              </a:rPr>
              <a:t>FUTURE WORK:</a:t>
            </a:r>
          </a:p>
        </p:txBody>
      </p:sp>
      <p:pic>
        <p:nvPicPr>
          <p:cNvPr id="15" name="Picture 15"/>
          <p:cNvPicPr>
            <a:picLocks noChangeAspect="1"/>
          </p:cNvPicPr>
          <p:nvPr/>
        </p:nvPicPr>
        <p:blipFill>
          <a:blip r:embed="rId6"/>
          <a:stretch>
            <a:fillRect/>
          </a:stretch>
        </p:blipFill>
        <p:spPr>
          <a:xfrm>
            <a:off x="1095426" y="6364147"/>
            <a:ext cx="416401" cy="389977"/>
          </a:xfrm>
          <a:prstGeom prst="rect">
            <a:avLst/>
          </a:prstGeom>
        </p:spPr>
      </p:pic>
      <p:sp>
        <p:nvSpPr>
          <p:cNvPr id="16" name="TextBox 16"/>
          <p:cNvSpPr txBox="1"/>
          <p:nvPr/>
        </p:nvSpPr>
        <p:spPr>
          <a:xfrm>
            <a:off x="1130126" y="6957012"/>
            <a:ext cx="6661678" cy="1968500"/>
          </a:xfrm>
          <a:prstGeom prst="rect">
            <a:avLst/>
          </a:prstGeom>
        </p:spPr>
        <p:txBody>
          <a:bodyPr lIns="0" tIns="0" rIns="0" bIns="0" rtlCol="0" anchor="t">
            <a:spAutoFit/>
          </a:bodyPr>
          <a:lstStyle/>
          <a:p>
            <a:pPr marL="431801" lvl="1" indent="-215900" algn="l">
              <a:lnSpc>
                <a:spcPts val="4000"/>
              </a:lnSpc>
              <a:spcBef>
                <a:spcPct val="0"/>
              </a:spcBef>
              <a:buFont typeface="Arial"/>
              <a:buChar char="•"/>
            </a:pPr>
            <a:r>
              <a:rPr lang="en-US" sz="2000" u="none" strike="noStrike">
                <a:solidFill>
                  <a:srgbClr val="000000"/>
                </a:solidFill>
                <a:latin typeface="Garet"/>
                <a:ea typeface="Garet"/>
                <a:cs typeface="Garet"/>
                <a:sym typeface="Garet"/>
              </a:rPr>
              <a:t>Expand and refine change types and scenario complexity</a:t>
            </a:r>
          </a:p>
          <a:p>
            <a:pPr marL="431801" lvl="1" indent="-215900" algn="l">
              <a:lnSpc>
                <a:spcPts val="4000"/>
              </a:lnSpc>
              <a:spcBef>
                <a:spcPct val="0"/>
              </a:spcBef>
              <a:buFont typeface="Arial"/>
              <a:buChar char="•"/>
            </a:pPr>
            <a:r>
              <a:rPr lang="en-US" sz="2000" u="none" strike="noStrike">
                <a:solidFill>
                  <a:srgbClr val="000000"/>
                </a:solidFill>
                <a:latin typeface="Garet"/>
                <a:ea typeface="Garet"/>
                <a:cs typeface="Garet"/>
                <a:sym typeface="Garet"/>
              </a:rPr>
              <a:t>Combine synthetic and real-world data</a:t>
            </a:r>
          </a:p>
          <a:p>
            <a:pPr marL="431801" lvl="1" indent="-215900" algn="l">
              <a:lnSpc>
                <a:spcPts val="4000"/>
              </a:lnSpc>
              <a:spcBef>
                <a:spcPct val="0"/>
              </a:spcBef>
              <a:buFont typeface="Arial"/>
              <a:buChar char="•"/>
            </a:pPr>
            <a:r>
              <a:rPr lang="en-US" sz="2000" u="none" strike="noStrike">
                <a:solidFill>
                  <a:srgbClr val="000000"/>
                </a:solidFill>
                <a:latin typeface="Garet"/>
                <a:ea typeface="Garet"/>
                <a:cs typeface="Garet"/>
                <a:sym typeface="Garet"/>
              </a:rPr>
              <a:t>Use confidence to flag uncertain cases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1677</Words>
  <Application>Microsoft Office PowerPoint</Application>
  <PresentationFormat>מותאם אישית</PresentationFormat>
  <Paragraphs>228</Paragraphs>
  <Slides>13</Slides>
  <Notes>13</Notes>
  <HiddenSlides>0</HiddenSlides>
  <MMClips>0</MMClips>
  <ScaleCrop>false</ScaleCrop>
  <HeadingPairs>
    <vt:vector size="6" baseType="variant">
      <vt:variant>
        <vt:lpstr>גופנים בשימוש</vt:lpstr>
      </vt:variant>
      <vt:variant>
        <vt:i4>4</vt:i4>
      </vt:variant>
      <vt:variant>
        <vt:lpstr>ערכת נושא</vt:lpstr>
      </vt:variant>
      <vt:variant>
        <vt:i4>1</vt:i4>
      </vt:variant>
      <vt:variant>
        <vt:lpstr>כותרות שקופיות</vt:lpstr>
      </vt:variant>
      <vt:variant>
        <vt:i4>13</vt:i4>
      </vt:variant>
    </vt:vector>
  </HeadingPairs>
  <TitlesOfParts>
    <vt:vector size="18" baseType="lpstr">
      <vt:lpstr>Calibri</vt:lpstr>
      <vt:lpstr>Arial</vt:lpstr>
      <vt:lpstr>Garet</vt:lpstr>
      <vt:lpstr>Garet Bold</vt:lpstr>
      <vt:lpstr>Office Theme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Built-in Final Report</dc:title>
  <cp:lastModifiedBy>Adi Haim</cp:lastModifiedBy>
  <cp:revision>4</cp:revision>
  <dcterms:created xsi:type="dcterms:W3CDTF">2006-08-16T00:00:00Z</dcterms:created>
  <dcterms:modified xsi:type="dcterms:W3CDTF">2026-01-20T20:45:36Z</dcterms:modified>
  <dc:identifier>DAG-SiZ4Hws</dc:identifier>
</cp:coreProperties>
</file>