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Garet" panose="020B0604020202020204" charset="0"/>
      <p:regular r:id="rId14"/>
    </p:embeddedFont>
    <p:embeddedFont>
      <p:font typeface="Garet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7" d="100"/>
          <a:sy n="67" d="100"/>
        </p:scale>
        <p:origin x="95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בשקופית הזו אנחנו מציגים סקירה כללית של הפרויקט – המוטיבציה, המשימה, והתרומה המרכזית.</a:t>
            </a:r>
          </a:p>
          <a:p>
            <a:endParaRPr lang="en-US"/>
          </a:p>
          <a:p>
            <a:r>
              <a:rPr lang="en-US"/>
              <a:t>המוטיבציה לפרויקט נובעת מהקושי של רוכשי דירות להשוות בין גרסאות שונות של אותה תוכנית.</a:t>
            </a:r>
          </a:p>
          <a:p>
            <a:r>
              <a:rPr lang="en-US"/>
              <a:t>גם שינויים קטנים בשרטוטים יכולים להיות לא ברורים למשתמשים לא־מקצועיים, ולהוביל לאי־הבנות, סיכונים כלכליים ואף השלכות משפטיות.</a:t>
            </a:r>
          </a:p>
          <a:p>
            <a:endParaRPr lang="en-US"/>
          </a:p>
          <a:p>
            <a:r>
              <a:rPr lang="en-US"/>
              <a:t>המשימה שלנו היא לזהות שינויים מהותיים בתוכן בין שתי גרסאות של אותה תוכנית דירה – לפני ואחרי – בצורה אוטומטית, ולספק אינדיקציה ברורה האם התרחש שינוי משמעותי.</a:t>
            </a:r>
          </a:p>
          <a:p>
            <a:endParaRPr lang="en-US"/>
          </a:p>
          <a:p>
            <a:r>
              <a:rPr lang="en-US"/>
              <a:t>אחד האתגרים המרכזיים בתחום הוא מחסור בדאטא מתאים.</a:t>
            </a:r>
          </a:p>
          <a:p>
            <a:r>
              <a:rPr lang="en-US"/>
              <a:t>לא קיימים דאטאסטים פתוחים שמכילים זוגות של תוכניות זהות עם תיעוד ברור של שינויים מהותיים ולא־מהותיים, במיוחד ברמת האובייקט.</a:t>
            </a:r>
          </a:p>
          <a:p>
            <a:r>
              <a:rPr lang="en-US"/>
              <a:t>כתוצאה מכך, אימון מודלים ללמידת שינויים בין תוכניות הופך למשימה מאתגרת.</a:t>
            </a:r>
          </a:p>
          <a:p>
            <a:endParaRPr lang="en-US"/>
          </a:p>
          <a:p>
            <a:r>
              <a:rPr lang="en-US"/>
              <a:t>כדי להתמודד עם הפער הזה, אנחנו עושים שימוש ב-Generative AI ליצירת דאטא סינתטי.</a:t>
            </a:r>
          </a:p>
          <a:p>
            <a:r>
              <a:rPr lang="en-US"/>
              <a:t>באמצעות שינוי מבוקר של תוכניות קיימות, אנחנו מייצרים זוגות before/after מתויגים, שמאפשרים אימון והערכה של מודל לזיהוי שינויים — גם בהיעדר דאטא אמיתי בהיקף מספק.</a:t>
            </a:r>
          </a:p>
          <a:p>
            <a:endParaRPr lang="en-US"/>
          </a:p>
          <a:p>
            <a:r>
              <a:rPr lang="en-US"/>
              <a:t>מבחינת שינויים מאז הצעת הפרויקט, לא בוצעו שינויים ברעיון המקורי או בהיקף הפרויקט.</a:t>
            </a:r>
          </a:p>
          <a:p>
            <a:endParaRPr lang="en-US"/>
          </a:p>
          <a:p>
            <a:r>
              <a:rPr lang="en-US"/>
              <a:t>החדשנות והתרומה של הפרויקט באות לידי ביטוי בהתמקדות בהשוואת תוכניות מנקודת מבט של הרוכש, בשילוב של ראייה ממוחשבת ובינה מלאכותית גנרטיבית, ובהצעה של פתרון פרקטי לבעיית המחסור בדאטא בתחום השוואת תוכניות דירה.</a:t>
            </a:r>
          </a:p>
          <a:p>
            <a:endParaRPr lang="en-US"/>
          </a:p>
          <a:p>
            <a:r>
              <a:rPr lang="en-US"/>
              <a:t>🧠 משפט סיום </a:t>
            </a:r>
          </a:p>
          <a:p>
            <a:endParaRPr lang="en-US"/>
          </a:p>
          <a:p>
            <a:r>
              <a:rPr lang="en-US"/>
              <a:t>השימוש ב-Generative AI מאפשר לנו לא רק לזהות שינויים, אלא גם לייצר את הדאטא הנדרש כדי ללמוד מהו שינוי מהותי מלכתחילה.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בשקופית הזו אנחנו מציגים סקירה כללית של הפרויקט – המוטיבציה, המשימה, והתרומה המרכזית.</a:t>
            </a:r>
          </a:p>
          <a:p>
            <a:endParaRPr lang="en-US"/>
          </a:p>
          <a:p>
            <a:r>
              <a:rPr lang="en-US"/>
              <a:t>המוטיבציה לפרויקט נובעת מהקושי של רוכשי דירות להשוות בין גרסאות שונות של אותה תוכנית.</a:t>
            </a:r>
          </a:p>
          <a:p>
            <a:r>
              <a:rPr lang="en-US"/>
              <a:t>גם שינויים קטנים בשרטוטים יכולים להיות לא ברורים למשתמשים לא־מקצועיים, ולהוביל לאי־הבנות, סיכונים כלכליים ואף השלכות משפטיות.</a:t>
            </a:r>
          </a:p>
          <a:p>
            <a:endParaRPr lang="en-US"/>
          </a:p>
          <a:p>
            <a:r>
              <a:rPr lang="en-US"/>
              <a:t>המשימה שלנו היא לזהות שינויים מהותיים בתוכן בין שתי גרסאות של אותה תוכנית דירה – לפני ואחרי – בצורה אוטומטית, ולספק אינדיקציה ברורה האם התרחש שינוי משמעותי.</a:t>
            </a:r>
          </a:p>
          <a:p>
            <a:endParaRPr lang="en-US"/>
          </a:p>
          <a:p>
            <a:r>
              <a:rPr lang="en-US"/>
              <a:t>אחד האתגרים המרכזיים בתחום הוא מחסור בדאטא מתאים.</a:t>
            </a:r>
          </a:p>
          <a:p>
            <a:r>
              <a:rPr lang="en-US"/>
              <a:t>לא קיימים דאטאסטים פתוחים שמכילים זוגות של תוכניות זהות עם תיעוד ברור של שינויים מהותיים ולא־מהותיים, במיוחד ברמת האובייקט.</a:t>
            </a:r>
          </a:p>
          <a:p>
            <a:r>
              <a:rPr lang="en-US"/>
              <a:t>כתוצאה מכך, אימון מודלים ללמידת שינויים בין תוכניות הופך למשימה מאתגרת.</a:t>
            </a:r>
          </a:p>
          <a:p>
            <a:endParaRPr lang="en-US"/>
          </a:p>
          <a:p>
            <a:r>
              <a:rPr lang="en-US"/>
              <a:t>כדי להתמודד עם הפער הזה, אנחנו עושים שימוש ב-Generative AI ליצירת דאטא סינתטי.</a:t>
            </a:r>
          </a:p>
          <a:p>
            <a:r>
              <a:rPr lang="en-US"/>
              <a:t>באמצעות שינוי מבוקר של תוכניות קיימות, אנחנו מייצרים זוגות before/after מתויגים, שמאפשרים אימון והערכה של מודל לזיהוי שינויים — גם בהיעדר דאטא אמיתי בהיקף מספק.</a:t>
            </a:r>
          </a:p>
          <a:p>
            <a:endParaRPr lang="en-US"/>
          </a:p>
          <a:p>
            <a:r>
              <a:rPr lang="en-US"/>
              <a:t>מבחינת שינויים מאז הצעת הפרויקט, לא בוצעו שינויים ברעיון המקורי או בהיקף הפרויקט.</a:t>
            </a:r>
          </a:p>
          <a:p>
            <a:endParaRPr lang="en-US"/>
          </a:p>
          <a:p>
            <a:r>
              <a:rPr lang="en-US"/>
              <a:t>החדשנות והתרומה של הפרויקט באות לידי ביטוי בהתמקדות בהשוואת תוכניות מנקודת מבט של הרוכש, בשילוב של ראייה ממוחשבת ובינה מלאכותית גנרטיבית, ובהצעה של פתרון פרקטי לבעיית המחסור בדאטא בתחום השוואת תוכניות דירה.</a:t>
            </a:r>
          </a:p>
          <a:p>
            <a:endParaRPr lang="en-US"/>
          </a:p>
          <a:p>
            <a:r>
              <a:rPr lang="en-US"/>
              <a:t>🧠 משפט סיום </a:t>
            </a:r>
          </a:p>
          <a:p>
            <a:endParaRPr lang="en-US"/>
          </a:p>
          <a:p>
            <a:r>
              <a:rPr lang="en-US"/>
              <a:t>השימוש ב-Generative AI מאפשר לנו לא רק לזהות שינויים, אלא גם לייצר את הדאטא הנדרש כדי ללמוד מהו שינוי מהותי מלכתחילה.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בשקופית הזו אנחנו מציגים סקירה כללית של הפרויקט – המוטיבציה, המשימה, והתרומה המרכזית.</a:t>
            </a:r>
          </a:p>
          <a:p>
            <a:endParaRPr lang="en-US"/>
          </a:p>
          <a:p>
            <a:r>
              <a:rPr lang="en-US"/>
              <a:t>המוטיבציה לפרויקט נובעת מהקושי של רוכשי דירות להשוות בין גרסאות שונות של אותה תוכנית.</a:t>
            </a:r>
          </a:p>
          <a:p>
            <a:r>
              <a:rPr lang="en-US"/>
              <a:t>גם שינויים קטנים בשרטוטים יכולים להיות לא ברורים למשתמשים לא־מקצועיים, ולהוביל לאי־הבנות, סיכונים כלכליים ואף השלכות משפטיות.</a:t>
            </a:r>
          </a:p>
          <a:p>
            <a:endParaRPr lang="en-US"/>
          </a:p>
          <a:p>
            <a:r>
              <a:rPr lang="en-US"/>
              <a:t>המשימה שלנו היא לזהות שינויים מהותיים בתוכן בין שתי גרסאות של אותה תוכנית דירה – לפני ואחרי – בצורה אוטומטית, ולספק אינדיקציה ברורה האם התרחש שינוי משמעותי.</a:t>
            </a:r>
          </a:p>
          <a:p>
            <a:endParaRPr lang="en-US"/>
          </a:p>
          <a:p>
            <a:r>
              <a:rPr lang="en-US"/>
              <a:t>אחד האתגרים המרכזיים בתחום הוא מחסור בדאטא מתאים.</a:t>
            </a:r>
          </a:p>
          <a:p>
            <a:r>
              <a:rPr lang="en-US"/>
              <a:t>לא קיימים דאטאסטים פתוחים שמכילים זוגות של תוכניות זהות עם תיעוד ברור של שינויים מהותיים ולא־מהותיים, במיוחד ברמת האובייקט.</a:t>
            </a:r>
          </a:p>
          <a:p>
            <a:r>
              <a:rPr lang="en-US"/>
              <a:t>כתוצאה מכך, אימון מודלים ללמידת שינויים בין תוכניות הופך למשימה מאתגרת.</a:t>
            </a:r>
          </a:p>
          <a:p>
            <a:endParaRPr lang="en-US"/>
          </a:p>
          <a:p>
            <a:r>
              <a:rPr lang="en-US"/>
              <a:t>כדי להתמודד עם הפער הזה, אנחנו עושים שימוש ב-Generative AI ליצירת דאטא סינתטי.</a:t>
            </a:r>
          </a:p>
          <a:p>
            <a:r>
              <a:rPr lang="en-US"/>
              <a:t>באמצעות שינוי מבוקר של תוכניות קיימות, אנחנו מייצרים זוגות before/after מתויגים, שמאפשרים אימון והערכה של מודל לזיהוי שינויים — גם בהיעדר דאטא אמיתי בהיקף מספק.</a:t>
            </a:r>
          </a:p>
          <a:p>
            <a:endParaRPr lang="en-US"/>
          </a:p>
          <a:p>
            <a:r>
              <a:rPr lang="en-US"/>
              <a:t>מבחינת שינויים מאז הצעת הפרויקט, לא בוצעו שינויים ברעיון המקורי או בהיקף הפרויקט.</a:t>
            </a:r>
          </a:p>
          <a:p>
            <a:endParaRPr lang="en-US"/>
          </a:p>
          <a:p>
            <a:r>
              <a:rPr lang="en-US"/>
              <a:t>החדשנות והתרומה של הפרויקט באות לידי ביטוי בהתמקדות בהשוואת תוכניות מנקודת מבט של הרוכש, בשילוב של ראייה ממוחשבת ובינה מלאכותית גנרטיבית, ובהצעה של פתרון פרקטי לבעיית המחסור בדאטא בתחום השוואת תוכניות דירה.</a:t>
            </a:r>
          </a:p>
          <a:p>
            <a:endParaRPr lang="en-US"/>
          </a:p>
          <a:p>
            <a:r>
              <a:rPr lang="en-US"/>
              <a:t>🧠 משפט סיום </a:t>
            </a:r>
          </a:p>
          <a:p>
            <a:endParaRPr lang="en-US"/>
          </a:p>
          <a:p>
            <a:r>
              <a:rPr lang="en-US"/>
              <a:t>השימוש ב-Generative AI מאפשר לנו לא רק לזהות שינויים, אלא גם לייצר את הדאטא הנדרש כדי ללמוד מהו שינוי מהותי מלכתחילה.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פתיחה – הדאטאסט (10–15 שניות)</a:t>
            </a:r>
          </a:p>
          <a:p>
            <a:endParaRPr lang="en-US"/>
          </a:p>
          <a:p>
            <a:r>
              <a:rPr lang="en-US"/>
              <a:t>את הדאטאסט לקחנו מ־FloorPlansV2.</a:t>
            </a:r>
          </a:p>
          <a:p>
            <a:r>
              <a:rPr lang="en-US"/>
              <a:t>בשלב הראשון ניקינו את הנתונים – הסרנו תוכניות כפולות ותמונות עם רעש או קשקושים.</a:t>
            </a:r>
          </a:p>
          <a:p>
            <a:r>
              <a:rPr lang="en-US"/>
              <a:t>לאחר מכן ביצענו תיוג ידני של האובייקטים באמצעות CVAT וייצאנו את התיוגים בפורמט COCO.</a:t>
            </a:r>
          </a:p>
          <a:p>
            <a:endParaRPr lang="en-US"/>
          </a:p>
          <a:p>
            <a:r>
              <a:rPr lang="en-US"/>
              <a:t>Synthetic Dataset Generation Pipeline – המודלים והטכניקות</a:t>
            </a:r>
          </a:p>
          <a:p>
            <a:endParaRPr lang="en-US"/>
          </a:p>
          <a:p>
            <a:r>
              <a:rPr lang="en-US"/>
              <a:t>לצורך זיהוי האובייקטים בתוכניות השתמשנו במודל DETR, שהוא מודל לזיהוי אובייקטים מבוסס Transformer.</a:t>
            </a:r>
          </a:p>
          <a:p>
            <a:r>
              <a:rPr lang="en-US"/>
              <a:t>היתרון של DETR הוא שהוא מסתכל על כל התמונה בבת אחת ולומד קשרים גלובליים בין אובייקטים, מה שמתאים במיוחד לתוכניות דירה שבהן יש צפיפות גבוהה ומספר משתנה של אובייקטים.</a:t>
            </a:r>
          </a:p>
          <a:p>
            <a:endParaRPr lang="en-US"/>
          </a:p>
          <a:p>
            <a:r>
              <a:rPr lang="en-US"/>
              <a:t>את המודל אימנו על בסיס התיוגים הידניים שיצרנו בפורמט COCO.</a:t>
            </a:r>
          </a:p>
          <a:p>
            <a:endParaRPr lang="en-US"/>
          </a:p>
          <a:p>
            <a:r>
              <a:rPr lang="en-US"/>
              <a:t>לאחר זיהוי האובייקטים, השתמשנו ב־SAM כדי להפיק מסכות מדויקות של האובייקטים, ברמת הפיקסל.</a:t>
            </a:r>
          </a:p>
          <a:p>
            <a:r>
              <a:rPr lang="en-US"/>
              <a:t>המסכות האלו מאפשרות לנו לבצע שינויים נקודתיים ומבוקרים.</a:t>
            </a:r>
          </a:p>
          <a:p>
            <a:endParaRPr lang="en-US"/>
          </a:p>
          <a:p>
            <a:r>
              <a:rPr lang="en-US"/>
              <a:t>לבסוף, השתמשנו ב־Stable Diffusion Inpainting כדי לשנות, להסיר או להחליף אובייקטים בתוכנית, וכך ליצור גרסאות שונות של אותה תוכנית.</a:t>
            </a:r>
          </a:p>
          <a:p>
            <a:endParaRPr lang="en-US"/>
          </a:p>
          <a:p>
            <a:r>
              <a:rPr lang="en-US"/>
              <a:t>באופן הזה נוצר פייפליין שמאפשר לנו לייצר דאטא סינתטי של זוגות תוכניות before/after.</a:t>
            </a:r>
          </a:p>
          <a:p>
            <a:endParaRPr lang="en-US"/>
          </a:p>
          <a:p>
            <a:endParaRPr lang="en-US"/>
          </a:p>
          <a:p>
            <a:r>
              <a:rPr lang="en-US"/>
              <a:t>הסבר על ה-EDA והגרפים (20–25 שניות)</a:t>
            </a:r>
          </a:p>
          <a:p>
            <a:r>
              <a:rPr lang="en-US"/>
              <a:t>גרף 1 – Class Distribution</a:t>
            </a:r>
          </a:p>
          <a:p>
            <a:endParaRPr lang="en-US"/>
          </a:p>
          <a:p>
            <a:r>
              <a:rPr lang="en-US"/>
              <a:t>הגרף הראשון מציג את התפלגות המחלקות בדאטאסט.</a:t>
            </a:r>
          </a:p>
          <a:p>
            <a:r>
              <a:rPr lang="en-US"/>
              <a:t>ניתן לראות שיש חוסר איזון בין סוגי האובייקטים, למשל דלתות שמופיעות הרבה יותר מאובייקטים אחרים.</a:t>
            </a:r>
          </a:p>
          <a:p>
            <a:r>
              <a:rPr lang="en-US"/>
              <a:t>זה עזר לנו להבין את מאפייני הדאטאסט לפני האימון.</a:t>
            </a:r>
          </a:p>
          <a:p>
            <a:endParaRPr lang="en-US"/>
          </a:p>
          <a:p>
            <a:r>
              <a:rPr lang="en-US"/>
              <a:t>גרף 2 – Annotations per Image</a:t>
            </a:r>
          </a:p>
          <a:p>
            <a:endParaRPr lang="en-US"/>
          </a:p>
          <a:p>
            <a:r>
              <a:rPr lang="en-US"/>
              <a:t>הגרף השני מראה כמה אובייקטים מתוייגים יש בכל תמונה.</a:t>
            </a:r>
          </a:p>
          <a:p>
            <a:r>
              <a:rPr lang="en-US"/>
              <a:t>רואים שרוב התמונות מכילות מספר רב של אובייקטים, ולא אובייקט בודד.</a:t>
            </a:r>
          </a:p>
          <a:p>
            <a:r>
              <a:rPr lang="en-US"/>
              <a:t>זה מחזק את הבחירה בבעיה כ־Object Detection ולא כ־Classification,</a:t>
            </a:r>
          </a:p>
          <a:p>
            <a:r>
              <a:rPr lang="en-US"/>
              <a:t>ומצדיק שימוש במודל כמו DETR שמטפל במספר משתנה של אובייקטים.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“מעבר לזיהוי אובייקטים, בנינו פייפליין מלא שמאפשר לנו לבצע שינוי מבוקר בתוך תוכנית אחת.”</a:t>
            </a:r>
          </a:p>
          <a:p>
            <a:endParaRPr lang="en-US"/>
          </a:p>
          <a:p>
            <a:r>
              <a:rPr lang="en-US"/>
              <a:t>בשלב הראשון אנחנו מזינים לפייפליין תמונת תוכנית מקורית.</a:t>
            </a:r>
          </a:p>
          <a:p>
            <a:r>
              <a:rPr lang="en-US"/>
              <a:t>על התמונה הזו רץ מודל ה-DETR שאימנו, והוא מחזיר עבור כל אובייקט את המחלקה, רמת הביטחון ותיבת התיחום, כאשר אנחנו מסננים זיהויים חלשים באמצעות סף ביטחון.</a:t>
            </a:r>
          </a:p>
          <a:p>
            <a:endParaRPr lang="en-US"/>
          </a:p>
          <a:p>
            <a:r>
              <a:rPr lang="en-US"/>
              <a:t>מתוך תוצאות הזיהוי, אנחנו מסננים ומבודדים אובייקט מטרה מסוים, בהתאם למחלקה שבה אנחנו מעוניינים לבצע שינוי.</a:t>
            </a:r>
          </a:p>
          <a:p>
            <a:endParaRPr lang="en-US"/>
          </a:p>
          <a:p>
            <a:r>
              <a:rPr lang="en-US"/>
              <a:t>לאחר מכן אנחנו משתמשים ב-SAM כדי להפיק מסכה מדויקת של האובייקט ברמת הפיקסל, על בסיס תיבת התיחום ש-DETR סיפק.</a:t>
            </a:r>
          </a:p>
          <a:p>
            <a:endParaRPr lang="en-US"/>
          </a:p>
          <a:p>
            <a:r>
              <a:rPr lang="en-US"/>
              <a:t>את המסכה הזו אנחנו מזינים למודל Inpainting מבוסס Stable Diffusion, שמאפשר לנו להסיר, להחליף או לשנות את האובייקט באופן נקודתי, תוך שליטה על התוצאה באמצעות prompt ו-negative prompt.</a:t>
            </a:r>
          </a:p>
          <a:p>
            <a:endParaRPr lang="en-US"/>
          </a:p>
          <a:p>
            <a:r>
              <a:rPr lang="en-US"/>
              <a:t>התוצר של הפייפליין הוא תמונה ערוכה של אותה תוכנית, יחד עם המסכה והתמונה המקורית.</a:t>
            </a:r>
          </a:p>
          <a:p>
            <a:endParaRPr lang="en-US"/>
          </a:p>
          <a:p>
            <a:r>
              <a:rPr lang="en-US"/>
              <a:t>בשלב זה, הפייפליין מאפשר לנו לבצע שינוי מבוקר באובייקט יחיד בתוך תוכנית אחת, והוא משמש אותנו כבסיס ליצירת דאטא סינתטי של זוגות תוכניות before/after בהמשך הפרויקט.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“מעבר לזיהוי אובייקטים, בנינו פייפליין מלא שמאפשר לנו לבצע שינוי מבוקר בתוך תוכנית אחת.”</a:t>
            </a:r>
          </a:p>
          <a:p>
            <a:endParaRPr lang="en-US"/>
          </a:p>
          <a:p>
            <a:r>
              <a:rPr lang="en-US"/>
              <a:t>בשלב הראשון אנחנו מזינים לפייפליין תמונת תוכנית מקורית.</a:t>
            </a:r>
          </a:p>
          <a:p>
            <a:r>
              <a:rPr lang="en-US"/>
              <a:t>על התמונה הזו רץ מודל ה-DETR שאימנו, והוא מחזיר עבור כל אובייקט את המחלקה, רמת הביטחון ותיבת התיחום, כאשר אנחנו מסננים זיהויים חלשים באמצעות סף ביטחון.</a:t>
            </a:r>
          </a:p>
          <a:p>
            <a:endParaRPr lang="en-US"/>
          </a:p>
          <a:p>
            <a:r>
              <a:rPr lang="en-US"/>
              <a:t>מתוך תוצאות הזיהוי, אנחנו מסננים ומבודדים אובייקט מטרה מסוים, בהתאם למחלקה שבה אנחנו מעוניינים לבצע שינוי.</a:t>
            </a:r>
          </a:p>
          <a:p>
            <a:endParaRPr lang="en-US"/>
          </a:p>
          <a:p>
            <a:r>
              <a:rPr lang="en-US"/>
              <a:t>לאחר מכן אנחנו משתמשים ב-SAM כדי להפיק מסכה מדויקת של האובייקט ברמת הפיקסל, על בסיס תיבת התיחום ש-DETR סיפק.</a:t>
            </a:r>
          </a:p>
          <a:p>
            <a:endParaRPr lang="en-US"/>
          </a:p>
          <a:p>
            <a:r>
              <a:rPr lang="en-US"/>
              <a:t>את המסכה הזו אנחנו מזינים למודל Inpainting מבוסס Stable Diffusion, שמאפשר לנו להסיר, להחליף או לשנות את האובייקט באופן נקודתי, תוך שליטה על התוצאה באמצעות prompt ו-negative prompt.</a:t>
            </a:r>
          </a:p>
          <a:p>
            <a:endParaRPr lang="en-US"/>
          </a:p>
          <a:p>
            <a:r>
              <a:rPr lang="en-US"/>
              <a:t>התוצר של הפייפליין הוא תמונה ערוכה של אותה תוכנית, יחד עם המסכה והתמונה המקורית.</a:t>
            </a:r>
          </a:p>
          <a:p>
            <a:endParaRPr lang="en-US"/>
          </a:p>
          <a:p>
            <a:r>
              <a:rPr lang="en-US"/>
              <a:t>בשלב זה, הפייפליין מאפשר לנו לבצע שינוי מבוקר באובייקט יחיד בתוך תוכנית אחת, והוא משמש אותנו כבסיס ליצירת דאטא סינתטי של זוגות תוכניות before/after בהמשך הפרויקט.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מה להגיד (תסריט קצר ב-3 נקודות)</a:t>
            </a:r>
          </a:p>
          <a:p>
            <a:r>
              <a:rPr lang="en-US"/>
              <a:t>הבחירה ב-Baseline: "בחרנו ב-YOLOv8 כנקודת מוצא כי הוא הסטנדרט בתעשייה: מהיר וקל לאימון. רצינו לבדוק אם מודל 'מדף' מסוגל להתמודד עם שרטוטים."</a:t>
            </a:r>
          </a:p>
          <a:p>
            <a:endParaRPr lang="en-US"/>
          </a:p>
          <a:p>
            <a:r>
              <a:rPr lang="en-US"/>
              <a:t>התוצאות: "הביצועים היו בינוניים (mAP 0.528). המדד הקריטי הוא ה-Recall הנמוך (כ-50%), שמשמעותו שהמודל מפספס חצי מהרהיטים בבית – כישלון קריטי למערכת אוטומטית."</a:t>
            </a:r>
          </a:p>
          <a:p>
            <a:endParaRPr lang="en-US"/>
          </a:p>
          <a:p>
            <a:r>
              <a:rPr lang="en-US"/>
              <a:t>ניתוח הכישלון: "המודל הצליח מאוד באובייקטים נפוצים (כיורים), אך נכשל לחלוטין (ציון 0) באובייקטים נדירים כמו כורסאות, בגלל חוסר איזון בדאטה (Class Imbalance)."</a:t>
            </a:r>
          </a:p>
          <a:p>
            <a:endParaRPr lang="en-US"/>
          </a:p>
          <a:p>
            <a:r>
              <a:rPr lang="en-US"/>
              <a:t>💡 הסיבה הטכנית (ההסבר החשוב ביותר)</a:t>
            </a:r>
          </a:p>
          <a:p>
            <a:r>
              <a:rPr lang="en-US"/>
              <a:t>"הכישלון של YOLO נובע מכך שהוא מודל CNN בעל ראייה מקומית ('חלון קטן'). בשרטוטים אין טקסטורה, ולכן כדי לזהות 'שולחן' חייבים להבין את ההקשר (שיש כיסאות מסביב). YOLO לא רואה את ההקשר הרחב הזה, בניגוד ל-DETR שנראה בהמשך."</a:t>
            </a:r>
          </a:p>
          <a:p>
            <a:endParaRPr lang="en-US"/>
          </a:p>
          <a:p>
            <a:r>
              <a:rPr lang="en-US"/>
              <a:t>🛡️ שליפים לשאלות "התקלה" (משפט מחץ לכל שאלה)</a:t>
            </a:r>
          </a:p>
          <a:p>
            <a:r>
              <a:rPr lang="en-US"/>
              <a:t>למה YOLO נכשל ו-DETR הצליח?</a:t>
            </a:r>
          </a:p>
          <a:p>
            <a:endParaRPr lang="en-US"/>
          </a:p>
          <a:p>
            <a:r>
              <a:rPr lang="en-US"/>
              <a:t>"YOLO מחפש טקסטורה ורואה נקודתית (CNN). DETR רואה הקשרים מרחביים (Transformer) – הוא מבין שריבוע הוא שולחן בגלל הכיסאות שלידו."</a:t>
            </a:r>
          </a:p>
          <a:p>
            <a:endParaRPr lang="en-US"/>
          </a:p>
          <a:p>
            <a:r>
              <a:rPr lang="en-US"/>
              <a:t>מה המשמעות של Recall נמוך ללקוח?</a:t>
            </a:r>
          </a:p>
          <a:p>
            <a:endParaRPr lang="en-US"/>
          </a:p>
          <a:p>
            <a:r>
              <a:rPr lang="en-US"/>
              <a:t>"שהמערכת לא חוסכת זמן. האדריכל יצטרך לעבור ידנית ולסמן חצי מהרהיטים שהמודל פספס."</a:t>
            </a:r>
          </a:p>
          <a:p>
            <a:endParaRPr lang="en-US"/>
          </a:p>
          <a:p>
            <a:r>
              <a:rPr lang="en-US"/>
              <a:t>למה 0 ב-Armchair?</a:t>
            </a:r>
          </a:p>
          <a:p>
            <a:endParaRPr lang="en-US"/>
          </a:p>
          <a:p>
            <a:r>
              <a:rPr lang="en-US"/>
              <a:t>"כמות דאטה מזערית (27 דוגמאות) גרמה למודל להתעלם מהם ולהתמקד רק בכיורים (3,000 דוגמאות) כדי לשפר את הציון הממוצע."</a:t>
            </a:r>
          </a:p>
          <a:p>
            <a:endParaRPr lang="en-US"/>
          </a:p>
          <a:p>
            <a:r>
              <a:rPr lang="en-US"/>
              <a:t>למה לא ניסית לשפר את YOLO?</a:t>
            </a:r>
          </a:p>
          <a:p>
            <a:endParaRPr lang="en-US"/>
          </a:p>
          <a:p>
            <a:r>
              <a:rPr lang="en-US"/>
              <a:t>"הבנו שהמגבלה היא ארכיטקטונית (CNN מתקשה עם קווים ללא טקסטורה), ולא בעיה של כיוונון פרמטרים."</a:t>
            </a:r>
          </a:p>
          <a:p>
            <a:endParaRPr lang="en-US"/>
          </a:p>
          <a:p>
            <a:r>
              <a:rPr lang="en-US"/>
              <a:t>📝 השורה התחתונה לשקופית (אנגלית)</a:t>
            </a:r>
          </a:p>
          <a:p>
            <a:r>
              <a:rPr lang="en-US"/>
              <a:t>"YOLOv8n failed due to its local receptive field (CNN), lacking the global context needed to interpret texture-less geometric shapes in floor plans."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בשקופית הזו אנחנו מציגים את תוכנית העבודה של הפרויקט עד ההגשה הסופית.”</a:t>
            </a:r>
          </a:p>
          <a:p>
            <a:endParaRPr lang="en-US"/>
          </a:p>
          <a:p>
            <a:r>
              <a:rPr lang="en-US"/>
              <a:t>בשלב הראשון, אנחנו מגדירים מה נחשב שינוי מהותי ומה לא מהותי.</a:t>
            </a:r>
          </a:p>
          <a:p>
            <a:r>
              <a:rPr lang="en-US"/>
              <a:t>ההגדרה הזו נעשית בצורה איטרטיבית – אנחנו בוחנים סוגים שונים של שינויים בשרטוטים, בודקים מה אפשרי מבחינת ה־pipeline שלנו, ומגבשים קריטריונים ראשוניים שיאפשרו תיוג עקבי של הדאטא.</a:t>
            </a:r>
          </a:p>
          <a:p>
            <a:endParaRPr lang="en-US"/>
          </a:p>
          <a:p>
            <a:r>
              <a:rPr lang="en-US"/>
              <a:t>בשלב השני, אנחנו מייצרים דאטא סינתטי.</a:t>
            </a:r>
          </a:p>
          <a:p>
            <a:r>
              <a:rPr lang="en-US"/>
              <a:t>אנחנו יוצרים זוגות של תוכניות לפני ואחרי באמצעות שינויים מבוקרים ברמת האובייקט, תוך שימוש בפייפליין הקיים שלנו שמבוסס על DETR, SAM ו־inpainting.</a:t>
            </a:r>
          </a:p>
          <a:p>
            <a:r>
              <a:rPr lang="en-US"/>
              <a:t>התוצאה של השלב הזה היא דאטאסט של זוגות שרטוטים, שמקוטלגים מראש לשינוי מהותי ולא מהותי.</a:t>
            </a:r>
          </a:p>
          <a:p>
            <a:endParaRPr lang="en-US"/>
          </a:p>
          <a:p>
            <a:r>
              <a:rPr lang="en-US"/>
              <a:t>בשלב השלישי, אנחנו מפתחים מודל סיווג בינארי.</a:t>
            </a:r>
          </a:p>
          <a:p>
            <a:r>
              <a:rPr lang="en-US"/>
              <a:t>המודל מקבל כקלט שתי תמונות של שרטוטים, ומחזיר החלטה האם השינוי ביניהן מהותי או לא.</a:t>
            </a:r>
          </a:p>
          <a:p>
            <a:r>
              <a:rPr lang="en-US"/>
              <a:t>במהלך האימון, המודל נחשף רק לזוגות התמונות ולתיוג הבינארי, בלי לקבל מידע מפורש על סוג השינוי שבוצע.</a:t>
            </a:r>
          </a:p>
          <a:p>
            <a:r>
              <a:rPr lang="en-US"/>
              <a:t>המטרה היא לאפשר למודל ללמוד דפוסים ויזואליים ומבניים שמאפיינים שינויים מהותיים לעומת שינויים מינוריים, על סמך הדאטא הסינתטי שנוצר.</a:t>
            </a:r>
          </a:p>
          <a:p>
            <a:endParaRPr lang="en-US"/>
          </a:p>
          <a:p>
            <a:r>
              <a:rPr lang="en-US"/>
              <a:t>בשלב האחרון, אנחנו מנתחים את תוצאות המודל, בוחנים את איכות הסיווג, ומכינים את המצגת הסופית לקראת ההגשה.</a:t>
            </a:r>
          </a:p>
          <a:p>
            <a:endParaRPr lang="en-US"/>
          </a:p>
          <a:p>
            <a:r>
              <a:rPr lang="en-US"/>
              <a:t>💡 משפט מסכם:</a:t>
            </a:r>
          </a:p>
          <a:p>
            <a:endParaRPr lang="en-US"/>
          </a:p>
          <a:p>
            <a:r>
              <a:rPr lang="en-US"/>
              <a:t>המיקוד שלנו הוא בלמידה של מהות השינוי מתוך ההשוואה בין שתי תוכניות, ולא בזיהוי מפורש של האובייקט או הפעולה שבוצעה.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23-Dec-25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23-Dec-25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23-Dec-25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23-Dec-25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hyperlink" Target="https://www.researchgate.net/publication/398771741_Segmentation_of_Architectural_Floor_Plans_for_Room_Function_Analysis_using_RF_DETR"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www.canva.com/design/DAG8QsoQxJ8/fpq6-t_HV5tYz97piPGlAg/view?utm_content=DAG8QsoQxJ8&amp;utm_campaign=designshare&amp;utm_medium=link2&amp;utm_source=uniquelinks&amp;utlId=h42427fe8b9"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huggingface.co/datasets/jprve/FloorPlansV2" TargetMode="External"/><Relationship Id="rId3" Type="http://schemas.openxmlformats.org/officeDocument/2006/relationships/image" Target="../media/image1.jpeg"/><Relationship Id="rId7"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jpeg"/><Relationship Id="rId7" Type="http://schemas.openxmlformats.org/officeDocument/2006/relationships/image" Target="../media/image22.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1.jpe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he-IL"/>
          </a:p>
        </p:txBody>
      </p:sp>
      <p:sp>
        <p:nvSpPr>
          <p:cNvPr id="3" name="Freeform 3"/>
          <p:cNvSpPr/>
          <p:nvPr/>
        </p:nvSpPr>
        <p:spPr>
          <a:xfrm flipH="1">
            <a:off x="-912325" y="4813799"/>
            <a:ext cx="4013771" cy="6473825"/>
          </a:xfrm>
          <a:custGeom>
            <a:avLst/>
            <a:gdLst/>
            <a:ahLst/>
            <a:cxnLst/>
            <a:rect l="l" t="t" r="r" b="b"/>
            <a:pathLst>
              <a:path w="4013771" h="6473825">
                <a:moveTo>
                  <a:pt x="4013772" y="0"/>
                </a:moveTo>
                <a:lnTo>
                  <a:pt x="0" y="0"/>
                </a:lnTo>
                <a:lnTo>
                  <a:pt x="0" y="6473825"/>
                </a:lnTo>
                <a:lnTo>
                  <a:pt x="4013772" y="6473825"/>
                </a:lnTo>
                <a:lnTo>
                  <a:pt x="4013772"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4" name="Freeform 4"/>
          <p:cNvSpPr/>
          <p:nvPr/>
        </p:nvSpPr>
        <p:spPr>
          <a:xfrm>
            <a:off x="15190185" y="4813799"/>
            <a:ext cx="4013771" cy="6473825"/>
          </a:xfrm>
          <a:custGeom>
            <a:avLst/>
            <a:gdLst/>
            <a:ahLst/>
            <a:cxnLst/>
            <a:rect l="l" t="t" r="r" b="b"/>
            <a:pathLst>
              <a:path w="4013771" h="6473825">
                <a:moveTo>
                  <a:pt x="0" y="0"/>
                </a:moveTo>
                <a:lnTo>
                  <a:pt x="4013772" y="0"/>
                </a:lnTo>
                <a:lnTo>
                  <a:pt x="4013772" y="6473825"/>
                </a:lnTo>
                <a:lnTo>
                  <a:pt x="0" y="647382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grpSp>
        <p:nvGrpSpPr>
          <p:cNvPr id="5" name="Group 5"/>
          <p:cNvGrpSpPr/>
          <p:nvPr/>
        </p:nvGrpSpPr>
        <p:grpSpPr>
          <a:xfrm>
            <a:off x="16042187" y="-2245813"/>
            <a:ext cx="4491627" cy="449162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8" name="AutoShape 8"/>
          <p:cNvSpPr/>
          <p:nvPr/>
        </p:nvSpPr>
        <p:spPr>
          <a:xfrm>
            <a:off x="-758305" y="2236288"/>
            <a:ext cx="19804610" cy="0"/>
          </a:xfrm>
          <a:prstGeom prst="line">
            <a:avLst/>
          </a:prstGeom>
          <a:ln w="19050" cap="flat">
            <a:solidFill>
              <a:srgbClr val="A6A6A6"/>
            </a:solidFill>
            <a:prstDash val="solid"/>
            <a:headEnd type="none" w="sm" len="sm"/>
            <a:tailEnd type="none" w="sm" len="sm"/>
          </a:ln>
        </p:spPr>
        <p:txBody>
          <a:bodyPr/>
          <a:lstStyle/>
          <a:p>
            <a:endParaRPr lang="he-IL"/>
          </a:p>
        </p:txBody>
      </p:sp>
      <p:sp>
        <p:nvSpPr>
          <p:cNvPr id="9" name="AutoShape 9"/>
          <p:cNvSpPr/>
          <p:nvPr/>
        </p:nvSpPr>
        <p:spPr>
          <a:xfrm>
            <a:off x="1854356" y="8050712"/>
            <a:ext cx="14630090" cy="0"/>
          </a:xfrm>
          <a:prstGeom prst="line">
            <a:avLst/>
          </a:prstGeom>
          <a:ln w="19050" cap="flat">
            <a:solidFill>
              <a:srgbClr val="A6A6A6"/>
            </a:solidFill>
            <a:prstDash val="solid"/>
            <a:headEnd type="none" w="sm" len="sm"/>
            <a:tailEnd type="none" w="sm" len="sm"/>
          </a:ln>
        </p:spPr>
        <p:txBody>
          <a:bodyPr/>
          <a:lstStyle/>
          <a:p>
            <a:endParaRPr lang="he-IL"/>
          </a:p>
        </p:txBody>
      </p:sp>
      <p:sp>
        <p:nvSpPr>
          <p:cNvPr id="10" name="AutoShape 10"/>
          <p:cNvSpPr/>
          <p:nvPr/>
        </p:nvSpPr>
        <p:spPr>
          <a:xfrm flipV="1">
            <a:off x="16032662"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sp>
        <p:nvSpPr>
          <p:cNvPr id="11" name="AutoShape 11"/>
          <p:cNvSpPr/>
          <p:nvPr/>
        </p:nvSpPr>
        <p:spPr>
          <a:xfrm flipV="1">
            <a:off x="2236288"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2" name="Group 12"/>
          <p:cNvGrpSpPr/>
          <p:nvPr/>
        </p:nvGrpSpPr>
        <p:grpSpPr>
          <a:xfrm>
            <a:off x="-2255338" y="-2255338"/>
            <a:ext cx="4491627" cy="449162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15" name="TextBox 15"/>
          <p:cNvSpPr txBox="1"/>
          <p:nvPr/>
        </p:nvSpPr>
        <p:spPr>
          <a:xfrm>
            <a:off x="2609825" y="2737232"/>
            <a:ext cx="13071981" cy="2406268"/>
          </a:xfrm>
          <a:prstGeom prst="rect">
            <a:avLst/>
          </a:prstGeom>
        </p:spPr>
        <p:txBody>
          <a:bodyPr lIns="0" tIns="0" rIns="0" bIns="0" rtlCol="0" anchor="t">
            <a:spAutoFit/>
          </a:bodyPr>
          <a:lstStyle/>
          <a:p>
            <a:pPr marL="0" lvl="0" indent="0" algn="ctr">
              <a:lnSpc>
                <a:spcPts val="19621"/>
              </a:lnSpc>
              <a:spcBef>
                <a:spcPct val="0"/>
              </a:spcBef>
            </a:pPr>
            <a:r>
              <a:rPr lang="en-US" sz="14015" b="1">
                <a:solidFill>
                  <a:srgbClr val="000000"/>
                </a:solidFill>
                <a:latin typeface="Garet Bold"/>
                <a:ea typeface="Garet Bold"/>
                <a:cs typeface="Garet Bold"/>
                <a:sym typeface="Garet Bold"/>
              </a:rPr>
              <a:t>Built-in</a:t>
            </a:r>
          </a:p>
        </p:txBody>
      </p:sp>
      <p:sp>
        <p:nvSpPr>
          <p:cNvPr id="16" name="TextBox 16"/>
          <p:cNvSpPr txBox="1"/>
          <p:nvPr/>
        </p:nvSpPr>
        <p:spPr>
          <a:xfrm>
            <a:off x="2599495" y="5599539"/>
            <a:ext cx="13069960" cy="1374775"/>
          </a:xfrm>
          <a:prstGeom prst="rect">
            <a:avLst/>
          </a:prstGeom>
        </p:spPr>
        <p:txBody>
          <a:bodyPr lIns="0" tIns="0" rIns="0" bIns="0" rtlCol="0" anchor="t">
            <a:spAutoFit/>
          </a:bodyPr>
          <a:lstStyle/>
          <a:p>
            <a:pPr marL="0" lvl="0" indent="0" algn="ctr" rtl="1">
              <a:lnSpc>
                <a:spcPts val="5599"/>
              </a:lnSpc>
              <a:spcBef>
                <a:spcPct val="0"/>
              </a:spcBef>
            </a:pPr>
            <a:r>
              <a:rPr lang="en-US" sz="3999">
                <a:solidFill>
                  <a:srgbClr val="000000"/>
                </a:solidFill>
                <a:latin typeface="Garet"/>
                <a:ea typeface="Garet"/>
                <a:cs typeface="Garet"/>
                <a:sym typeface="Garet"/>
              </a:rPr>
              <a:t>A GenAI-Based System for Verifying Compliance   Between Floorplans Versions</a:t>
            </a:r>
          </a:p>
        </p:txBody>
      </p:sp>
      <p:sp>
        <p:nvSpPr>
          <p:cNvPr id="17" name="TextBox 17"/>
          <p:cNvSpPr txBox="1"/>
          <p:nvPr/>
        </p:nvSpPr>
        <p:spPr>
          <a:xfrm>
            <a:off x="6399852" y="8755307"/>
            <a:ext cx="5488297" cy="339725"/>
          </a:xfrm>
          <a:prstGeom prst="rect">
            <a:avLst/>
          </a:prstGeom>
        </p:spPr>
        <p:txBody>
          <a:bodyPr lIns="0" tIns="0" rIns="0" bIns="0" rtlCol="0" anchor="t">
            <a:spAutoFit/>
          </a:bodyPr>
          <a:lstStyle/>
          <a:p>
            <a:pPr marL="0" lvl="0" indent="0" algn="ctr">
              <a:lnSpc>
                <a:spcPts val="2800"/>
              </a:lnSpc>
              <a:spcBef>
                <a:spcPct val="0"/>
              </a:spcBef>
            </a:pPr>
            <a:r>
              <a:rPr lang="en-US" sz="2000">
                <a:solidFill>
                  <a:srgbClr val="000000"/>
                </a:solidFill>
                <a:latin typeface="Garet"/>
                <a:ea typeface="Garet"/>
                <a:cs typeface="Garet"/>
                <a:sym typeface="Garet"/>
              </a:rPr>
              <a:t>Afik Aharon, Adi Haim, Liran Aichnboim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AutoShape 3"/>
          <p:cNvSpPr/>
          <p:nvPr/>
        </p:nvSpPr>
        <p:spPr>
          <a:xfrm>
            <a:off x="-758305" y="1369513"/>
            <a:ext cx="19804610" cy="0"/>
          </a:xfrm>
          <a:prstGeom prst="line">
            <a:avLst/>
          </a:prstGeom>
          <a:ln w="19050" cap="flat">
            <a:solidFill>
              <a:srgbClr val="A6A6A6"/>
            </a:solidFill>
            <a:prstDash val="solid"/>
            <a:headEnd type="none" w="sm" len="sm"/>
            <a:tailEnd type="none" w="sm" len="sm"/>
          </a:ln>
        </p:spPr>
        <p:txBody>
          <a:bodyPr/>
          <a:lstStyle/>
          <a:p>
            <a:endParaRPr lang="he-IL"/>
          </a:p>
        </p:txBody>
      </p:sp>
      <p:sp>
        <p:nvSpPr>
          <p:cNvPr id="4" name="AutoShape 4"/>
          <p:cNvSpPr/>
          <p:nvPr/>
        </p:nvSpPr>
        <p:spPr>
          <a:xfrm>
            <a:off x="-756489" y="9173618"/>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5" name="Group 5"/>
          <p:cNvGrpSpPr/>
          <p:nvPr/>
        </p:nvGrpSpPr>
        <p:grpSpPr>
          <a:xfrm>
            <a:off x="17165093" y="-866775"/>
            <a:ext cx="2245813" cy="224581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1122907" y="9164093"/>
            <a:ext cx="2245813" cy="224581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11" name="AutoShape 11"/>
          <p:cNvSpPr/>
          <p:nvPr/>
        </p:nvSpPr>
        <p:spPr>
          <a:xfrm flipV="1">
            <a:off x="1680058" y="5893440"/>
            <a:ext cx="14927885" cy="0"/>
          </a:xfrm>
          <a:prstGeom prst="line">
            <a:avLst/>
          </a:prstGeom>
          <a:ln w="38100" cap="flat">
            <a:solidFill>
              <a:srgbClr val="A6A6A6"/>
            </a:solidFill>
            <a:prstDash val="solid"/>
            <a:headEnd type="none" w="sm" len="sm"/>
            <a:tailEnd type="none" w="sm" len="sm"/>
          </a:ln>
        </p:spPr>
        <p:txBody>
          <a:bodyPr/>
          <a:lstStyle/>
          <a:p>
            <a:endParaRPr lang="he-IL"/>
          </a:p>
        </p:txBody>
      </p:sp>
      <p:sp>
        <p:nvSpPr>
          <p:cNvPr id="12" name="AutoShape 12"/>
          <p:cNvSpPr/>
          <p:nvPr/>
        </p:nvSpPr>
        <p:spPr>
          <a:xfrm flipH="1">
            <a:off x="8985541" y="3057070"/>
            <a:ext cx="19050" cy="5611135"/>
          </a:xfrm>
          <a:prstGeom prst="line">
            <a:avLst/>
          </a:prstGeom>
          <a:ln w="38100" cap="flat">
            <a:solidFill>
              <a:srgbClr val="A6A6A6"/>
            </a:solidFill>
            <a:prstDash val="solid"/>
            <a:headEnd type="none" w="sm" len="sm"/>
            <a:tailEnd type="none" w="sm" len="sm"/>
          </a:ln>
        </p:spPr>
        <p:txBody>
          <a:bodyPr/>
          <a:lstStyle/>
          <a:p>
            <a:endParaRPr lang="he-IL"/>
          </a:p>
        </p:txBody>
      </p:sp>
      <p:pic>
        <p:nvPicPr>
          <p:cNvPr id="13" name="Picture 13"/>
          <p:cNvPicPr>
            <a:picLocks noChangeAspect="1"/>
          </p:cNvPicPr>
          <p:nvPr/>
        </p:nvPicPr>
        <p:blipFill>
          <a:blip r:embed="rId4"/>
          <a:stretch>
            <a:fillRect/>
          </a:stretch>
        </p:blipFill>
        <p:spPr>
          <a:xfrm>
            <a:off x="1645358" y="3230873"/>
            <a:ext cx="416401" cy="389977"/>
          </a:xfrm>
          <a:prstGeom prst="rect">
            <a:avLst/>
          </a:prstGeom>
        </p:spPr>
      </p:pic>
      <p:pic>
        <p:nvPicPr>
          <p:cNvPr id="14" name="Picture 14"/>
          <p:cNvPicPr>
            <a:picLocks noChangeAspect="1"/>
          </p:cNvPicPr>
          <p:nvPr/>
        </p:nvPicPr>
        <p:blipFill>
          <a:blip r:embed="rId5"/>
          <a:stretch>
            <a:fillRect/>
          </a:stretch>
        </p:blipFill>
        <p:spPr>
          <a:xfrm>
            <a:off x="1645358" y="6134696"/>
            <a:ext cx="416401" cy="389977"/>
          </a:xfrm>
          <a:prstGeom prst="rect">
            <a:avLst/>
          </a:prstGeom>
        </p:spPr>
      </p:pic>
      <p:pic>
        <p:nvPicPr>
          <p:cNvPr id="15" name="Picture 15"/>
          <p:cNvPicPr>
            <a:picLocks noChangeAspect="1"/>
          </p:cNvPicPr>
          <p:nvPr/>
        </p:nvPicPr>
        <p:blipFill>
          <a:blip r:embed="rId6"/>
          <a:stretch>
            <a:fillRect/>
          </a:stretch>
        </p:blipFill>
        <p:spPr>
          <a:xfrm>
            <a:off x="9847792" y="3212092"/>
            <a:ext cx="416401" cy="389977"/>
          </a:xfrm>
          <a:prstGeom prst="rect">
            <a:avLst/>
          </a:prstGeom>
        </p:spPr>
      </p:pic>
      <p:pic>
        <p:nvPicPr>
          <p:cNvPr id="16" name="Picture 16"/>
          <p:cNvPicPr>
            <a:picLocks noChangeAspect="1"/>
          </p:cNvPicPr>
          <p:nvPr/>
        </p:nvPicPr>
        <p:blipFill>
          <a:blip r:embed="rId7"/>
          <a:stretch>
            <a:fillRect/>
          </a:stretch>
        </p:blipFill>
        <p:spPr>
          <a:xfrm>
            <a:off x="9674292" y="6138620"/>
            <a:ext cx="416401" cy="389977"/>
          </a:xfrm>
          <a:prstGeom prst="rect">
            <a:avLst/>
          </a:prstGeom>
        </p:spPr>
      </p:pic>
      <p:sp>
        <p:nvSpPr>
          <p:cNvPr id="17" name="Freeform 17"/>
          <p:cNvSpPr/>
          <p:nvPr/>
        </p:nvSpPr>
        <p:spPr>
          <a:xfrm>
            <a:off x="16569974" y="7105783"/>
            <a:ext cx="1718026" cy="2067835"/>
          </a:xfrm>
          <a:custGeom>
            <a:avLst/>
            <a:gdLst/>
            <a:ahLst/>
            <a:cxnLst/>
            <a:rect l="l" t="t" r="r" b="b"/>
            <a:pathLst>
              <a:path w="1718026" h="2067835">
                <a:moveTo>
                  <a:pt x="0" y="0"/>
                </a:moveTo>
                <a:lnTo>
                  <a:pt x="1718026" y="0"/>
                </a:lnTo>
                <a:lnTo>
                  <a:pt x="1718026" y="2067835"/>
                </a:lnTo>
                <a:lnTo>
                  <a:pt x="0" y="2067835"/>
                </a:lnTo>
                <a:lnTo>
                  <a:pt x="0" y="0"/>
                </a:lnTo>
                <a:close/>
              </a:path>
            </a:pathLst>
          </a:custGeom>
          <a:blipFill>
            <a:blip r:embed="rId8"/>
            <a:stretch>
              <a:fillRect/>
            </a:stretch>
          </a:blipFill>
        </p:spPr>
        <p:txBody>
          <a:bodyPr/>
          <a:lstStyle/>
          <a:p>
            <a:endParaRPr lang="he-IL"/>
          </a:p>
        </p:txBody>
      </p:sp>
      <p:sp>
        <p:nvSpPr>
          <p:cNvPr id="18" name="TextBox 18"/>
          <p:cNvSpPr txBox="1"/>
          <p:nvPr/>
        </p:nvSpPr>
        <p:spPr>
          <a:xfrm>
            <a:off x="4559926" y="1513955"/>
            <a:ext cx="8851231"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Project Review</a:t>
            </a:r>
          </a:p>
        </p:txBody>
      </p:sp>
      <p:sp>
        <p:nvSpPr>
          <p:cNvPr id="19" name="TextBox 19"/>
          <p:cNvSpPr txBox="1"/>
          <p:nvPr/>
        </p:nvSpPr>
        <p:spPr>
          <a:xfrm>
            <a:off x="2349854" y="3208692"/>
            <a:ext cx="2355496" cy="419346"/>
          </a:xfrm>
          <a:prstGeom prst="rect">
            <a:avLst/>
          </a:prstGeom>
        </p:spPr>
        <p:txBody>
          <a:bodyPr wrap="square" lIns="0" tIns="0" rIns="0" bIns="0" rtlCol="0" anchor="t">
            <a:spAutoFit/>
          </a:bodyPr>
          <a:lstStyle/>
          <a:p>
            <a:pPr algn="ctr">
              <a:lnSpc>
                <a:spcPts val="3359"/>
              </a:lnSpc>
              <a:spcBef>
                <a:spcPct val="0"/>
              </a:spcBef>
            </a:pPr>
            <a:r>
              <a:rPr lang="en-US" sz="2399" b="1" dirty="0">
                <a:solidFill>
                  <a:srgbClr val="000000"/>
                </a:solidFill>
                <a:latin typeface="Garet Bold"/>
                <a:ea typeface="Garet Bold"/>
                <a:cs typeface="Garet Bold"/>
                <a:sym typeface="Garet Bold"/>
              </a:rPr>
              <a:t>MOTIVATION:</a:t>
            </a:r>
          </a:p>
        </p:txBody>
      </p:sp>
      <p:sp>
        <p:nvSpPr>
          <p:cNvPr id="20" name="TextBox 20"/>
          <p:cNvSpPr txBox="1"/>
          <p:nvPr/>
        </p:nvSpPr>
        <p:spPr>
          <a:xfrm>
            <a:off x="1680058" y="3709438"/>
            <a:ext cx="6323064" cy="1463675"/>
          </a:xfrm>
          <a:prstGeom prst="rect">
            <a:avLst/>
          </a:prstGeom>
        </p:spPr>
        <p:txBody>
          <a:bodyPr lIns="0" tIns="0" rIns="0" bIns="0" rtlCol="0" anchor="t">
            <a:spAutoFit/>
          </a:bodyPr>
          <a:lstStyle/>
          <a:p>
            <a:pPr algn="l">
              <a:lnSpc>
                <a:spcPts val="4000"/>
              </a:lnSpc>
              <a:spcBef>
                <a:spcPct val="0"/>
              </a:spcBef>
            </a:pPr>
            <a:r>
              <a:rPr lang="en-US" sz="2000" u="none" strike="noStrike">
                <a:solidFill>
                  <a:srgbClr val="000000"/>
                </a:solidFill>
                <a:latin typeface="Garet"/>
                <a:ea typeface="Garet"/>
                <a:cs typeface="Garet"/>
                <a:sym typeface="Garet"/>
              </a:rPr>
              <a:t>Comparing different versions of the same floorplan is difficult for buyers and may lead to financial and legal risks.</a:t>
            </a:r>
          </a:p>
        </p:txBody>
      </p:sp>
      <p:sp>
        <p:nvSpPr>
          <p:cNvPr id="21" name="TextBox 21"/>
          <p:cNvSpPr txBox="1"/>
          <p:nvPr/>
        </p:nvSpPr>
        <p:spPr>
          <a:xfrm>
            <a:off x="10553343" y="3208692"/>
            <a:ext cx="1162406" cy="419346"/>
          </a:xfrm>
          <a:prstGeom prst="rect">
            <a:avLst/>
          </a:prstGeom>
        </p:spPr>
        <p:txBody>
          <a:bodyPr wrap="square" lIns="0" tIns="0" rIns="0" bIns="0" rtlCol="0" anchor="t">
            <a:spAutoFit/>
          </a:bodyPr>
          <a:lstStyle/>
          <a:p>
            <a:pPr algn="ctr">
              <a:lnSpc>
                <a:spcPts val="3359"/>
              </a:lnSpc>
              <a:spcBef>
                <a:spcPct val="0"/>
              </a:spcBef>
            </a:pPr>
            <a:r>
              <a:rPr lang="en-US" sz="2399" b="1" dirty="0">
                <a:solidFill>
                  <a:srgbClr val="000000"/>
                </a:solidFill>
                <a:latin typeface="Garet Bold"/>
                <a:ea typeface="Garet Bold"/>
                <a:cs typeface="Garet Bold"/>
                <a:sym typeface="Garet Bold"/>
              </a:rPr>
              <a:t>TASK:</a:t>
            </a:r>
          </a:p>
        </p:txBody>
      </p:sp>
      <p:sp>
        <p:nvSpPr>
          <p:cNvPr id="22" name="TextBox 22"/>
          <p:cNvSpPr txBox="1"/>
          <p:nvPr/>
        </p:nvSpPr>
        <p:spPr>
          <a:xfrm>
            <a:off x="9882492" y="3671876"/>
            <a:ext cx="6579076" cy="1463675"/>
          </a:xfrm>
          <a:prstGeom prst="rect">
            <a:avLst/>
          </a:prstGeom>
        </p:spPr>
        <p:txBody>
          <a:bodyPr lIns="0" tIns="0" rIns="0" bIns="0" rtlCol="0" anchor="t">
            <a:spAutoFit/>
          </a:bodyPr>
          <a:lstStyle/>
          <a:p>
            <a:pPr marL="0" lvl="0" indent="0" algn="l">
              <a:lnSpc>
                <a:spcPts val="4000"/>
              </a:lnSpc>
              <a:spcBef>
                <a:spcPct val="0"/>
              </a:spcBef>
            </a:pPr>
            <a:r>
              <a:rPr lang="en-US" sz="2000" u="none" strike="noStrike">
                <a:solidFill>
                  <a:srgbClr val="000000"/>
                </a:solidFill>
                <a:latin typeface="Garet"/>
                <a:ea typeface="Garet"/>
                <a:cs typeface="Garet"/>
                <a:sym typeface="Garet"/>
              </a:rPr>
              <a:t>detect meaningful content changes between two versions of the same floorplan image (before / after).</a:t>
            </a:r>
          </a:p>
        </p:txBody>
      </p:sp>
      <p:sp>
        <p:nvSpPr>
          <p:cNvPr id="23" name="TextBox 23"/>
          <p:cNvSpPr txBox="1"/>
          <p:nvPr/>
        </p:nvSpPr>
        <p:spPr>
          <a:xfrm>
            <a:off x="2349854" y="6135220"/>
            <a:ext cx="4774846" cy="419346"/>
          </a:xfrm>
          <a:prstGeom prst="rect">
            <a:avLst/>
          </a:prstGeom>
        </p:spPr>
        <p:txBody>
          <a:bodyPr wrap="square" lIns="0" tIns="0" rIns="0" bIns="0" rtlCol="0" anchor="t">
            <a:spAutoFit/>
          </a:bodyPr>
          <a:lstStyle/>
          <a:p>
            <a:pPr algn="ctr">
              <a:lnSpc>
                <a:spcPts val="3359"/>
              </a:lnSpc>
              <a:spcBef>
                <a:spcPct val="0"/>
              </a:spcBef>
            </a:pPr>
            <a:r>
              <a:rPr lang="en-US" sz="2399" b="1" dirty="0">
                <a:solidFill>
                  <a:srgbClr val="000000"/>
                </a:solidFill>
                <a:latin typeface="Garet Bold"/>
                <a:ea typeface="Garet Bold"/>
                <a:cs typeface="Garet Bold"/>
                <a:sym typeface="Garet Bold"/>
              </a:rPr>
              <a:t>CHANGES SINCE PROPOSAL:</a:t>
            </a:r>
          </a:p>
        </p:txBody>
      </p:sp>
      <p:sp>
        <p:nvSpPr>
          <p:cNvPr id="24" name="TextBox 24"/>
          <p:cNvSpPr txBox="1"/>
          <p:nvPr/>
        </p:nvSpPr>
        <p:spPr>
          <a:xfrm>
            <a:off x="1680058" y="6655286"/>
            <a:ext cx="6323064" cy="958850"/>
          </a:xfrm>
          <a:prstGeom prst="rect">
            <a:avLst/>
          </a:prstGeom>
        </p:spPr>
        <p:txBody>
          <a:bodyPr lIns="0" tIns="0" rIns="0" bIns="0" rtlCol="0" anchor="t">
            <a:spAutoFit/>
          </a:bodyPr>
          <a:lstStyle/>
          <a:p>
            <a:pPr marL="0" lvl="0" indent="0" algn="l">
              <a:lnSpc>
                <a:spcPts val="4000"/>
              </a:lnSpc>
              <a:spcBef>
                <a:spcPct val="0"/>
              </a:spcBef>
            </a:pPr>
            <a:r>
              <a:rPr lang="en-US" sz="2000" u="none" strike="noStrike">
                <a:solidFill>
                  <a:srgbClr val="000000"/>
                </a:solidFill>
                <a:latin typeface="Garet"/>
                <a:ea typeface="Garet"/>
                <a:cs typeface="Garet"/>
                <a:sym typeface="Garet"/>
              </a:rPr>
              <a:t>No changes were made to the original project idea or scope.</a:t>
            </a:r>
          </a:p>
        </p:txBody>
      </p:sp>
      <p:sp>
        <p:nvSpPr>
          <p:cNvPr id="25" name="TextBox 25"/>
          <p:cNvSpPr txBox="1"/>
          <p:nvPr/>
        </p:nvSpPr>
        <p:spPr>
          <a:xfrm>
            <a:off x="10553343" y="6131296"/>
            <a:ext cx="4681003" cy="396240"/>
          </a:xfrm>
          <a:prstGeom prst="rect">
            <a:avLst/>
          </a:prstGeom>
        </p:spPr>
        <p:txBody>
          <a:bodyPr lIns="0" tIns="0" rIns="0" bIns="0" rtlCol="0" anchor="t">
            <a:spAutoFit/>
          </a:bodyPr>
          <a:lstStyle/>
          <a:p>
            <a:pPr algn="l">
              <a:lnSpc>
                <a:spcPts val="3359"/>
              </a:lnSpc>
              <a:spcBef>
                <a:spcPct val="0"/>
              </a:spcBef>
            </a:pPr>
            <a:r>
              <a:rPr lang="en-US" sz="2399" b="1" dirty="0">
                <a:solidFill>
                  <a:srgbClr val="000000"/>
                </a:solidFill>
                <a:latin typeface="Garet Bold"/>
                <a:ea typeface="Garet Bold"/>
                <a:cs typeface="Garet Bold"/>
                <a:sym typeface="Garet Bold"/>
              </a:rPr>
              <a:t>NOVELTY &amp; CONTRIBUTION:</a:t>
            </a:r>
          </a:p>
        </p:txBody>
      </p:sp>
      <p:sp>
        <p:nvSpPr>
          <p:cNvPr id="26" name="TextBox 26"/>
          <p:cNvSpPr txBox="1"/>
          <p:nvPr/>
        </p:nvSpPr>
        <p:spPr>
          <a:xfrm>
            <a:off x="9708992" y="6655286"/>
            <a:ext cx="7104576" cy="1463675"/>
          </a:xfrm>
          <a:prstGeom prst="rect">
            <a:avLst/>
          </a:prstGeom>
        </p:spPr>
        <p:txBody>
          <a:bodyPr lIns="0" tIns="0" rIns="0" bIns="0" rtlCol="0" anchor="t">
            <a:spAutoFit/>
          </a:bodyPr>
          <a:lstStyle/>
          <a:p>
            <a:pPr marL="431801" lvl="1" indent="-215900" algn="l">
              <a:lnSpc>
                <a:spcPts val="4000"/>
              </a:lnSpc>
              <a:buFont typeface="Arial"/>
              <a:buChar char="•"/>
            </a:pPr>
            <a:r>
              <a:rPr lang="en-US" sz="2000" u="none" strike="noStrike">
                <a:solidFill>
                  <a:srgbClr val="000000"/>
                </a:solidFill>
                <a:latin typeface="Garet"/>
                <a:ea typeface="Garet"/>
                <a:cs typeface="Garet"/>
                <a:sym typeface="Garet"/>
              </a:rPr>
              <a:t>Buyer-oriented floorplan comparison</a:t>
            </a:r>
          </a:p>
          <a:p>
            <a:pPr marL="431801" lvl="1" indent="-215900" algn="l">
              <a:lnSpc>
                <a:spcPts val="4000"/>
              </a:lnSpc>
              <a:buFont typeface="Arial"/>
              <a:buChar char="•"/>
            </a:pPr>
            <a:r>
              <a:rPr lang="en-US" sz="2000" u="none" strike="noStrike">
                <a:solidFill>
                  <a:srgbClr val="000000"/>
                </a:solidFill>
                <a:latin typeface="Garet"/>
                <a:ea typeface="Garet"/>
                <a:cs typeface="Garet"/>
                <a:sym typeface="Garet"/>
              </a:rPr>
              <a:t>Use of computer vision and generative AI</a:t>
            </a:r>
          </a:p>
          <a:p>
            <a:pPr marL="431801" lvl="1" indent="-215900" algn="l">
              <a:lnSpc>
                <a:spcPts val="4000"/>
              </a:lnSpc>
              <a:buFont typeface="Arial"/>
              <a:buChar char="•"/>
            </a:pPr>
            <a:r>
              <a:rPr lang="en-US" sz="2000" u="none" strike="noStrike">
                <a:solidFill>
                  <a:srgbClr val="000000"/>
                </a:solidFill>
                <a:latin typeface="Garet"/>
                <a:ea typeface="Garet"/>
                <a:cs typeface="Garet"/>
                <a:sym typeface="Garet"/>
              </a:rPr>
              <a:t>Synthetic data generation for change detection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grpSp>
        <p:nvGrpSpPr>
          <p:cNvPr id="3" name="Group 3"/>
          <p:cNvGrpSpPr/>
          <p:nvPr/>
        </p:nvGrpSpPr>
        <p:grpSpPr>
          <a:xfrm>
            <a:off x="-1122907" y="-1099942"/>
            <a:ext cx="2245813" cy="224581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17165093" y="9258300"/>
            <a:ext cx="2245813" cy="224581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9" name="AutoShape 9"/>
          <p:cNvSpPr/>
          <p:nvPr/>
        </p:nvSpPr>
        <p:spPr>
          <a:xfrm flipV="1">
            <a:off x="17155568"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sp>
        <p:nvSpPr>
          <p:cNvPr id="10" name="AutoShape 10"/>
          <p:cNvSpPr/>
          <p:nvPr/>
        </p:nvSpPr>
        <p:spPr>
          <a:xfrm flipV="1">
            <a:off x="1132432"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1" name="Group 11"/>
          <p:cNvGrpSpPr/>
          <p:nvPr/>
        </p:nvGrpSpPr>
        <p:grpSpPr>
          <a:xfrm>
            <a:off x="3786498" y="8326281"/>
            <a:ext cx="11186553" cy="1315980"/>
            <a:chOff x="0" y="0"/>
            <a:chExt cx="2946253" cy="346595"/>
          </a:xfrm>
        </p:grpSpPr>
        <p:sp>
          <p:nvSpPr>
            <p:cNvPr id="12" name="Freeform 12"/>
            <p:cNvSpPr/>
            <p:nvPr/>
          </p:nvSpPr>
          <p:spPr>
            <a:xfrm>
              <a:off x="0" y="0"/>
              <a:ext cx="2946253" cy="346595"/>
            </a:xfrm>
            <a:custGeom>
              <a:avLst/>
              <a:gdLst/>
              <a:ahLst/>
              <a:cxnLst/>
              <a:rect l="l" t="t" r="r" b="b"/>
              <a:pathLst>
                <a:path w="2946253" h="346595">
                  <a:moveTo>
                    <a:pt x="0" y="0"/>
                  </a:moveTo>
                  <a:lnTo>
                    <a:pt x="2946253" y="0"/>
                  </a:lnTo>
                  <a:lnTo>
                    <a:pt x="2946253" y="346595"/>
                  </a:lnTo>
                  <a:lnTo>
                    <a:pt x="0" y="346595"/>
                  </a:lnTo>
                  <a:close/>
                </a:path>
              </a:pathLst>
            </a:custGeom>
            <a:solidFill>
              <a:srgbClr val="000000">
                <a:alpha val="0"/>
              </a:srgbClr>
            </a:solidFill>
            <a:ln w="19050" cap="sq">
              <a:solidFill>
                <a:srgbClr val="A6A6A6"/>
              </a:solidFill>
              <a:prstDash val="solid"/>
              <a:miter/>
            </a:ln>
          </p:spPr>
          <p:txBody>
            <a:bodyPr/>
            <a:lstStyle/>
            <a:p>
              <a:endParaRPr lang="he-IL"/>
            </a:p>
          </p:txBody>
        </p:sp>
        <p:sp>
          <p:nvSpPr>
            <p:cNvPr id="13" name="TextBox 13"/>
            <p:cNvSpPr txBox="1"/>
            <p:nvPr/>
          </p:nvSpPr>
          <p:spPr>
            <a:xfrm>
              <a:off x="0" y="-38100"/>
              <a:ext cx="2946253" cy="38469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a:off x="1970789" y="2635926"/>
            <a:ext cx="6646481" cy="5327205"/>
          </a:xfrm>
          <a:custGeom>
            <a:avLst/>
            <a:gdLst/>
            <a:ahLst/>
            <a:cxnLst/>
            <a:rect l="l" t="t" r="r" b="b"/>
            <a:pathLst>
              <a:path w="6646481" h="5327205">
                <a:moveTo>
                  <a:pt x="0" y="0"/>
                </a:moveTo>
                <a:lnTo>
                  <a:pt x="6646481" y="0"/>
                </a:lnTo>
                <a:lnTo>
                  <a:pt x="6646481"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5" name="Freeform 15"/>
          <p:cNvSpPr/>
          <p:nvPr/>
        </p:nvSpPr>
        <p:spPr>
          <a:xfrm>
            <a:off x="9670730" y="2635926"/>
            <a:ext cx="6646481" cy="5327205"/>
          </a:xfrm>
          <a:custGeom>
            <a:avLst/>
            <a:gdLst/>
            <a:ahLst/>
            <a:cxnLst/>
            <a:rect l="l" t="t" r="r" b="b"/>
            <a:pathLst>
              <a:path w="6646481" h="5327205">
                <a:moveTo>
                  <a:pt x="0" y="0"/>
                </a:moveTo>
                <a:lnTo>
                  <a:pt x="6646481" y="0"/>
                </a:lnTo>
                <a:lnTo>
                  <a:pt x="6646481"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6" name="Freeform 16"/>
          <p:cNvSpPr/>
          <p:nvPr/>
        </p:nvSpPr>
        <p:spPr>
          <a:xfrm>
            <a:off x="15136074" y="7053134"/>
            <a:ext cx="688026" cy="167541"/>
          </a:xfrm>
          <a:custGeom>
            <a:avLst/>
            <a:gdLst/>
            <a:ahLst/>
            <a:cxnLst/>
            <a:rect l="l" t="t" r="r" b="b"/>
            <a:pathLst>
              <a:path w="688026" h="167541">
                <a:moveTo>
                  <a:pt x="0" y="0"/>
                </a:moveTo>
                <a:lnTo>
                  <a:pt x="688026" y="0"/>
                </a:lnTo>
                <a:lnTo>
                  <a:pt x="688026" y="167541"/>
                </a:lnTo>
                <a:lnTo>
                  <a:pt x="0" y="167541"/>
                </a:lnTo>
                <a:lnTo>
                  <a:pt x="0" y="0"/>
                </a:lnTo>
                <a:close/>
              </a:path>
            </a:pathLst>
          </a:custGeom>
          <a:blipFill>
            <a:blip r:embed="rId5"/>
            <a:stretch>
              <a:fillRect l="-1776" t="-8219" r="-3633"/>
            </a:stretch>
          </a:blipFill>
        </p:spPr>
        <p:txBody>
          <a:bodyPr/>
          <a:lstStyle/>
          <a:p>
            <a:endParaRPr lang="he-IL"/>
          </a:p>
        </p:txBody>
      </p:sp>
      <p:sp>
        <p:nvSpPr>
          <p:cNvPr id="17" name="Freeform 17"/>
          <p:cNvSpPr/>
          <p:nvPr/>
        </p:nvSpPr>
        <p:spPr>
          <a:xfrm>
            <a:off x="14920888" y="6626508"/>
            <a:ext cx="1118398" cy="1020793"/>
          </a:xfrm>
          <a:custGeom>
            <a:avLst/>
            <a:gdLst/>
            <a:ahLst/>
            <a:cxnLst/>
            <a:rect l="l" t="t" r="r" b="b"/>
            <a:pathLst>
              <a:path w="1118398" h="1020793">
                <a:moveTo>
                  <a:pt x="0" y="0"/>
                </a:moveTo>
                <a:lnTo>
                  <a:pt x="1118398" y="0"/>
                </a:lnTo>
                <a:lnTo>
                  <a:pt x="1118398" y="1020793"/>
                </a:lnTo>
                <a:lnTo>
                  <a:pt x="0" y="102079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18" name="TextBox 18"/>
          <p:cNvSpPr txBox="1"/>
          <p:nvPr/>
        </p:nvSpPr>
        <p:spPr>
          <a:xfrm>
            <a:off x="5785365" y="682877"/>
            <a:ext cx="6717269"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Example 1</a:t>
            </a:r>
          </a:p>
        </p:txBody>
      </p:sp>
      <p:sp>
        <p:nvSpPr>
          <p:cNvPr id="19" name="TextBox 19"/>
          <p:cNvSpPr txBox="1"/>
          <p:nvPr/>
        </p:nvSpPr>
        <p:spPr>
          <a:xfrm>
            <a:off x="6074803" y="8749320"/>
            <a:ext cx="6609942" cy="422275"/>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000000"/>
                </a:solidFill>
                <a:latin typeface="Garet"/>
                <a:ea typeface="Garet"/>
                <a:cs typeface="Garet"/>
                <a:sym typeface="Garet"/>
              </a:rPr>
              <a:t>output: 0 – No substantial modification</a:t>
            </a:r>
          </a:p>
        </p:txBody>
      </p:sp>
      <p:sp>
        <p:nvSpPr>
          <p:cNvPr id="20" name="TextBox 20"/>
          <p:cNvSpPr txBox="1"/>
          <p:nvPr/>
        </p:nvSpPr>
        <p:spPr>
          <a:xfrm>
            <a:off x="1970789" y="2008052"/>
            <a:ext cx="1534410"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BEFORE:</a:t>
            </a:r>
          </a:p>
        </p:txBody>
      </p:sp>
      <p:sp>
        <p:nvSpPr>
          <p:cNvPr id="21" name="TextBox 21"/>
          <p:cNvSpPr txBox="1"/>
          <p:nvPr/>
        </p:nvSpPr>
        <p:spPr>
          <a:xfrm>
            <a:off x="9670730" y="2008052"/>
            <a:ext cx="1378270"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AFTER: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grpSp>
        <p:nvGrpSpPr>
          <p:cNvPr id="3" name="Group 3"/>
          <p:cNvGrpSpPr/>
          <p:nvPr/>
        </p:nvGrpSpPr>
        <p:grpSpPr>
          <a:xfrm>
            <a:off x="-1122907" y="-1099942"/>
            <a:ext cx="2245813" cy="224581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17165093" y="9258300"/>
            <a:ext cx="2245813" cy="224581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9" name="AutoShape 9"/>
          <p:cNvSpPr/>
          <p:nvPr/>
        </p:nvSpPr>
        <p:spPr>
          <a:xfrm flipV="1">
            <a:off x="17155568"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sp>
        <p:nvSpPr>
          <p:cNvPr id="10" name="AutoShape 10"/>
          <p:cNvSpPr/>
          <p:nvPr/>
        </p:nvSpPr>
        <p:spPr>
          <a:xfrm flipV="1">
            <a:off x="1132432" y="-691170"/>
            <a:ext cx="0" cy="11669339"/>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11" name="Group 11"/>
          <p:cNvGrpSpPr/>
          <p:nvPr/>
        </p:nvGrpSpPr>
        <p:grpSpPr>
          <a:xfrm>
            <a:off x="3786498" y="8326281"/>
            <a:ext cx="11186553" cy="1315980"/>
            <a:chOff x="0" y="0"/>
            <a:chExt cx="2946253" cy="346595"/>
          </a:xfrm>
        </p:grpSpPr>
        <p:sp>
          <p:nvSpPr>
            <p:cNvPr id="12" name="Freeform 12"/>
            <p:cNvSpPr/>
            <p:nvPr/>
          </p:nvSpPr>
          <p:spPr>
            <a:xfrm>
              <a:off x="0" y="0"/>
              <a:ext cx="2946253" cy="346595"/>
            </a:xfrm>
            <a:custGeom>
              <a:avLst/>
              <a:gdLst/>
              <a:ahLst/>
              <a:cxnLst/>
              <a:rect l="l" t="t" r="r" b="b"/>
              <a:pathLst>
                <a:path w="2946253" h="346595">
                  <a:moveTo>
                    <a:pt x="0" y="0"/>
                  </a:moveTo>
                  <a:lnTo>
                    <a:pt x="2946253" y="0"/>
                  </a:lnTo>
                  <a:lnTo>
                    <a:pt x="2946253" y="346595"/>
                  </a:lnTo>
                  <a:lnTo>
                    <a:pt x="0" y="346595"/>
                  </a:lnTo>
                  <a:close/>
                </a:path>
              </a:pathLst>
            </a:custGeom>
            <a:solidFill>
              <a:srgbClr val="000000">
                <a:alpha val="0"/>
              </a:srgbClr>
            </a:solidFill>
            <a:ln w="19050" cap="sq">
              <a:solidFill>
                <a:srgbClr val="A6A6A6"/>
              </a:solidFill>
              <a:prstDash val="solid"/>
              <a:miter/>
            </a:ln>
          </p:spPr>
          <p:txBody>
            <a:bodyPr/>
            <a:lstStyle/>
            <a:p>
              <a:endParaRPr lang="he-IL"/>
            </a:p>
          </p:txBody>
        </p:sp>
        <p:sp>
          <p:nvSpPr>
            <p:cNvPr id="13" name="TextBox 13"/>
            <p:cNvSpPr txBox="1"/>
            <p:nvPr/>
          </p:nvSpPr>
          <p:spPr>
            <a:xfrm>
              <a:off x="0" y="-38100"/>
              <a:ext cx="2946253" cy="38469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a:off x="1970789" y="2635926"/>
            <a:ext cx="6646481" cy="5327205"/>
          </a:xfrm>
          <a:custGeom>
            <a:avLst/>
            <a:gdLst/>
            <a:ahLst/>
            <a:cxnLst/>
            <a:rect l="l" t="t" r="r" b="b"/>
            <a:pathLst>
              <a:path w="6646481" h="5327205">
                <a:moveTo>
                  <a:pt x="0" y="0"/>
                </a:moveTo>
                <a:lnTo>
                  <a:pt x="6646481" y="0"/>
                </a:lnTo>
                <a:lnTo>
                  <a:pt x="6646481"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5" name="Freeform 15"/>
          <p:cNvSpPr/>
          <p:nvPr/>
        </p:nvSpPr>
        <p:spPr>
          <a:xfrm>
            <a:off x="9654306" y="2635926"/>
            <a:ext cx="6646481" cy="5327205"/>
          </a:xfrm>
          <a:custGeom>
            <a:avLst/>
            <a:gdLst/>
            <a:ahLst/>
            <a:cxnLst/>
            <a:rect l="l" t="t" r="r" b="b"/>
            <a:pathLst>
              <a:path w="6646481" h="5327205">
                <a:moveTo>
                  <a:pt x="0" y="0"/>
                </a:moveTo>
                <a:lnTo>
                  <a:pt x="6646482" y="0"/>
                </a:lnTo>
                <a:lnTo>
                  <a:pt x="6646482" y="5327205"/>
                </a:lnTo>
                <a:lnTo>
                  <a:pt x="0" y="5327205"/>
                </a:lnTo>
                <a:lnTo>
                  <a:pt x="0" y="0"/>
                </a:lnTo>
                <a:close/>
              </a:path>
            </a:pathLst>
          </a:custGeom>
          <a:blipFill>
            <a:blip r:embed="rId4"/>
            <a:stretch>
              <a:fillRect l="-11004" t="-978" r="-8771" b="-11100"/>
            </a:stretch>
          </a:blipFill>
        </p:spPr>
        <p:txBody>
          <a:bodyPr/>
          <a:lstStyle/>
          <a:p>
            <a:endParaRPr lang="he-IL"/>
          </a:p>
        </p:txBody>
      </p:sp>
      <p:sp>
        <p:nvSpPr>
          <p:cNvPr id="16" name="Freeform 16"/>
          <p:cNvSpPr/>
          <p:nvPr/>
        </p:nvSpPr>
        <p:spPr>
          <a:xfrm rot="-10800000">
            <a:off x="12977547" y="5260542"/>
            <a:ext cx="321734" cy="637020"/>
          </a:xfrm>
          <a:custGeom>
            <a:avLst/>
            <a:gdLst/>
            <a:ahLst/>
            <a:cxnLst/>
            <a:rect l="l" t="t" r="r" b="b"/>
            <a:pathLst>
              <a:path w="321734" h="637020">
                <a:moveTo>
                  <a:pt x="0" y="0"/>
                </a:moveTo>
                <a:lnTo>
                  <a:pt x="321734" y="0"/>
                </a:lnTo>
                <a:lnTo>
                  <a:pt x="321734" y="637019"/>
                </a:lnTo>
                <a:lnTo>
                  <a:pt x="0" y="637019"/>
                </a:lnTo>
                <a:lnTo>
                  <a:pt x="0" y="0"/>
                </a:lnTo>
                <a:close/>
              </a:path>
            </a:pathLst>
          </a:custGeom>
          <a:blipFill>
            <a:blip r:embed="rId5"/>
            <a:stretch>
              <a:fillRect l="-6114" t="-2251" r="-6932" b="-5883"/>
            </a:stretch>
          </a:blipFill>
        </p:spPr>
        <p:txBody>
          <a:bodyPr/>
          <a:lstStyle/>
          <a:p>
            <a:endParaRPr lang="he-IL"/>
          </a:p>
        </p:txBody>
      </p:sp>
      <p:sp>
        <p:nvSpPr>
          <p:cNvPr id="17" name="TextBox 17"/>
          <p:cNvSpPr txBox="1"/>
          <p:nvPr/>
        </p:nvSpPr>
        <p:spPr>
          <a:xfrm>
            <a:off x="5785365" y="682877"/>
            <a:ext cx="6717269"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Example 2</a:t>
            </a:r>
          </a:p>
        </p:txBody>
      </p:sp>
      <p:sp>
        <p:nvSpPr>
          <p:cNvPr id="18" name="TextBox 18"/>
          <p:cNvSpPr txBox="1"/>
          <p:nvPr/>
        </p:nvSpPr>
        <p:spPr>
          <a:xfrm>
            <a:off x="6345558" y="8749320"/>
            <a:ext cx="6068431" cy="422275"/>
          </a:xfrm>
          <a:prstGeom prst="rect">
            <a:avLst/>
          </a:prstGeom>
        </p:spPr>
        <p:txBody>
          <a:bodyPr lIns="0" tIns="0" rIns="0" bIns="0" rtlCol="0" anchor="t">
            <a:spAutoFit/>
          </a:bodyPr>
          <a:lstStyle/>
          <a:p>
            <a:pPr marL="0" lvl="0" indent="0" algn="ctr">
              <a:lnSpc>
                <a:spcPts val="3499"/>
              </a:lnSpc>
              <a:spcBef>
                <a:spcPct val="0"/>
              </a:spcBef>
            </a:pPr>
            <a:r>
              <a:rPr lang="en-US" sz="2499">
                <a:solidFill>
                  <a:srgbClr val="000000"/>
                </a:solidFill>
                <a:latin typeface="Garet"/>
                <a:ea typeface="Garet"/>
                <a:cs typeface="Garet"/>
                <a:sym typeface="Garet"/>
              </a:rPr>
              <a:t>output: 1 – substantial modification</a:t>
            </a:r>
          </a:p>
        </p:txBody>
      </p:sp>
      <p:sp>
        <p:nvSpPr>
          <p:cNvPr id="19" name="TextBox 19"/>
          <p:cNvSpPr txBox="1"/>
          <p:nvPr/>
        </p:nvSpPr>
        <p:spPr>
          <a:xfrm>
            <a:off x="1970789" y="2008052"/>
            <a:ext cx="1534411"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BEFORE:</a:t>
            </a:r>
          </a:p>
        </p:txBody>
      </p:sp>
      <p:sp>
        <p:nvSpPr>
          <p:cNvPr id="20" name="TextBox 20"/>
          <p:cNvSpPr txBox="1"/>
          <p:nvPr/>
        </p:nvSpPr>
        <p:spPr>
          <a:xfrm>
            <a:off x="9670729" y="2008052"/>
            <a:ext cx="1225867"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AFTER:</a:t>
            </a:r>
          </a:p>
        </p:txBody>
      </p:sp>
      <p:sp>
        <p:nvSpPr>
          <p:cNvPr id="21" name="Freeform 21"/>
          <p:cNvSpPr/>
          <p:nvPr/>
        </p:nvSpPr>
        <p:spPr>
          <a:xfrm>
            <a:off x="12848902" y="5143500"/>
            <a:ext cx="579025" cy="528492"/>
          </a:xfrm>
          <a:custGeom>
            <a:avLst/>
            <a:gdLst/>
            <a:ahLst/>
            <a:cxnLst/>
            <a:rect l="l" t="t" r="r" b="b"/>
            <a:pathLst>
              <a:path w="579025" h="528492">
                <a:moveTo>
                  <a:pt x="0" y="0"/>
                </a:moveTo>
                <a:lnTo>
                  <a:pt x="579025" y="0"/>
                </a:lnTo>
                <a:lnTo>
                  <a:pt x="579025" y="528492"/>
                </a:lnTo>
                <a:lnTo>
                  <a:pt x="0" y="52849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AutoShape 3"/>
          <p:cNvSpPr/>
          <p:nvPr/>
        </p:nvSpPr>
        <p:spPr>
          <a:xfrm>
            <a:off x="-758305" y="1369513"/>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4" name="Group 4"/>
          <p:cNvGrpSpPr/>
          <p:nvPr/>
        </p:nvGrpSpPr>
        <p:grpSpPr>
          <a:xfrm>
            <a:off x="17165093" y="-866775"/>
            <a:ext cx="2245813" cy="224581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graphicFrame>
        <p:nvGraphicFramePr>
          <p:cNvPr id="7" name="Table 7"/>
          <p:cNvGraphicFramePr>
            <a:graphicFrameLocks noGrp="1"/>
          </p:cNvGraphicFramePr>
          <p:nvPr>
            <p:extLst>
              <p:ext uri="{D42A27DB-BD31-4B8C-83A1-F6EECF244321}">
                <p14:modId xmlns:p14="http://schemas.microsoft.com/office/powerpoint/2010/main" val="1369658253"/>
              </p:ext>
            </p:extLst>
          </p:nvPr>
        </p:nvGraphicFramePr>
        <p:xfrm>
          <a:off x="456036" y="2909962"/>
          <a:ext cx="17222364" cy="4214717"/>
        </p:xfrm>
        <a:graphic>
          <a:graphicData uri="http://schemas.openxmlformats.org/drawingml/2006/table">
            <a:tbl>
              <a:tblPr/>
              <a:tblGrid>
                <a:gridCol w="2751926">
                  <a:extLst>
                    <a:ext uri="{9D8B030D-6E8A-4147-A177-3AD203B41FA5}">
                      <a16:colId xmlns:a16="http://schemas.microsoft.com/office/drawing/2014/main" val="20000"/>
                    </a:ext>
                  </a:extLst>
                </a:gridCol>
                <a:gridCol w="1592638">
                  <a:extLst>
                    <a:ext uri="{9D8B030D-6E8A-4147-A177-3AD203B41FA5}">
                      <a16:colId xmlns:a16="http://schemas.microsoft.com/office/drawing/2014/main" val="1731117111"/>
                    </a:ext>
                  </a:extLst>
                </a:gridCol>
                <a:gridCol w="1786512">
                  <a:extLst>
                    <a:ext uri="{9D8B030D-6E8A-4147-A177-3AD203B41FA5}">
                      <a16:colId xmlns:a16="http://schemas.microsoft.com/office/drawing/2014/main" val="20001"/>
                    </a:ext>
                  </a:extLst>
                </a:gridCol>
                <a:gridCol w="2556888">
                  <a:extLst>
                    <a:ext uri="{9D8B030D-6E8A-4147-A177-3AD203B41FA5}">
                      <a16:colId xmlns:a16="http://schemas.microsoft.com/office/drawing/2014/main" val="20002"/>
                    </a:ext>
                  </a:extLst>
                </a:gridCol>
                <a:gridCol w="2946963">
                  <a:extLst>
                    <a:ext uri="{9D8B030D-6E8A-4147-A177-3AD203B41FA5}">
                      <a16:colId xmlns:a16="http://schemas.microsoft.com/office/drawing/2014/main" val="20003"/>
                    </a:ext>
                  </a:extLst>
                </a:gridCol>
                <a:gridCol w="2618188">
                  <a:extLst>
                    <a:ext uri="{9D8B030D-6E8A-4147-A177-3AD203B41FA5}">
                      <a16:colId xmlns:a16="http://schemas.microsoft.com/office/drawing/2014/main" val="20004"/>
                    </a:ext>
                  </a:extLst>
                </a:gridCol>
                <a:gridCol w="2969249">
                  <a:extLst>
                    <a:ext uri="{9D8B030D-6E8A-4147-A177-3AD203B41FA5}">
                      <a16:colId xmlns:a16="http://schemas.microsoft.com/office/drawing/2014/main" val="20006"/>
                    </a:ext>
                  </a:extLst>
                </a:gridCol>
              </a:tblGrid>
              <a:tr h="1382167">
                <a:tc>
                  <a:txBody>
                    <a:bodyPr/>
                    <a:lstStyle/>
                    <a:p>
                      <a:pPr algn="ctr">
                        <a:lnSpc>
                          <a:spcPts val="3499"/>
                        </a:lnSpc>
                        <a:defRPr/>
                      </a:pPr>
                      <a:r>
                        <a:rPr lang="en-US" sz="2499" b="1" dirty="0">
                          <a:solidFill>
                            <a:srgbClr val="000000"/>
                          </a:solidFill>
                          <a:latin typeface="Garet Bold"/>
                          <a:ea typeface="Garet Bold"/>
                          <a:cs typeface="Garet Bold"/>
                          <a:sym typeface="Garet Bold"/>
                        </a:rPr>
                        <a:t>Title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dirty="0">
                          <a:solidFill>
                            <a:srgbClr val="000000"/>
                          </a:solidFill>
                          <a:latin typeface="Garet Bold"/>
                          <a:ea typeface="Garet Bold"/>
                          <a:cs typeface="Garet Bold"/>
                          <a:sym typeface="Garet Bold"/>
                        </a:rPr>
                        <a:t>Date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marL="0" lvl="0" indent="0" algn="ctr">
                        <a:lnSpc>
                          <a:spcPts val="3499"/>
                        </a:lnSpc>
                        <a:spcBef>
                          <a:spcPct val="0"/>
                        </a:spcBef>
                        <a:defRPr/>
                      </a:pPr>
                      <a:r>
                        <a:rPr lang="en-US" sz="2499" b="1" u="none" strike="noStrike" dirty="0">
                          <a:solidFill>
                            <a:srgbClr val="000000"/>
                          </a:solidFill>
                          <a:latin typeface="Garet Bold"/>
                          <a:ea typeface="Garet Bold"/>
                          <a:cs typeface="Garet Bold"/>
                          <a:sym typeface="Garet Bold"/>
                        </a:rPr>
                        <a:t>Data</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marL="0" lvl="0" indent="0" algn="ctr">
                        <a:lnSpc>
                          <a:spcPts val="3499"/>
                        </a:lnSpc>
                        <a:spcBef>
                          <a:spcPct val="0"/>
                        </a:spcBef>
                        <a:defRPr/>
                      </a:pPr>
                      <a:r>
                        <a:rPr lang="en-US" sz="2499" b="1" u="none" strike="noStrike">
                          <a:solidFill>
                            <a:srgbClr val="000000"/>
                          </a:solidFill>
                          <a:latin typeface="Garet Bold"/>
                          <a:ea typeface="Garet Bold"/>
                          <a:cs typeface="Garet Bold"/>
                          <a:sym typeface="Garet Bold"/>
                        </a:rPr>
                        <a:t>Results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a:solidFill>
                            <a:srgbClr val="000000"/>
                          </a:solidFill>
                          <a:latin typeface="Garet Bold"/>
                          <a:ea typeface="Garet Bold"/>
                          <a:cs typeface="Garet Bold"/>
                          <a:sym typeface="Garet Bold"/>
                        </a:rPr>
                        <a:t>Methods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a:solidFill>
                            <a:srgbClr val="000000"/>
                          </a:solidFill>
                          <a:latin typeface="Garet Bold"/>
                          <a:ea typeface="Garet Bold"/>
                          <a:cs typeface="Garet Bold"/>
                          <a:sym typeface="Garet Bold"/>
                        </a:rPr>
                        <a:t>Task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marL="0" lvl="0" indent="0" algn="ctr">
                        <a:lnSpc>
                          <a:spcPts val="3499"/>
                        </a:lnSpc>
                        <a:spcBef>
                          <a:spcPct val="0"/>
                        </a:spcBef>
                        <a:defRPr/>
                      </a:pPr>
                      <a:r>
                        <a:rPr lang="en-US" sz="2499" b="1" u="none" strike="noStrike">
                          <a:solidFill>
                            <a:srgbClr val="000000"/>
                          </a:solidFill>
                          <a:latin typeface="Garet Bold"/>
                          <a:ea typeface="Garet Bold"/>
                          <a:cs typeface="Garet Bold"/>
                          <a:sym typeface="Garet Bold"/>
                        </a:rPr>
                        <a:t>Relation to  project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extLst>
                  <a:ext uri="{0D108BD9-81ED-4DB2-BD59-A6C34878D82A}">
                    <a16:rowId xmlns:a16="http://schemas.microsoft.com/office/drawing/2014/main" val="10000"/>
                  </a:ext>
                </a:extLst>
              </a:tr>
              <a:tr h="2832550">
                <a:tc>
                  <a:txBody>
                    <a:bodyPr/>
                    <a:lstStyle/>
                    <a:p>
                      <a:pPr algn="ctr">
                        <a:lnSpc>
                          <a:spcPts val="2799"/>
                        </a:lnSpc>
                        <a:defRPr/>
                      </a:pPr>
                      <a:r>
                        <a:rPr lang="en-US" sz="1999" u="sng">
                          <a:solidFill>
                            <a:srgbClr val="000000"/>
                          </a:solidFill>
                          <a:latin typeface="Garet"/>
                          <a:ea typeface="Garet"/>
                          <a:cs typeface="Garet"/>
                          <a:sym typeface="Garet"/>
                          <a:hlinkClick r:id="rId4" tooltip="https://www.researchgate.net/publication/398771741_Segmentation_of_Architectural_Floor_Plans_for_Room_Function_Analysis_using_RF_DETR"/>
                        </a:rPr>
                        <a:t>Segmentation of Architectural Floor Plans for Room Function Analysis using RF DETR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Garet"/>
                          <a:ea typeface="Garet"/>
                          <a:cs typeface="Garet"/>
                          <a:sym typeface="Garet"/>
                        </a:rPr>
                        <a:t>Dec 2025</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Annotated floor plan images.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High accuracy in room detection and classification.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RF-DETR for room detection and segmentation.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Detect and classify rooms in floor plans.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799"/>
                        </a:lnSpc>
                        <a:defRPr/>
                      </a:pPr>
                      <a:r>
                        <a:rPr lang="en-US" sz="1999" dirty="0">
                          <a:solidFill>
                            <a:srgbClr val="000000"/>
                          </a:solidFill>
                          <a:latin typeface="Garet"/>
                          <a:ea typeface="Garet"/>
                          <a:cs typeface="Garet"/>
                          <a:sym typeface="Garet"/>
                        </a:rPr>
                        <a:t>Provides room-level understanding for floor plan comparison.</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Freeform 8"/>
          <p:cNvSpPr/>
          <p:nvPr/>
        </p:nvSpPr>
        <p:spPr>
          <a:xfrm rot="429487">
            <a:off x="13278622" y="6419937"/>
            <a:ext cx="2535607" cy="2620782"/>
          </a:xfrm>
          <a:custGeom>
            <a:avLst/>
            <a:gdLst/>
            <a:ahLst/>
            <a:cxnLst/>
            <a:rect l="l" t="t" r="r" b="b"/>
            <a:pathLst>
              <a:path w="2535607" h="2620782">
                <a:moveTo>
                  <a:pt x="0" y="0"/>
                </a:moveTo>
                <a:lnTo>
                  <a:pt x="2535607" y="0"/>
                </a:lnTo>
                <a:lnTo>
                  <a:pt x="2535607" y="2620782"/>
                </a:lnTo>
                <a:lnTo>
                  <a:pt x="0" y="2620782"/>
                </a:lnTo>
                <a:lnTo>
                  <a:pt x="0" y="0"/>
                </a:lnTo>
                <a:close/>
              </a:path>
            </a:pathLst>
          </a:custGeom>
          <a:blipFill>
            <a:blip r:embed="rId5"/>
            <a:stretch>
              <a:fillRect/>
            </a:stretch>
          </a:blipFill>
        </p:spPr>
        <p:txBody>
          <a:bodyPr/>
          <a:lstStyle/>
          <a:p>
            <a:endParaRPr lang="he-IL"/>
          </a:p>
        </p:txBody>
      </p:sp>
      <p:sp>
        <p:nvSpPr>
          <p:cNvPr id="9" name="TextBox 9"/>
          <p:cNvSpPr txBox="1"/>
          <p:nvPr/>
        </p:nvSpPr>
        <p:spPr>
          <a:xfrm>
            <a:off x="2403128" y="1585987"/>
            <a:ext cx="9795630" cy="1009651"/>
          </a:xfrm>
          <a:prstGeom prst="rect">
            <a:avLst/>
          </a:prstGeom>
        </p:spPr>
        <p:txBody>
          <a:bodyPr lIns="0" tIns="0" rIns="0" bIns="0" rtlCol="0" anchor="t">
            <a:spAutoFit/>
          </a:bodyPr>
          <a:lstStyle/>
          <a:p>
            <a:pPr marL="0" lvl="0" indent="0" algn="r" rtl="1">
              <a:lnSpc>
                <a:spcPts val="8399"/>
              </a:lnSpc>
              <a:spcBef>
                <a:spcPct val="0"/>
              </a:spcBef>
            </a:pPr>
            <a:r>
              <a:rPr lang="en-US" sz="5999" b="1">
                <a:solidFill>
                  <a:srgbClr val="000000"/>
                </a:solidFill>
                <a:latin typeface="Garet Bold"/>
                <a:ea typeface="Garet Bold"/>
                <a:cs typeface="Garet Bold"/>
                <a:sym typeface="Garet Bold"/>
              </a:rPr>
              <a:t>Previous Work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graphicFrame>
        <p:nvGraphicFramePr>
          <p:cNvPr id="3" name="Table 3"/>
          <p:cNvGraphicFramePr>
            <a:graphicFrameLocks noGrp="1"/>
          </p:cNvGraphicFramePr>
          <p:nvPr>
            <p:extLst>
              <p:ext uri="{D42A27DB-BD31-4B8C-83A1-F6EECF244321}">
                <p14:modId xmlns:p14="http://schemas.microsoft.com/office/powerpoint/2010/main" val="3585110198"/>
              </p:ext>
            </p:extLst>
          </p:nvPr>
        </p:nvGraphicFramePr>
        <p:xfrm>
          <a:off x="514623" y="1083315"/>
          <a:ext cx="17258754" cy="8120370"/>
        </p:xfrm>
        <a:graphic>
          <a:graphicData uri="http://schemas.openxmlformats.org/drawingml/2006/table">
            <a:tbl>
              <a:tblPr/>
              <a:tblGrid>
                <a:gridCol w="3048597">
                  <a:extLst>
                    <a:ext uri="{9D8B030D-6E8A-4147-A177-3AD203B41FA5}">
                      <a16:colId xmlns:a16="http://schemas.microsoft.com/office/drawing/2014/main" val="20000"/>
                    </a:ext>
                  </a:extLst>
                </a:gridCol>
                <a:gridCol w="1798209">
                  <a:extLst>
                    <a:ext uri="{9D8B030D-6E8A-4147-A177-3AD203B41FA5}">
                      <a16:colId xmlns:a16="http://schemas.microsoft.com/office/drawing/2014/main" val="4284022630"/>
                    </a:ext>
                  </a:extLst>
                </a:gridCol>
                <a:gridCol w="1798209">
                  <a:extLst>
                    <a:ext uri="{9D8B030D-6E8A-4147-A177-3AD203B41FA5}">
                      <a16:colId xmlns:a16="http://schemas.microsoft.com/office/drawing/2014/main" val="20001"/>
                    </a:ext>
                  </a:extLst>
                </a:gridCol>
                <a:gridCol w="2171618">
                  <a:extLst>
                    <a:ext uri="{9D8B030D-6E8A-4147-A177-3AD203B41FA5}">
                      <a16:colId xmlns:a16="http://schemas.microsoft.com/office/drawing/2014/main" val="20002"/>
                    </a:ext>
                  </a:extLst>
                </a:gridCol>
                <a:gridCol w="3024754">
                  <a:extLst>
                    <a:ext uri="{9D8B030D-6E8A-4147-A177-3AD203B41FA5}">
                      <a16:colId xmlns:a16="http://schemas.microsoft.com/office/drawing/2014/main" val="20003"/>
                    </a:ext>
                  </a:extLst>
                </a:gridCol>
                <a:gridCol w="2714522">
                  <a:extLst>
                    <a:ext uri="{9D8B030D-6E8A-4147-A177-3AD203B41FA5}">
                      <a16:colId xmlns:a16="http://schemas.microsoft.com/office/drawing/2014/main" val="20004"/>
                    </a:ext>
                  </a:extLst>
                </a:gridCol>
                <a:gridCol w="2702845">
                  <a:extLst>
                    <a:ext uri="{9D8B030D-6E8A-4147-A177-3AD203B41FA5}">
                      <a16:colId xmlns:a16="http://schemas.microsoft.com/office/drawing/2014/main" val="20006"/>
                    </a:ext>
                  </a:extLst>
                </a:gridCol>
              </a:tblGrid>
              <a:tr h="1433369">
                <a:tc>
                  <a:txBody>
                    <a:bodyPr/>
                    <a:lstStyle/>
                    <a:p>
                      <a:pPr algn="ctr">
                        <a:lnSpc>
                          <a:spcPts val="3499"/>
                        </a:lnSpc>
                        <a:defRPr/>
                      </a:pPr>
                      <a:r>
                        <a:rPr lang="en-US" sz="2499" b="1" dirty="0">
                          <a:solidFill>
                            <a:srgbClr val="000000"/>
                          </a:solidFill>
                          <a:latin typeface="Garet Bold"/>
                          <a:ea typeface="Garet Bold"/>
                          <a:cs typeface="Garet Bold"/>
                          <a:sym typeface="Garet Bold"/>
                        </a:rPr>
                        <a:t>Title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dirty="0">
                          <a:solidFill>
                            <a:srgbClr val="000000"/>
                          </a:solidFill>
                          <a:latin typeface="Garet Bold"/>
                          <a:ea typeface="Garet Bold"/>
                          <a:cs typeface="Garet Bold"/>
                          <a:sym typeface="Garet Bold"/>
                        </a:rPr>
                        <a:t>Date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dirty="0">
                          <a:solidFill>
                            <a:srgbClr val="000000"/>
                          </a:solidFill>
                          <a:latin typeface="Garet Bold"/>
                          <a:ea typeface="Garet Bold"/>
                          <a:cs typeface="Garet Bold"/>
                          <a:sym typeface="Garet Bold"/>
                        </a:rPr>
                        <a:t>Data</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dirty="0">
                          <a:solidFill>
                            <a:srgbClr val="000000"/>
                          </a:solidFill>
                          <a:latin typeface="Garet Bold"/>
                          <a:ea typeface="Garet Bold"/>
                          <a:cs typeface="Garet Bold"/>
                          <a:sym typeface="Garet Bold"/>
                        </a:rPr>
                        <a:t>Results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dirty="0">
                          <a:solidFill>
                            <a:srgbClr val="000000"/>
                          </a:solidFill>
                          <a:latin typeface="Garet Bold"/>
                          <a:ea typeface="Garet Bold"/>
                          <a:cs typeface="Garet Bold"/>
                          <a:sym typeface="Garet Bold"/>
                        </a:rPr>
                        <a:t>Methods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a:solidFill>
                            <a:srgbClr val="000000"/>
                          </a:solidFill>
                          <a:latin typeface="Garet Bold"/>
                          <a:ea typeface="Garet Bold"/>
                          <a:cs typeface="Garet Bold"/>
                          <a:sym typeface="Garet Bold"/>
                        </a:rPr>
                        <a:t>Task</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ctr">
                        <a:lnSpc>
                          <a:spcPts val="3499"/>
                        </a:lnSpc>
                        <a:defRPr/>
                      </a:pPr>
                      <a:r>
                        <a:rPr lang="en-US" sz="2499" b="1">
                          <a:solidFill>
                            <a:srgbClr val="000000"/>
                          </a:solidFill>
                          <a:latin typeface="Garet Bold"/>
                          <a:ea typeface="Garet Bold"/>
                          <a:cs typeface="Garet Bold"/>
                          <a:sym typeface="Garet Bold"/>
                        </a:rPr>
                        <a:t>Relation to  project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extLst>
                  <a:ext uri="{0D108BD9-81ED-4DB2-BD59-A6C34878D82A}">
                    <a16:rowId xmlns:a16="http://schemas.microsoft.com/office/drawing/2014/main" val="10000"/>
                  </a:ext>
                </a:extLst>
              </a:tr>
              <a:tr h="3676661">
                <a:tc>
                  <a:txBody>
                    <a:bodyPr/>
                    <a:lstStyle/>
                    <a:p>
                      <a:pPr algn="ctr">
                        <a:lnSpc>
                          <a:spcPts val="2799"/>
                        </a:lnSpc>
                        <a:defRPr/>
                      </a:pPr>
                      <a:r>
                        <a:rPr lang="en-US" sz="1999" u="sng">
                          <a:solidFill>
                            <a:srgbClr val="000000"/>
                          </a:solidFill>
                          <a:latin typeface="Garet"/>
                          <a:ea typeface="Garet"/>
                          <a:cs typeface="Garet"/>
                          <a:sym typeface="Garet"/>
                          <a:hlinkClick r:id="" action="ppaction://noaction"/>
                        </a:rPr>
                        <a:t>Few-shot learning with large foundation models for automated segmentation and accessibility analysis in architectural floor plans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Garet"/>
                          <a:ea typeface="Garet"/>
                          <a:cs typeface="Garet"/>
                          <a:sym typeface="Garet"/>
                        </a:rPr>
                        <a:t> June 2025</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Limited annotated floor plan images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High accuracy using very few training samples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Garet"/>
                          <a:ea typeface="Garet"/>
                          <a:cs typeface="Garet"/>
                          <a:sym typeface="Garet"/>
                        </a:rPr>
                        <a:t>Few-shot learning with vision foundation models</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Floor plan segmentation and accessibility analysis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Supports floor plan analysis using large pre-trained models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10340">
                <a:tc>
                  <a:txBody>
                    <a:bodyPr/>
                    <a:lstStyle/>
                    <a:p>
                      <a:pPr algn="ctr">
                        <a:lnSpc>
                          <a:spcPts val="2799"/>
                        </a:lnSpc>
                        <a:defRPr/>
                      </a:pPr>
                      <a:r>
                        <a:rPr lang="en-US" sz="1999" u="sng" dirty="0">
                          <a:solidFill>
                            <a:srgbClr val="000000"/>
                          </a:solidFill>
                          <a:latin typeface="Garet"/>
                          <a:ea typeface="Garet"/>
                          <a:cs typeface="Garet"/>
                          <a:sym typeface="Garet"/>
                          <a:hlinkClick r:id="rId4" tooltip="https://www.canva.com/design/DAG8QsoQxJ8/fpq6-t_HV5tYz97piPGlAg/view?utm_content=DAG8QsoQxJ8&amp;utm_campaign=designshare&amp;utm_medium=link2&amp;utm_source=uniquelinks&amp;utlId=h42427fe8b9"/>
                        </a:rPr>
                        <a:t>Fine-Tuning Stable Diffusion for Generating 2D Floor Plans Using Prompt Templates </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Garet"/>
                          <a:ea typeface="Garet"/>
                          <a:cs typeface="Garet"/>
                          <a:sym typeface="Garet"/>
                        </a:rPr>
                        <a:t> Sep 2025</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~300 cleaned 2D floor plan images (256×256)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Higher structural accuracy than base model (SSIM improved)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Fine-tuning Stable Diffusion v1.5 using LoRA + structured prompt templates + prompt engineering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Garet"/>
                          <a:ea typeface="Garet"/>
                          <a:cs typeface="Garet"/>
                          <a:sym typeface="Garet"/>
                        </a:rPr>
                        <a:t>Generate 2D floor plans from structured text prompts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dirty="0">
                          <a:solidFill>
                            <a:srgbClr val="000000"/>
                          </a:solidFill>
                          <a:latin typeface="Garet"/>
                          <a:ea typeface="Garet"/>
                          <a:cs typeface="Garet"/>
                          <a:sym typeface="Garet"/>
                        </a:rPr>
                        <a:t>uses Stable Diffusion for floor plan generation with prompt control</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a:off x="11626306" y="1133143"/>
            <a:ext cx="5536234" cy="4110654"/>
          </a:xfrm>
          <a:custGeom>
            <a:avLst/>
            <a:gdLst/>
            <a:ahLst/>
            <a:cxnLst/>
            <a:rect l="l" t="t" r="r" b="b"/>
            <a:pathLst>
              <a:path w="5536234" h="4110654">
                <a:moveTo>
                  <a:pt x="0" y="0"/>
                </a:moveTo>
                <a:lnTo>
                  <a:pt x="5536234" y="0"/>
                </a:lnTo>
                <a:lnTo>
                  <a:pt x="5536234" y="4110654"/>
                </a:lnTo>
                <a:lnTo>
                  <a:pt x="0" y="4110654"/>
                </a:lnTo>
                <a:lnTo>
                  <a:pt x="0" y="0"/>
                </a:lnTo>
                <a:close/>
              </a:path>
            </a:pathLst>
          </a:custGeom>
          <a:blipFill>
            <a:blip r:embed="rId4"/>
            <a:stretch>
              <a:fillRect/>
            </a:stretch>
          </a:blipFill>
        </p:spPr>
        <p:txBody>
          <a:bodyPr/>
          <a:lstStyle/>
          <a:p>
            <a:endParaRPr lang="he-IL"/>
          </a:p>
        </p:txBody>
      </p:sp>
      <p:sp>
        <p:nvSpPr>
          <p:cNvPr id="4" name="Freeform 4"/>
          <p:cNvSpPr/>
          <p:nvPr/>
        </p:nvSpPr>
        <p:spPr>
          <a:xfrm>
            <a:off x="11626306" y="5443421"/>
            <a:ext cx="5536234" cy="4110654"/>
          </a:xfrm>
          <a:custGeom>
            <a:avLst/>
            <a:gdLst/>
            <a:ahLst/>
            <a:cxnLst/>
            <a:rect l="l" t="t" r="r" b="b"/>
            <a:pathLst>
              <a:path w="5536234" h="4110654">
                <a:moveTo>
                  <a:pt x="0" y="0"/>
                </a:moveTo>
                <a:lnTo>
                  <a:pt x="5536234" y="0"/>
                </a:lnTo>
                <a:lnTo>
                  <a:pt x="5536234" y="4110653"/>
                </a:lnTo>
                <a:lnTo>
                  <a:pt x="0" y="4110653"/>
                </a:lnTo>
                <a:lnTo>
                  <a:pt x="0" y="0"/>
                </a:lnTo>
                <a:close/>
              </a:path>
            </a:pathLst>
          </a:custGeom>
          <a:blipFill>
            <a:blip r:embed="rId5"/>
            <a:stretch>
              <a:fillRect/>
            </a:stretch>
          </a:blipFill>
        </p:spPr>
        <p:txBody>
          <a:bodyPr/>
          <a:lstStyle/>
          <a:p>
            <a:endParaRPr lang="he-IL"/>
          </a:p>
        </p:txBody>
      </p:sp>
      <p:sp>
        <p:nvSpPr>
          <p:cNvPr id="5" name="Freeform 5"/>
          <p:cNvSpPr/>
          <p:nvPr/>
        </p:nvSpPr>
        <p:spPr>
          <a:xfrm>
            <a:off x="6150600" y="6772923"/>
            <a:ext cx="4765212" cy="2781151"/>
          </a:xfrm>
          <a:custGeom>
            <a:avLst/>
            <a:gdLst/>
            <a:ahLst/>
            <a:cxnLst/>
            <a:rect l="l" t="t" r="r" b="b"/>
            <a:pathLst>
              <a:path w="4765212" h="2781151">
                <a:moveTo>
                  <a:pt x="0" y="0"/>
                </a:moveTo>
                <a:lnTo>
                  <a:pt x="4765212" y="0"/>
                </a:lnTo>
                <a:lnTo>
                  <a:pt x="4765212" y="2781151"/>
                </a:lnTo>
                <a:lnTo>
                  <a:pt x="0" y="27811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6" name="TextBox 6"/>
          <p:cNvSpPr txBox="1"/>
          <p:nvPr/>
        </p:nvSpPr>
        <p:spPr>
          <a:xfrm>
            <a:off x="1028700" y="685468"/>
            <a:ext cx="3422702" cy="1352552"/>
          </a:xfrm>
          <a:prstGeom prst="rect">
            <a:avLst/>
          </a:prstGeom>
        </p:spPr>
        <p:txBody>
          <a:bodyPr lIns="0" tIns="0" rIns="0" bIns="0" rtlCol="0" anchor="t">
            <a:spAutoFit/>
          </a:bodyPr>
          <a:lstStyle/>
          <a:p>
            <a:pPr marL="0" lvl="0" indent="0" algn="l">
              <a:lnSpc>
                <a:spcPts val="11999"/>
              </a:lnSpc>
            </a:pPr>
            <a:r>
              <a:rPr lang="en-US" sz="5999" b="1">
                <a:solidFill>
                  <a:srgbClr val="000000"/>
                </a:solidFill>
                <a:latin typeface="Garet Bold"/>
                <a:ea typeface="Garet Bold"/>
                <a:cs typeface="Garet Bold"/>
                <a:sym typeface="Garet Bold"/>
              </a:rPr>
              <a:t>Dataset</a:t>
            </a:r>
          </a:p>
        </p:txBody>
      </p:sp>
      <p:sp>
        <p:nvSpPr>
          <p:cNvPr id="7" name="TextBox 7"/>
          <p:cNvSpPr txBox="1"/>
          <p:nvPr/>
        </p:nvSpPr>
        <p:spPr>
          <a:xfrm>
            <a:off x="1028700" y="2795458"/>
            <a:ext cx="6362700" cy="553998"/>
          </a:xfrm>
          <a:prstGeom prst="rect">
            <a:avLst/>
          </a:prstGeom>
        </p:spPr>
        <p:txBody>
          <a:bodyPr wrap="square" lIns="0" tIns="0" rIns="0" bIns="0" rtlCol="0" anchor="t">
            <a:spAutoFit/>
          </a:bodyPr>
          <a:lstStyle/>
          <a:p>
            <a:pPr algn="ctr">
              <a:lnSpc>
                <a:spcPts val="4799"/>
              </a:lnSpc>
            </a:pPr>
            <a:r>
              <a:rPr lang="en-US" sz="2399" b="1" dirty="0">
                <a:solidFill>
                  <a:srgbClr val="000000"/>
                </a:solidFill>
                <a:latin typeface="Garet Bold"/>
                <a:ea typeface="Garet Bold"/>
                <a:cs typeface="Garet Bold"/>
                <a:sym typeface="Garet Bold"/>
              </a:rPr>
              <a:t>DATASET CREATION &amp; LABELING:</a:t>
            </a:r>
          </a:p>
        </p:txBody>
      </p:sp>
      <p:sp>
        <p:nvSpPr>
          <p:cNvPr id="8" name="TextBox 8"/>
          <p:cNvSpPr txBox="1"/>
          <p:nvPr/>
        </p:nvSpPr>
        <p:spPr>
          <a:xfrm>
            <a:off x="1028700" y="3633297"/>
            <a:ext cx="8267700" cy="1487587"/>
          </a:xfrm>
          <a:prstGeom prst="rect">
            <a:avLst/>
          </a:prstGeom>
        </p:spPr>
        <p:txBody>
          <a:bodyPr wrap="square" lIns="0" tIns="0" rIns="0" bIns="0" rtlCol="0" anchor="t">
            <a:spAutoFit/>
          </a:bodyPr>
          <a:lstStyle/>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Source: </a:t>
            </a:r>
            <a:r>
              <a:rPr lang="en-US" sz="2000" u="sng" strike="noStrike" dirty="0">
                <a:solidFill>
                  <a:srgbClr val="000000"/>
                </a:solidFill>
                <a:latin typeface="Garet"/>
                <a:ea typeface="Garet"/>
                <a:cs typeface="Garet"/>
                <a:sym typeface="Garet"/>
                <a:hlinkClick r:id="rId8" tooltip="https://huggingface.co/datasets/jprve/FloorPlansV2"/>
              </a:rPr>
              <a:t>FloorPlansV2</a:t>
            </a:r>
            <a:r>
              <a:rPr lang="en-US" sz="2000" u="none" strike="noStrike" dirty="0">
                <a:solidFill>
                  <a:srgbClr val="000000"/>
                </a:solidFill>
                <a:latin typeface="Garet"/>
                <a:ea typeface="Garet"/>
                <a:cs typeface="Garet"/>
                <a:sym typeface="Garet"/>
              </a:rPr>
              <a:t> (</a:t>
            </a:r>
            <a:r>
              <a:rPr lang="en-US" sz="2000" u="none" strike="noStrike" dirty="0" err="1">
                <a:solidFill>
                  <a:srgbClr val="000000"/>
                </a:solidFill>
                <a:latin typeface="Garet"/>
                <a:ea typeface="Garet"/>
                <a:cs typeface="Garet"/>
                <a:sym typeface="Garet"/>
              </a:rPr>
              <a:t>HuggingFace</a:t>
            </a:r>
            <a:r>
              <a:rPr lang="en-US" sz="2000" u="none" strike="noStrike" dirty="0">
                <a:solidFill>
                  <a:srgbClr val="000000"/>
                </a:solidFill>
                <a:latin typeface="Garet"/>
                <a:ea typeface="Garet"/>
                <a:cs typeface="Garet"/>
                <a:sym typeface="Garet"/>
              </a:rPr>
              <a:t>)</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Data cleaning: removal of duplicates and noisy floorplans</a:t>
            </a:r>
          </a:p>
          <a:p>
            <a:pPr marL="431801" lvl="1" indent="-215900" algn="l">
              <a:lnSpc>
                <a:spcPts val="4000"/>
              </a:lnSpc>
              <a:spcBef>
                <a:spcPct val="0"/>
              </a:spcBef>
              <a:buFont typeface="Arial"/>
              <a:buChar char="•"/>
            </a:pPr>
            <a:r>
              <a:rPr lang="en-US" sz="2000" u="none" strike="noStrike" dirty="0">
                <a:solidFill>
                  <a:srgbClr val="000000"/>
                </a:solidFill>
                <a:latin typeface="Garet"/>
                <a:ea typeface="Garet"/>
                <a:cs typeface="Garet"/>
                <a:sym typeface="Garet"/>
              </a:rPr>
              <a:t>Manual object annotation using CVAT (COCO format)</a:t>
            </a:r>
          </a:p>
        </p:txBody>
      </p:sp>
      <p:sp>
        <p:nvSpPr>
          <p:cNvPr id="9" name="TextBox 9"/>
          <p:cNvSpPr txBox="1"/>
          <p:nvPr/>
        </p:nvSpPr>
        <p:spPr>
          <a:xfrm>
            <a:off x="1028700" y="5392247"/>
            <a:ext cx="7192052" cy="527686"/>
          </a:xfrm>
          <a:prstGeom prst="rect">
            <a:avLst/>
          </a:prstGeom>
        </p:spPr>
        <p:txBody>
          <a:bodyPr lIns="0" tIns="0" rIns="0" bIns="0" rtlCol="0" anchor="t">
            <a:spAutoFit/>
          </a:bodyPr>
          <a:lstStyle/>
          <a:p>
            <a:pPr algn="l">
              <a:lnSpc>
                <a:spcPts val="4799"/>
              </a:lnSpc>
            </a:pPr>
            <a:r>
              <a:rPr lang="en-US" sz="2399" b="1" dirty="0">
                <a:solidFill>
                  <a:srgbClr val="000000"/>
                </a:solidFill>
                <a:latin typeface="Garet Bold"/>
                <a:ea typeface="Garet Bold"/>
                <a:cs typeface="Garet Bold"/>
                <a:sym typeface="Garet Bold"/>
              </a:rPr>
              <a:t>SYNTHETIC DATASET GENERATION PIPELINE:</a:t>
            </a:r>
          </a:p>
        </p:txBody>
      </p:sp>
      <p:sp>
        <p:nvSpPr>
          <p:cNvPr id="10" name="TextBox 10"/>
          <p:cNvSpPr txBox="1"/>
          <p:nvPr/>
        </p:nvSpPr>
        <p:spPr>
          <a:xfrm>
            <a:off x="1028700" y="6123117"/>
            <a:ext cx="7942648" cy="1968500"/>
          </a:xfrm>
          <a:prstGeom prst="rect">
            <a:avLst/>
          </a:prstGeom>
        </p:spPr>
        <p:txBody>
          <a:bodyPr lIns="0" tIns="0" rIns="0" bIns="0" rtlCol="0" anchor="t">
            <a:spAutoFit/>
          </a:bodyPr>
          <a:lstStyle/>
          <a:p>
            <a:pPr marL="431801" lvl="1" indent="-215900" algn="l">
              <a:lnSpc>
                <a:spcPts val="4000"/>
              </a:lnSpc>
              <a:buFont typeface="Arial"/>
              <a:buChar char="•"/>
            </a:pPr>
            <a:r>
              <a:rPr lang="en-US" sz="2000" u="none" strike="noStrike">
                <a:solidFill>
                  <a:srgbClr val="000000"/>
                </a:solidFill>
                <a:latin typeface="Garet"/>
                <a:ea typeface="Garet"/>
                <a:cs typeface="Garet"/>
                <a:sym typeface="Garet"/>
              </a:rPr>
              <a:t>finetuned DETR-based object detection model</a:t>
            </a:r>
          </a:p>
          <a:p>
            <a:pPr marL="431801" lvl="1" indent="-215900" algn="l">
              <a:lnSpc>
                <a:spcPts val="4000"/>
              </a:lnSpc>
              <a:buFont typeface="Arial"/>
              <a:buChar char="•"/>
            </a:pPr>
            <a:r>
              <a:rPr lang="en-US" sz="2000" u="none" strike="noStrike">
                <a:solidFill>
                  <a:srgbClr val="000000"/>
                </a:solidFill>
                <a:latin typeface="Garet"/>
                <a:ea typeface="Garet"/>
                <a:cs typeface="Garet"/>
                <a:sym typeface="Garet"/>
              </a:rPr>
              <a:t>Trained on manually labeled COCO annotations</a:t>
            </a:r>
          </a:p>
          <a:p>
            <a:pPr marL="431801" lvl="1" indent="-215900" algn="l">
              <a:lnSpc>
                <a:spcPts val="4000"/>
              </a:lnSpc>
              <a:buFont typeface="Arial"/>
              <a:buChar char="•"/>
            </a:pPr>
            <a:r>
              <a:rPr lang="en-US" sz="2000" u="none" strike="noStrike">
                <a:solidFill>
                  <a:srgbClr val="000000"/>
                </a:solidFill>
                <a:latin typeface="Garet"/>
                <a:ea typeface="Garet"/>
                <a:cs typeface="Garet"/>
                <a:sym typeface="Garet"/>
              </a:rPr>
              <a:t>mask generation using sam</a:t>
            </a:r>
          </a:p>
          <a:p>
            <a:pPr marL="431801" lvl="1" indent="-215900" algn="l">
              <a:lnSpc>
                <a:spcPts val="4000"/>
              </a:lnSpc>
              <a:buFont typeface="Arial"/>
              <a:buChar char="•"/>
            </a:pPr>
            <a:r>
              <a:rPr lang="en-US" sz="2000" u="none" strike="noStrike">
                <a:solidFill>
                  <a:srgbClr val="000000"/>
                </a:solidFill>
                <a:latin typeface="Garet"/>
                <a:ea typeface="Garet"/>
                <a:cs typeface="Garet"/>
                <a:sym typeface="Garet"/>
              </a:rPr>
              <a:t>stable diffusion v1.5 inpainting</a:t>
            </a:r>
          </a:p>
        </p:txBody>
      </p:sp>
      <p:sp>
        <p:nvSpPr>
          <p:cNvPr id="11" name="TextBox 11"/>
          <p:cNvSpPr txBox="1"/>
          <p:nvPr/>
        </p:nvSpPr>
        <p:spPr>
          <a:xfrm>
            <a:off x="11374231" y="498219"/>
            <a:ext cx="6040384" cy="396240"/>
          </a:xfrm>
          <a:prstGeom prst="rect">
            <a:avLst/>
          </a:prstGeom>
        </p:spPr>
        <p:txBody>
          <a:bodyPr lIns="0" tIns="0" rIns="0" bIns="0" rtlCol="0" anchor="t">
            <a:spAutoFit/>
          </a:bodyPr>
          <a:lstStyle/>
          <a:p>
            <a:pPr algn="l">
              <a:lnSpc>
                <a:spcPts val="3359"/>
              </a:lnSpc>
              <a:spcBef>
                <a:spcPct val="0"/>
              </a:spcBef>
            </a:pPr>
            <a:r>
              <a:rPr lang="en-US" sz="2399" b="1">
                <a:solidFill>
                  <a:srgbClr val="000000"/>
                </a:solidFill>
                <a:latin typeface="Garet Bold"/>
                <a:ea typeface="Garet Bold"/>
                <a:cs typeface="Garet Bold"/>
                <a:sym typeface="Garet Bold"/>
              </a:rPr>
              <a:t>EXPLORATORY DATA ANALYSIS (EDA):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a:off x="417105" y="2659158"/>
            <a:ext cx="7042165" cy="4618350"/>
          </a:xfrm>
          <a:custGeom>
            <a:avLst/>
            <a:gdLst/>
            <a:ahLst/>
            <a:cxnLst/>
            <a:rect l="l" t="t" r="r" b="b"/>
            <a:pathLst>
              <a:path w="7042165" h="4618350">
                <a:moveTo>
                  <a:pt x="0" y="0"/>
                </a:moveTo>
                <a:lnTo>
                  <a:pt x="7042166" y="0"/>
                </a:lnTo>
                <a:lnTo>
                  <a:pt x="7042166" y="4618350"/>
                </a:lnTo>
                <a:lnTo>
                  <a:pt x="0" y="4618350"/>
                </a:lnTo>
                <a:lnTo>
                  <a:pt x="0" y="0"/>
                </a:lnTo>
                <a:close/>
              </a:path>
            </a:pathLst>
          </a:custGeom>
          <a:blipFill>
            <a:blip r:embed="rId4"/>
            <a:stretch>
              <a:fillRect/>
            </a:stretch>
          </a:blipFill>
        </p:spPr>
        <p:txBody>
          <a:bodyPr/>
          <a:lstStyle/>
          <a:p>
            <a:endParaRPr lang="he-IL"/>
          </a:p>
        </p:txBody>
      </p:sp>
      <p:sp>
        <p:nvSpPr>
          <p:cNvPr id="4" name="Freeform 4"/>
          <p:cNvSpPr/>
          <p:nvPr/>
        </p:nvSpPr>
        <p:spPr>
          <a:xfrm>
            <a:off x="5659269" y="5111652"/>
            <a:ext cx="6938367" cy="4618350"/>
          </a:xfrm>
          <a:custGeom>
            <a:avLst/>
            <a:gdLst/>
            <a:ahLst/>
            <a:cxnLst/>
            <a:rect l="l" t="t" r="r" b="b"/>
            <a:pathLst>
              <a:path w="6938367" h="4618350">
                <a:moveTo>
                  <a:pt x="0" y="0"/>
                </a:moveTo>
                <a:lnTo>
                  <a:pt x="6938367" y="0"/>
                </a:lnTo>
                <a:lnTo>
                  <a:pt x="6938367" y="4618350"/>
                </a:lnTo>
                <a:lnTo>
                  <a:pt x="0" y="4618350"/>
                </a:lnTo>
                <a:lnTo>
                  <a:pt x="0" y="0"/>
                </a:lnTo>
                <a:close/>
              </a:path>
            </a:pathLst>
          </a:custGeom>
          <a:blipFill>
            <a:blip r:embed="rId5"/>
            <a:stretch>
              <a:fillRect/>
            </a:stretch>
          </a:blipFill>
        </p:spPr>
        <p:txBody>
          <a:bodyPr/>
          <a:lstStyle/>
          <a:p>
            <a:endParaRPr lang="he-IL"/>
          </a:p>
        </p:txBody>
      </p:sp>
      <p:sp>
        <p:nvSpPr>
          <p:cNvPr id="5" name="Freeform 5"/>
          <p:cNvSpPr/>
          <p:nvPr/>
        </p:nvSpPr>
        <p:spPr>
          <a:xfrm rot="2435451">
            <a:off x="3221883" y="8062419"/>
            <a:ext cx="2410786" cy="681047"/>
          </a:xfrm>
          <a:custGeom>
            <a:avLst/>
            <a:gdLst/>
            <a:ahLst/>
            <a:cxnLst/>
            <a:rect l="l" t="t" r="r" b="b"/>
            <a:pathLst>
              <a:path w="2410786" h="681047">
                <a:moveTo>
                  <a:pt x="0" y="0"/>
                </a:moveTo>
                <a:lnTo>
                  <a:pt x="2410786" y="0"/>
                </a:lnTo>
                <a:lnTo>
                  <a:pt x="2410786" y="681048"/>
                </a:lnTo>
                <a:lnTo>
                  <a:pt x="0" y="68104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6" name="Freeform 6"/>
          <p:cNvSpPr/>
          <p:nvPr/>
        </p:nvSpPr>
        <p:spPr>
          <a:xfrm rot="-2837169">
            <a:off x="12434066" y="8123181"/>
            <a:ext cx="2410786" cy="681047"/>
          </a:xfrm>
          <a:custGeom>
            <a:avLst/>
            <a:gdLst/>
            <a:ahLst/>
            <a:cxnLst/>
            <a:rect l="l" t="t" r="r" b="b"/>
            <a:pathLst>
              <a:path w="2410786" h="681047">
                <a:moveTo>
                  <a:pt x="0" y="0"/>
                </a:moveTo>
                <a:lnTo>
                  <a:pt x="2410786" y="0"/>
                </a:lnTo>
                <a:lnTo>
                  <a:pt x="2410786" y="681047"/>
                </a:lnTo>
                <a:lnTo>
                  <a:pt x="0" y="68104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he-IL"/>
          </a:p>
        </p:txBody>
      </p:sp>
      <p:sp>
        <p:nvSpPr>
          <p:cNvPr id="7" name="Freeform 7"/>
          <p:cNvSpPr/>
          <p:nvPr/>
        </p:nvSpPr>
        <p:spPr>
          <a:xfrm>
            <a:off x="10801728" y="2659158"/>
            <a:ext cx="7069167" cy="4700907"/>
          </a:xfrm>
          <a:custGeom>
            <a:avLst/>
            <a:gdLst/>
            <a:ahLst/>
            <a:cxnLst/>
            <a:rect l="l" t="t" r="r" b="b"/>
            <a:pathLst>
              <a:path w="7069167" h="4700907">
                <a:moveTo>
                  <a:pt x="0" y="0"/>
                </a:moveTo>
                <a:lnTo>
                  <a:pt x="7069167" y="0"/>
                </a:lnTo>
                <a:lnTo>
                  <a:pt x="7069167" y="4700907"/>
                </a:lnTo>
                <a:lnTo>
                  <a:pt x="0" y="4700907"/>
                </a:lnTo>
                <a:lnTo>
                  <a:pt x="0" y="0"/>
                </a:lnTo>
                <a:close/>
              </a:path>
            </a:pathLst>
          </a:custGeom>
          <a:blipFill>
            <a:blip r:embed="rId8"/>
            <a:stretch>
              <a:fillRect/>
            </a:stretch>
          </a:blipFill>
        </p:spPr>
        <p:txBody>
          <a:bodyPr/>
          <a:lstStyle/>
          <a:p>
            <a:endParaRPr lang="he-IL"/>
          </a:p>
        </p:txBody>
      </p:sp>
      <p:sp>
        <p:nvSpPr>
          <p:cNvPr id="8" name="TextBox 8"/>
          <p:cNvSpPr txBox="1"/>
          <p:nvPr/>
        </p:nvSpPr>
        <p:spPr>
          <a:xfrm>
            <a:off x="3458898" y="699853"/>
            <a:ext cx="11370203"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Mask Generation Pipeline</a:t>
            </a:r>
          </a:p>
        </p:txBody>
      </p:sp>
      <p:sp>
        <p:nvSpPr>
          <p:cNvPr id="9" name="TextBox 9"/>
          <p:cNvSpPr txBox="1"/>
          <p:nvPr/>
        </p:nvSpPr>
        <p:spPr>
          <a:xfrm>
            <a:off x="417105" y="1976204"/>
            <a:ext cx="1648718" cy="422275"/>
          </a:xfrm>
          <a:prstGeom prst="rect">
            <a:avLst/>
          </a:prstGeom>
        </p:spPr>
        <p:txBody>
          <a:bodyPr lIns="0" tIns="0" rIns="0" bIns="0" rtlCol="0" anchor="t">
            <a:spAutoFit/>
          </a:bodyPr>
          <a:lstStyle/>
          <a:p>
            <a:pPr algn="ctr">
              <a:lnSpc>
                <a:spcPts val="3499"/>
              </a:lnSpc>
              <a:spcBef>
                <a:spcPct val="0"/>
              </a:spcBef>
            </a:pPr>
            <a:r>
              <a:rPr lang="en-US" sz="2499" u="sng">
                <a:solidFill>
                  <a:srgbClr val="000000"/>
                </a:solidFill>
                <a:latin typeface="Garet"/>
                <a:ea typeface="Garet"/>
                <a:cs typeface="Garet"/>
                <a:sym typeface="Garet"/>
              </a:rPr>
              <a:t>ORIGINAL:</a:t>
            </a:r>
          </a:p>
        </p:txBody>
      </p:sp>
      <p:sp>
        <p:nvSpPr>
          <p:cNvPr id="10" name="TextBox 10"/>
          <p:cNvSpPr txBox="1"/>
          <p:nvPr/>
        </p:nvSpPr>
        <p:spPr>
          <a:xfrm>
            <a:off x="10741750" y="1976204"/>
            <a:ext cx="1297850"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MASKS:</a:t>
            </a:r>
          </a:p>
        </p:txBody>
      </p:sp>
      <p:sp>
        <p:nvSpPr>
          <p:cNvPr id="11" name="TextBox 11"/>
          <p:cNvSpPr txBox="1"/>
          <p:nvPr/>
        </p:nvSpPr>
        <p:spPr>
          <a:xfrm>
            <a:off x="8154595" y="4373922"/>
            <a:ext cx="2230027" cy="432811"/>
          </a:xfrm>
          <a:prstGeom prst="rect">
            <a:avLst/>
          </a:prstGeom>
        </p:spPr>
        <p:txBody>
          <a:bodyPr wrap="square" lIns="0" tIns="0" rIns="0" bIns="0" rtlCol="0" anchor="t">
            <a:spAutoFit/>
          </a:bodyPr>
          <a:lstStyle/>
          <a:p>
            <a:pPr algn="ctr">
              <a:lnSpc>
                <a:spcPts val="3499"/>
              </a:lnSpc>
              <a:spcBef>
                <a:spcPct val="0"/>
              </a:spcBef>
            </a:pPr>
            <a:r>
              <a:rPr lang="en-US" sz="2499" u="sng" dirty="0">
                <a:solidFill>
                  <a:srgbClr val="000000"/>
                </a:solidFill>
                <a:latin typeface="Garet"/>
                <a:ea typeface="Garet"/>
                <a:cs typeface="Garet"/>
                <a:sym typeface="Garet"/>
              </a:rPr>
              <a:t>DETECTION: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Freeform 3"/>
          <p:cNvSpPr/>
          <p:nvPr/>
        </p:nvSpPr>
        <p:spPr>
          <a:xfrm>
            <a:off x="212140" y="3058811"/>
            <a:ext cx="17863721" cy="4979512"/>
          </a:xfrm>
          <a:custGeom>
            <a:avLst/>
            <a:gdLst/>
            <a:ahLst/>
            <a:cxnLst/>
            <a:rect l="l" t="t" r="r" b="b"/>
            <a:pathLst>
              <a:path w="17863721" h="4979512">
                <a:moveTo>
                  <a:pt x="0" y="0"/>
                </a:moveTo>
                <a:lnTo>
                  <a:pt x="17863720" y="0"/>
                </a:lnTo>
                <a:lnTo>
                  <a:pt x="17863720" y="4979512"/>
                </a:lnTo>
                <a:lnTo>
                  <a:pt x="0" y="4979512"/>
                </a:lnTo>
                <a:lnTo>
                  <a:pt x="0" y="0"/>
                </a:lnTo>
                <a:close/>
              </a:path>
            </a:pathLst>
          </a:custGeom>
          <a:blipFill>
            <a:blip r:embed="rId4"/>
            <a:stretch>
              <a:fillRect/>
            </a:stretch>
          </a:blipFill>
        </p:spPr>
        <p:txBody>
          <a:bodyPr/>
          <a:lstStyle/>
          <a:p>
            <a:endParaRPr lang="he-IL"/>
          </a:p>
        </p:txBody>
      </p:sp>
      <p:sp>
        <p:nvSpPr>
          <p:cNvPr id="4" name="TextBox 4"/>
          <p:cNvSpPr txBox="1"/>
          <p:nvPr/>
        </p:nvSpPr>
        <p:spPr>
          <a:xfrm>
            <a:off x="5544975" y="923925"/>
            <a:ext cx="7198051" cy="1009651"/>
          </a:xfrm>
          <a:prstGeom prst="rect">
            <a:avLst/>
          </a:prstGeom>
        </p:spPr>
        <p:txBody>
          <a:bodyPr lIns="0" tIns="0" rIns="0" bIns="0" rtlCol="0" anchor="t">
            <a:spAutoFit/>
          </a:bodyPr>
          <a:lstStyle/>
          <a:p>
            <a:pPr marL="0" lvl="0" indent="0" algn="ctr">
              <a:lnSpc>
                <a:spcPts val="8399"/>
              </a:lnSpc>
              <a:spcBef>
                <a:spcPct val="0"/>
              </a:spcBef>
            </a:pPr>
            <a:r>
              <a:rPr lang="en-US" sz="5999" b="1">
                <a:solidFill>
                  <a:srgbClr val="000000"/>
                </a:solidFill>
                <a:latin typeface="Garet Bold"/>
                <a:ea typeface="Garet Bold"/>
                <a:cs typeface="Garet Bold"/>
                <a:sym typeface="Garet Bold"/>
              </a:rPr>
              <a:t>Inpainting Result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pic>
        <p:nvPicPr>
          <p:cNvPr id="3" name="Picture 3"/>
          <p:cNvPicPr>
            <a:picLocks noChangeAspect="1"/>
          </p:cNvPicPr>
          <p:nvPr/>
        </p:nvPicPr>
        <p:blipFill>
          <a:blip r:embed="rId4"/>
          <a:stretch>
            <a:fillRect/>
          </a:stretch>
        </p:blipFill>
        <p:spPr>
          <a:xfrm>
            <a:off x="820499" y="2054099"/>
            <a:ext cx="416401" cy="389977"/>
          </a:xfrm>
          <a:prstGeom prst="rect">
            <a:avLst/>
          </a:prstGeom>
        </p:spPr>
      </p:pic>
      <p:pic>
        <p:nvPicPr>
          <p:cNvPr id="4" name="Picture 4"/>
          <p:cNvPicPr>
            <a:picLocks noChangeAspect="1"/>
          </p:cNvPicPr>
          <p:nvPr/>
        </p:nvPicPr>
        <p:blipFill>
          <a:blip r:embed="rId5"/>
          <a:stretch>
            <a:fillRect/>
          </a:stretch>
        </p:blipFill>
        <p:spPr>
          <a:xfrm>
            <a:off x="832174" y="4779918"/>
            <a:ext cx="416401" cy="389977"/>
          </a:xfrm>
          <a:prstGeom prst="rect">
            <a:avLst/>
          </a:prstGeom>
        </p:spPr>
      </p:pic>
      <p:sp>
        <p:nvSpPr>
          <p:cNvPr id="5" name="Freeform 5"/>
          <p:cNvSpPr/>
          <p:nvPr/>
        </p:nvSpPr>
        <p:spPr>
          <a:xfrm>
            <a:off x="345026" y="5323138"/>
            <a:ext cx="5977689" cy="4049289"/>
          </a:xfrm>
          <a:custGeom>
            <a:avLst/>
            <a:gdLst/>
            <a:ahLst/>
            <a:cxnLst/>
            <a:rect l="l" t="t" r="r" b="b"/>
            <a:pathLst>
              <a:path w="5977689" h="4049289">
                <a:moveTo>
                  <a:pt x="0" y="0"/>
                </a:moveTo>
                <a:lnTo>
                  <a:pt x="5977689" y="0"/>
                </a:lnTo>
                <a:lnTo>
                  <a:pt x="5977689" y="4049289"/>
                </a:lnTo>
                <a:lnTo>
                  <a:pt x="0" y="4049289"/>
                </a:lnTo>
                <a:lnTo>
                  <a:pt x="0" y="0"/>
                </a:lnTo>
                <a:close/>
              </a:path>
            </a:pathLst>
          </a:custGeom>
          <a:blipFill>
            <a:blip r:embed="rId6"/>
            <a:stretch>
              <a:fillRect l="-107562" t="-99549"/>
            </a:stretch>
          </a:blipFill>
        </p:spPr>
        <p:txBody>
          <a:bodyPr/>
          <a:lstStyle/>
          <a:p>
            <a:endParaRPr lang="he-IL"/>
          </a:p>
        </p:txBody>
      </p:sp>
      <p:sp>
        <p:nvSpPr>
          <p:cNvPr id="6" name="Freeform 6"/>
          <p:cNvSpPr/>
          <p:nvPr/>
        </p:nvSpPr>
        <p:spPr>
          <a:xfrm>
            <a:off x="6527587" y="5721698"/>
            <a:ext cx="11316076" cy="3650729"/>
          </a:xfrm>
          <a:custGeom>
            <a:avLst/>
            <a:gdLst/>
            <a:ahLst/>
            <a:cxnLst/>
            <a:rect l="l" t="t" r="r" b="b"/>
            <a:pathLst>
              <a:path w="11316076" h="3650729">
                <a:moveTo>
                  <a:pt x="0" y="0"/>
                </a:moveTo>
                <a:lnTo>
                  <a:pt x="11316077" y="0"/>
                </a:lnTo>
                <a:lnTo>
                  <a:pt x="11316077" y="3650729"/>
                </a:lnTo>
                <a:lnTo>
                  <a:pt x="0" y="3650729"/>
                </a:lnTo>
                <a:lnTo>
                  <a:pt x="0" y="0"/>
                </a:lnTo>
                <a:close/>
              </a:path>
            </a:pathLst>
          </a:custGeom>
          <a:blipFill>
            <a:blip r:embed="rId6"/>
            <a:stretch>
              <a:fillRect l="-447" r="-447" b="-103674"/>
            </a:stretch>
          </a:blipFill>
        </p:spPr>
        <p:txBody>
          <a:bodyPr/>
          <a:lstStyle/>
          <a:p>
            <a:endParaRPr lang="he-IL"/>
          </a:p>
        </p:txBody>
      </p:sp>
      <p:sp>
        <p:nvSpPr>
          <p:cNvPr id="7" name="Freeform 7"/>
          <p:cNvSpPr/>
          <p:nvPr/>
        </p:nvSpPr>
        <p:spPr>
          <a:xfrm rot="1340152">
            <a:off x="15102703" y="348879"/>
            <a:ext cx="1722676" cy="1755141"/>
          </a:xfrm>
          <a:custGeom>
            <a:avLst/>
            <a:gdLst/>
            <a:ahLst/>
            <a:cxnLst/>
            <a:rect l="l" t="t" r="r" b="b"/>
            <a:pathLst>
              <a:path w="1722676" h="1755141">
                <a:moveTo>
                  <a:pt x="0" y="0"/>
                </a:moveTo>
                <a:lnTo>
                  <a:pt x="1722675" y="0"/>
                </a:lnTo>
                <a:lnTo>
                  <a:pt x="1722675" y="1755141"/>
                </a:lnTo>
                <a:lnTo>
                  <a:pt x="0" y="17551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he-IL"/>
          </a:p>
        </p:txBody>
      </p:sp>
      <p:sp>
        <p:nvSpPr>
          <p:cNvPr id="8" name="TextBox 8"/>
          <p:cNvSpPr txBox="1"/>
          <p:nvPr/>
        </p:nvSpPr>
        <p:spPr>
          <a:xfrm>
            <a:off x="2535720" y="669237"/>
            <a:ext cx="13544309" cy="1009651"/>
          </a:xfrm>
          <a:prstGeom prst="rect">
            <a:avLst/>
          </a:prstGeom>
        </p:spPr>
        <p:txBody>
          <a:bodyPr lIns="0" tIns="0" rIns="0" bIns="0" rtlCol="0" anchor="t">
            <a:spAutoFit/>
          </a:bodyPr>
          <a:lstStyle/>
          <a:p>
            <a:pPr marL="0" lvl="0" indent="0" algn="ctr" rtl="1">
              <a:lnSpc>
                <a:spcPts val="8399"/>
              </a:lnSpc>
              <a:spcBef>
                <a:spcPct val="0"/>
              </a:spcBef>
            </a:pPr>
            <a:r>
              <a:rPr lang="en-US" sz="5999" b="1">
                <a:solidFill>
                  <a:srgbClr val="000000"/>
                </a:solidFill>
                <a:latin typeface="Garet Bold"/>
                <a:ea typeface="Garet Bold"/>
                <a:cs typeface="Garet Bold"/>
                <a:sym typeface="Garet Bold"/>
              </a:rPr>
              <a:t>Baseline Solution &amp; Results</a:t>
            </a:r>
          </a:p>
        </p:txBody>
      </p:sp>
      <p:sp>
        <p:nvSpPr>
          <p:cNvPr id="9" name="TextBox 9"/>
          <p:cNvSpPr txBox="1"/>
          <p:nvPr/>
        </p:nvSpPr>
        <p:spPr>
          <a:xfrm>
            <a:off x="1463667" y="2050699"/>
            <a:ext cx="3227338" cy="396240"/>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Garet Bold"/>
                <a:ea typeface="Garet Bold"/>
                <a:cs typeface="Garet Bold"/>
                <a:sym typeface="Garet Bold"/>
              </a:rPr>
              <a:t>BASLINE SOLUTION : </a:t>
            </a:r>
          </a:p>
        </p:txBody>
      </p:sp>
      <p:sp>
        <p:nvSpPr>
          <p:cNvPr id="10" name="TextBox 10"/>
          <p:cNvSpPr txBox="1"/>
          <p:nvPr/>
        </p:nvSpPr>
        <p:spPr>
          <a:xfrm>
            <a:off x="861152" y="2522826"/>
            <a:ext cx="6149248" cy="2000548"/>
          </a:xfrm>
          <a:prstGeom prst="rect">
            <a:avLst/>
          </a:prstGeom>
        </p:spPr>
        <p:txBody>
          <a:bodyPr wrap="square" lIns="0" tIns="0" rIns="0" bIns="0" rtlCol="0" anchor="t">
            <a:spAutoFit/>
          </a:bodyPr>
          <a:lstStyle/>
          <a:p>
            <a:pPr marL="431801" lvl="1" indent="-215900" algn="l">
              <a:lnSpc>
                <a:spcPts val="4000"/>
              </a:lnSpc>
              <a:buFont typeface="Arial"/>
              <a:buChar char="•"/>
            </a:pPr>
            <a:r>
              <a:rPr lang="en-US" sz="2000" u="none" strike="noStrike" dirty="0">
                <a:solidFill>
                  <a:srgbClr val="000000"/>
                </a:solidFill>
                <a:latin typeface="Garet"/>
                <a:ea typeface="Garet"/>
                <a:cs typeface="Garet"/>
                <a:sym typeface="Garet"/>
              </a:rPr>
              <a:t>used yolov8 (pre trained and finetuned)</a:t>
            </a:r>
          </a:p>
          <a:p>
            <a:pPr marL="431801" lvl="1" indent="-215900" algn="l">
              <a:lnSpc>
                <a:spcPts val="4000"/>
              </a:lnSpc>
              <a:buFont typeface="Arial"/>
              <a:buChar char="•"/>
            </a:pPr>
            <a:r>
              <a:rPr lang="en-US" sz="2000" u="none" strike="noStrike" dirty="0">
                <a:solidFill>
                  <a:srgbClr val="000000"/>
                </a:solidFill>
                <a:latin typeface="Garet"/>
                <a:ea typeface="Garet"/>
                <a:cs typeface="Garet"/>
                <a:sym typeface="Garet"/>
              </a:rPr>
              <a:t>input: floor-plan photo </a:t>
            </a:r>
          </a:p>
          <a:p>
            <a:pPr marL="431801" lvl="1" indent="-215900" algn="l">
              <a:lnSpc>
                <a:spcPts val="4000"/>
              </a:lnSpc>
              <a:buFont typeface="Arial"/>
              <a:buChar char="•"/>
            </a:pPr>
            <a:r>
              <a:rPr lang="en-US" sz="2000" u="none" strike="noStrike" dirty="0">
                <a:solidFill>
                  <a:srgbClr val="000000"/>
                </a:solidFill>
                <a:latin typeface="Garet"/>
                <a:ea typeface="Garet"/>
                <a:cs typeface="Garet"/>
                <a:sym typeface="Garet"/>
              </a:rPr>
              <a:t>output: bounding boxes (didn’t fit for our purpose)</a:t>
            </a:r>
          </a:p>
        </p:txBody>
      </p:sp>
      <p:sp>
        <p:nvSpPr>
          <p:cNvPr id="11" name="TextBox 11"/>
          <p:cNvSpPr txBox="1"/>
          <p:nvPr/>
        </p:nvSpPr>
        <p:spPr>
          <a:xfrm>
            <a:off x="1381135" y="4757737"/>
            <a:ext cx="1568202" cy="396240"/>
          </a:xfrm>
          <a:prstGeom prst="rect">
            <a:avLst/>
          </a:prstGeom>
        </p:spPr>
        <p:txBody>
          <a:bodyPr lIns="0" tIns="0" rIns="0" bIns="0" rtlCol="0" anchor="t">
            <a:spAutoFit/>
          </a:bodyPr>
          <a:lstStyle/>
          <a:p>
            <a:pPr algn="ctr">
              <a:lnSpc>
                <a:spcPts val="3359"/>
              </a:lnSpc>
              <a:spcBef>
                <a:spcPct val="0"/>
              </a:spcBef>
            </a:pPr>
            <a:r>
              <a:rPr lang="en-US" sz="2399" b="1">
                <a:solidFill>
                  <a:srgbClr val="000000"/>
                </a:solidFill>
                <a:latin typeface="Garet Bold"/>
                <a:ea typeface="Garet Bold"/>
                <a:cs typeface="Garet Bold"/>
                <a:sym typeface="Garet Bold"/>
              </a:rPr>
              <a:t>RESULTS : </a:t>
            </a:r>
          </a:p>
        </p:txBody>
      </p:sp>
      <p:sp>
        <p:nvSpPr>
          <p:cNvPr id="12" name="TextBox 12"/>
          <p:cNvSpPr txBox="1"/>
          <p:nvPr/>
        </p:nvSpPr>
        <p:spPr>
          <a:xfrm>
            <a:off x="8384200" y="2294539"/>
            <a:ext cx="8181303" cy="1968500"/>
          </a:xfrm>
          <a:prstGeom prst="rect">
            <a:avLst/>
          </a:prstGeom>
        </p:spPr>
        <p:txBody>
          <a:bodyPr lIns="0" tIns="0" rIns="0" bIns="0" rtlCol="0" anchor="t">
            <a:spAutoFit/>
          </a:bodyPr>
          <a:lstStyle/>
          <a:p>
            <a:pPr algn="l">
              <a:lnSpc>
                <a:spcPts val="4000"/>
              </a:lnSpc>
              <a:spcBef>
                <a:spcPct val="0"/>
              </a:spcBef>
            </a:pPr>
            <a:r>
              <a:rPr lang="en-US" sz="2000" b="1" u="none" strike="noStrike">
                <a:solidFill>
                  <a:srgbClr val="000000"/>
                </a:solidFill>
                <a:latin typeface="Garet Bold"/>
                <a:ea typeface="Garet Bold"/>
                <a:cs typeface="Garet Bold"/>
                <a:sym typeface="Garet Bold"/>
              </a:rPr>
              <a:t>Why YOLOv8?</a:t>
            </a:r>
          </a:p>
          <a:p>
            <a:pPr marL="431801" lvl="1" indent="-215900" algn="l">
              <a:lnSpc>
                <a:spcPts val="4000"/>
              </a:lnSpc>
              <a:spcBef>
                <a:spcPct val="0"/>
              </a:spcBef>
              <a:buFont typeface="Arial"/>
              <a:buChar char="•"/>
            </a:pPr>
            <a:r>
              <a:rPr lang="en-US" sz="2000" u="none" strike="noStrike">
                <a:solidFill>
                  <a:srgbClr val="000000"/>
                </a:solidFill>
                <a:latin typeface="Garet"/>
                <a:ea typeface="Garet"/>
                <a:cs typeface="Garet"/>
                <a:sym typeface="Garet"/>
              </a:rPr>
              <a:t> Chosen as a strong baseline to test if a standard object detector is sufficient for floor-plan analysis.</a:t>
            </a:r>
          </a:p>
          <a:p>
            <a:pPr algn="l">
              <a:lnSpc>
                <a:spcPts val="4000"/>
              </a:lnSpc>
              <a:spcBef>
                <a:spcPct val="0"/>
              </a:spcBef>
            </a:pPr>
            <a:endParaRPr lang="en-US" sz="2000" u="none" strike="noStrike">
              <a:solidFill>
                <a:srgbClr val="000000"/>
              </a:solidFill>
              <a:latin typeface="Garet"/>
              <a:ea typeface="Garet"/>
              <a:cs typeface="Garet"/>
              <a:sym typeface="Gare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33" b="-9333"/>
            </a:stretch>
          </a:blipFill>
        </p:spPr>
        <p:txBody>
          <a:bodyPr/>
          <a:lstStyle/>
          <a:p>
            <a:endParaRPr lang="he-IL"/>
          </a:p>
        </p:txBody>
      </p:sp>
      <p:sp>
        <p:nvSpPr>
          <p:cNvPr id="3" name="AutoShape 3"/>
          <p:cNvSpPr/>
          <p:nvPr/>
        </p:nvSpPr>
        <p:spPr>
          <a:xfrm>
            <a:off x="-758305" y="1369513"/>
            <a:ext cx="19804610" cy="0"/>
          </a:xfrm>
          <a:prstGeom prst="line">
            <a:avLst/>
          </a:prstGeom>
          <a:ln w="19050" cap="flat">
            <a:solidFill>
              <a:srgbClr val="A6A6A6"/>
            </a:solidFill>
            <a:prstDash val="solid"/>
            <a:headEnd type="none" w="sm" len="sm"/>
            <a:tailEnd type="none" w="sm" len="sm"/>
          </a:ln>
        </p:spPr>
        <p:txBody>
          <a:bodyPr/>
          <a:lstStyle/>
          <a:p>
            <a:endParaRPr lang="he-IL"/>
          </a:p>
        </p:txBody>
      </p:sp>
      <p:sp>
        <p:nvSpPr>
          <p:cNvPr id="4" name="AutoShape 4"/>
          <p:cNvSpPr/>
          <p:nvPr/>
        </p:nvSpPr>
        <p:spPr>
          <a:xfrm>
            <a:off x="-756489" y="9173618"/>
            <a:ext cx="19804610" cy="0"/>
          </a:xfrm>
          <a:prstGeom prst="line">
            <a:avLst/>
          </a:prstGeom>
          <a:ln w="19050" cap="flat">
            <a:solidFill>
              <a:srgbClr val="A6A6A6"/>
            </a:solidFill>
            <a:prstDash val="solid"/>
            <a:headEnd type="none" w="sm" len="sm"/>
            <a:tailEnd type="none" w="sm" len="sm"/>
          </a:ln>
        </p:spPr>
        <p:txBody>
          <a:bodyPr/>
          <a:lstStyle/>
          <a:p>
            <a:endParaRPr lang="he-IL"/>
          </a:p>
        </p:txBody>
      </p:sp>
      <p:grpSp>
        <p:nvGrpSpPr>
          <p:cNvPr id="5" name="Group 5"/>
          <p:cNvGrpSpPr/>
          <p:nvPr/>
        </p:nvGrpSpPr>
        <p:grpSpPr>
          <a:xfrm>
            <a:off x="17165093" y="-866775"/>
            <a:ext cx="2245813" cy="224581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1122907" y="9164093"/>
            <a:ext cx="2245813" cy="224581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6A6A6"/>
              </a:solidFill>
              <a:prstDash val="solid"/>
              <a:miter/>
            </a:ln>
          </p:spPr>
          <p:txBody>
            <a:bodyPr/>
            <a:lstStyle/>
            <a:p>
              <a:endParaRPr lang="he-IL"/>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800"/>
                </a:lnSpc>
              </a:pPr>
              <a:endParaRPr/>
            </a:p>
          </p:txBody>
        </p:sp>
      </p:grpSp>
      <p:sp>
        <p:nvSpPr>
          <p:cNvPr id="12" name="TextBox 12"/>
          <p:cNvSpPr txBox="1"/>
          <p:nvPr/>
        </p:nvSpPr>
        <p:spPr>
          <a:xfrm>
            <a:off x="2371846" y="1573163"/>
            <a:ext cx="13544309" cy="1009651"/>
          </a:xfrm>
          <a:prstGeom prst="rect">
            <a:avLst/>
          </a:prstGeom>
        </p:spPr>
        <p:txBody>
          <a:bodyPr lIns="0" tIns="0" rIns="0" bIns="0" rtlCol="0" anchor="t">
            <a:spAutoFit/>
          </a:bodyPr>
          <a:lstStyle/>
          <a:p>
            <a:pPr marL="0" lvl="0" indent="0" algn="ctr" rtl="1">
              <a:lnSpc>
                <a:spcPts val="8399"/>
              </a:lnSpc>
              <a:spcBef>
                <a:spcPct val="0"/>
              </a:spcBef>
            </a:pPr>
            <a:r>
              <a:rPr lang="en-US" sz="5999" b="1">
                <a:solidFill>
                  <a:srgbClr val="000000"/>
                </a:solidFill>
                <a:latin typeface="Garet Bold"/>
                <a:ea typeface="Garet Bold"/>
                <a:cs typeface="Garet Bold"/>
                <a:sym typeface="Garet Bold"/>
              </a:rPr>
              <a:t>Plan</a:t>
            </a:r>
          </a:p>
        </p:txBody>
      </p:sp>
      <p:sp>
        <p:nvSpPr>
          <p:cNvPr id="13" name="Freeform 13"/>
          <p:cNvSpPr/>
          <p:nvPr/>
        </p:nvSpPr>
        <p:spPr>
          <a:xfrm rot="684480">
            <a:off x="14057970" y="529569"/>
            <a:ext cx="2999069" cy="2344727"/>
          </a:xfrm>
          <a:custGeom>
            <a:avLst/>
            <a:gdLst/>
            <a:ahLst/>
            <a:cxnLst/>
            <a:rect l="l" t="t" r="r" b="b"/>
            <a:pathLst>
              <a:path w="2999069" h="2344727">
                <a:moveTo>
                  <a:pt x="0" y="0"/>
                </a:moveTo>
                <a:lnTo>
                  <a:pt x="2999069" y="0"/>
                </a:lnTo>
                <a:lnTo>
                  <a:pt x="2999069" y="2344727"/>
                </a:lnTo>
                <a:lnTo>
                  <a:pt x="0" y="234472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graphicFrame>
        <p:nvGraphicFramePr>
          <p:cNvPr id="14" name="טבלה 13">
            <a:extLst>
              <a:ext uri="{FF2B5EF4-FFF2-40B4-BE49-F238E27FC236}">
                <a16:creationId xmlns:a16="http://schemas.microsoft.com/office/drawing/2014/main" id="{F8E1D7EA-4029-E1C4-7BDD-7C2101F34421}"/>
              </a:ext>
            </a:extLst>
          </p:cNvPr>
          <p:cNvGraphicFramePr>
            <a:graphicFrameLocks noGrp="1"/>
          </p:cNvGraphicFramePr>
          <p:nvPr>
            <p:extLst>
              <p:ext uri="{D42A27DB-BD31-4B8C-83A1-F6EECF244321}">
                <p14:modId xmlns:p14="http://schemas.microsoft.com/office/powerpoint/2010/main" val="2987259332"/>
              </p:ext>
            </p:extLst>
          </p:nvPr>
        </p:nvGraphicFramePr>
        <p:xfrm>
          <a:off x="609600" y="2904597"/>
          <a:ext cx="16766040" cy="5809238"/>
        </p:xfrm>
        <a:graphic>
          <a:graphicData uri="http://schemas.openxmlformats.org/drawingml/2006/table">
            <a:tbl>
              <a:tblPr/>
              <a:tblGrid>
                <a:gridCol w="4191510">
                  <a:extLst>
                    <a:ext uri="{9D8B030D-6E8A-4147-A177-3AD203B41FA5}">
                      <a16:colId xmlns:a16="http://schemas.microsoft.com/office/drawing/2014/main" val="1632780810"/>
                    </a:ext>
                  </a:extLst>
                </a:gridCol>
                <a:gridCol w="5866890">
                  <a:extLst>
                    <a:ext uri="{9D8B030D-6E8A-4147-A177-3AD203B41FA5}">
                      <a16:colId xmlns:a16="http://schemas.microsoft.com/office/drawing/2014/main" val="1363340612"/>
                    </a:ext>
                  </a:extLst>
                </a:gridCol>
                <a:gridCol w="2516130">
                  <a:extLst>
                    <a:ext uri="{9D8B030D-6E8A-4147-A177-3AD203B41FA5}">
                      <a16:colId xmlns:a16="http://schemas.microsoft.com/office/drawing/2014/main" val="416038483"/>
                    </a:ext>
                  </a:extLst>
                </a:gridCol>
                <a:gridCol w="4191510">
                  <a:extLst>
                    <a:ext uri="{9D8B030D-6E8A-4147-A177-3AD203B41FA5}">
                      <a16:colId xmlns:a16="http://schemas.microsoft.com/office/drawing/2014/main" val="1895108063"/>
                    </a:ext>
                  </a:extLst>
                </a:gridCol>
              </a:tblGrid>
              <a:tr h="703671">
                <a:tc>
                  <a:txBody>
                    <a:bodyPr/>
                    <a:lstStyle/>
                    <a:p>
                      <a:pPr algn="l">
                        <a:buNone/>
                      </a:pPr>
                      <a:r>
                        <a:rPr lang="en-US" sz="2500" b="1">
                          <a:effectLst/>
                          <a:latin typeface="Garet" panose="020B0604020202020204" charset="0"/>
                        </a:rPr>
                        <a:t>Step</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l">
                        <a:buNone/>
                      </a:pPr>
                      <a:r>
                        <a:rPr lang="en-US" sz="2500" b="1">
                          <a:effectLst/>
                          <a:latin typeface="Garet" panose="020B0604020202020204" charset="0"/>
                        </a:rPr>
                        <a:t>Scope</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l">
                        <a:buNone/>
                      </a:pPr>
                      <a:r>
                        <a:rPr lang="en-US" sz="2500" b="1" dirty="0">
                          <a:effectLst/>
                          <a:latin typeface="Garet" panose="020B0604020202020204" charset="0"/>
                        </a:rPr>
                        <a:t>Due Date</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tc>
                  <a:txBody>
                    <a:bodyPr/>
                    <a:lstStyle/>
                    <a:p>
                      <a:pPr algn="l">
                        <a:buNone/>
                      </a:pPr>
                      <a:r>
                        <a:rPr lang="en-US" sz="2500" b="1" dirty="0">
                          <a:effectLst/>
                          <a:latin typeface="Garet" panose="020B0604020202020204" charset="0"/>
                        </a:rPr>
                        <a:t>Expected Outcomes</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E9E9E9"/>
                    </a:solidFill>
                  </a:tcPr>
                </a:tc>
                <a:extLst>
                  <a:ext uri="{0D108BD9-81ED-4DB2-BD59-A6C34878D82A}">
                    <a16:rowId xmlns:a16="http://schemas.microsoft.com/office/drawing/2014/main" val="4165165848"/>
                  </a:ext>
                </a:extLst>
              </a:tr>
              <a:tr h="977346">
                <a:tc>
                  <a:txBody>
                    <a:bodyPr/>
                    <a:lstStyle/>
                    <a:p>
                      <a:pPr algn="l">
                        <a:buNone/>
                      </a:pPr>
                      <a:r>
                        <a:rPr lang="en-US" sz="2000" b="1">
                          <a:effectLst/>
                          <a:latin typeface="Garet" panose="020B0604020202020204" charset="0"/>
                        </a:rPr>
                        <a:t>1. Define substantial vs. non-substantial changes</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rtl="0">
                        <a:buNone/>
                      </a:pPr>
                      <a:r>
                        <a:rPr lang="en-US" sz="2000" b="0" i="0">
                          <a:solidFill>
                            <a:srgbClr val="000000"/>
                          </a:solidFill>
                          <a:effectLst/>
                          <a:latin typeface="Garet" panose="020B0604020202020204" charset="0"/>
                        </a:rPr>
                        <a:t>Explore and refine criteria for </a:t>
                      </a:r>
                      <a:r>
                        <a:rPr lang="en-US" sz="2000" b="0" i="1">
                          <a:solidFill>
                            <a:srgbClr val="000000"/>
                          </a:solidFill>
                          <a:effectLst/>
                          <a:latin typeface="Garet" panose="020B0604020202020204" charset="0"/>
                        </a:rPr>
                        <a:t>substantial vs. non-substantial</a:t>
                      </a:r>
                      <a:r>
                        <a:rPr lang="en-US" sz="2000" b="0" i="0">
                          <a:solidFill>
                            <a:srgbClr val="000000"/>
                          </a:solidFill>
                          <a:effectLst/>
                          <a:latin typeface="Garet" panose="020B0604020202020204" charset="0"/>
                        </a:rPr>
                        <a:t> changes.</a:t>
                      </a:r>
                      <a:endParaRPr lang="en-US" sz="2000">
                        <a:effectLst/>
                        <a:latin typeface="Garet" panose="020B0604020202020204" charset="0"/>
                      </a:endParaRP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en-US" sz="2000" b="1">
                          <a:effectLst/>
                          <a:latin typeface="Garet" panose="020B0604020202020204" charset="0"/>
                        </a:rPr>
                        <a:t>Now – 27.12</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en-US" sz="2000" dirty="0">
                          <a:effectLst/>
                          <a:latin typeface="Garet" panose="020B0604020202020204" charset="0"/>
                        </a:rPr>
                        <a:t>Defined change categories and labels</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4222176"/>
                  </a:ext>
                </a:extLst>
              </a:tr>
              <a:tr h="1712275">
                <a:tc>
                  <a:txBody>
                    <a:bodyPr/>
                    <a:lstStyle/>
                    <a:p>
                      <a:pPr algn="l">
                        <a:buNone/>
                      </a:pPr>
                      <a:r>
                        <a:rPr lang="en-US" sz="2000" b="1">
                          <a:effectLst/>
                          <a:latin typeface="Garet" panose="020B0604020202020204" charset="0"/>
                        </a:rPr>
                        <a:t>2. Synthetic Data Creation</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rtl="0">
                        <a:buNone/>
                      </a:pPr>
                      <a:r>
                        <a:rPr lang="en-US" sz="2000" b="0" i="0">
                          <a:solidFill>
                            <a:srgbClr val="000000"/>
                          </a:solidFill>
                          <a:effectLst/>
                          <a:latin typeface="Garet" panose="020B0604020202020204" charset="0"/>
                        </a:rPr>
                        <a:t>Generate </a:t>
                      </a:r>
                      <a:r>
                        <a:rPr lang="en-US" sz="2000" b="0" i="1">
                          <a:solidFill>
                            <a:srgbClr val="000000"/>
                          </a:solidFill>
                          <a:effectLst/>
                          <a:latin typeface="Garet" panose="020B0604020202020204" charset="0"/>
                        </a:rPr>
                        <a:t>before/after</a:t>
                      </a:r>
                      <a:r>
                        <a:rPr lang="en-US" sz="2000" b="0" i="0">
                          <a:solidFill>
                            <a:srgbClr val="000000"/>
                          </a:solidFill>
                          <a:effectLst/>
                          <a:latin typeface="Garet" panose="020B0604020202020204" charset="0"/>
                        </a:rPr>
                        <a:t> floorplan pairs using controlled object-level modifications.</a:t>
                      </a:r>
                      <a:endParaRPr lang="en-US" sz="2000">
                        <a:effectLst/>
                        <a:latin typeface="Garet" panose="020B0604020202020204" charset="0"/>
                      </a:endParaRPr>
                    </a:p>
                    <a:p>
                      <a:pPr algn="l" rtl="0">
                        <a:buNone/>
                      </a:pPr>
                      <a:r>
                        <a:rPr lang="en-US" sz="2000" b="0" i="1">
                          <a:solidFill>
                            <a:srgbClr val="000000"/>
                          </a:solidFill>
                          <a:effectLst/>
                          <a:latin typeface="Garet" panose="020B0604020202020204" charset="0"/>
                        </a:rPr>
                        <a:t>Models: DETR+SAM+stable diffusion </a:t>
                      </a:r>
                      <a:endParaRPr lang="en-US" sz="2000">
                        <a:effectLst/>
                        <a:latin typeface="Garet" panose="020B0604020202020204" charset="0"/>
                      </a:endParaRP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he-IL" sz="2000" b="1" dirty="0">
                          <a:effectLst/>
                          <a:latin typeface="Garet" panose="020B0604020202020204" charset="0"/>
                        </a:rPr>
                        <a:t>27.12 – 07.01</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en-US" sz="2000" dirty="0">
                          <a:effectLst/>
                          <a:latin typeface="Garet" panose="020B0604020202020204" charset="0"/>
                        </a:rPr>
                        <a:t>Synthetic dataset of paired floorplans</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3112347"/>
                  </a:ext>
                </a:extLst>
              </a:tr>
              <a:tr h="1712275">
                <a:tc>
                  <a:txBody>
                    <a:bodyPr/>
                    <a:lstStyle/>
                    <a:p>
                      <a:pPr algn="l">
                        <a:buNone/>
                      </a:pPr>
                      <a:r>
                        <a:rPr lang="en-US" sz="2000" b="1">
                          <a:effectLst/>
                          <a:latin typeface="Garet" panose="020B0604020202020204" charset="0"/>
                        </a:rPr>
                        <a:t>3. Binary Change Classification</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rtl="0">
                        <a:buNone/>
                      </a:pPr>
                      <a:r>
                        <a:rPr lang="en-US" sz="2000" b="0" i="0">
                          <a:solidFill>
                            <a:srgbClr val="000000"/>
                          </a:solidFill>
                          <a:effectLst/>
                          <a:latin typeface="Garet" panose="020B0604020202020204" charset="0"/>
                        </a:rPr>
                        <a:t>Develop a binary model to classify changes as substantial or non-substantial.</a:t>
                      </a:r>
                      <a:endParaRPr lang="en-US" sz="2000">
                        <a:effectLst/>
                        <a:latin typeface="Garet" panose="020B0604020202020204" charset="0"/>
                      </a:endParaRPr>
                    </a:p>
                    <a:p>
                      <a:pPr algn="l" rtl="0">
                        <a:buNone/>
                      </a:pPr>
                      <a:r>
                        <a:rPr lang="en-US" sz="2000" b="0" i="1">
                          <a:solidFill>
                            <a:srgbClr val="000000"/>
                          </a:solidFill>
                          <a:effectLst/>
                          <a:latin typeface="Garet" panose="020B0604020202020204" charset="0"/>
                        </a:rPr>
                        <a:t>Models: DETR outputs → compare → MLP classifier</a:t>
                      </a:r>
                      <a:endParaRPr lang="en-US" sz="2000">
                        <a:effectLst/>
                        <a:latin typeface="Garet" panose="020B0604020202020204" charset="0"/>
                      </a:endParaRP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he-IL" sz="2000" b="1">
                          <a:effectLst/>
                          <a:latin typeface="Garet" panose="020B0604020202020204" charset="0"/>
                        </a:rPr>
                        <a:t>07.01 – 14.01</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en-US" sz="2000">
                          <a:effectLst/>
                          <a:latin typeface="Garet" panose="020B0604020202020204" charset="0"/>
                        </a:rPr>
                        <a:t>Trained change classification model</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5276297"/>
                  </a:ext>
                </a:extLst>
              </a:tr>
              <a:tr h="703671">
                <a:tc>
                  <a:txBody>
                    <a:bodyPr/>
                    <a:lstStyle/>
                    <a:p>
                      <a:pPr algn="l">
                        <a:buNone/>
                      </a:pPr>
                      <a:r>
                        <a:rPr lang="en-US" sz="2000" b="1">
                          <a:effectLst/>
                          <a:latin typeface="Garet" panose="020B0604020202020204" charset="0"/>
                        </a:rPr>
                        <a:t>4. Results &amp; Presentation Preparation</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en-US" sz="2000">
                          <a:effectLst/>
                          <a:latin typeface="Garet" panose="020B0604020202020204" charset="0"/>
                        </a:rPr>
                        <a:t>Analyze results and prepare final presentation.</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he-IL" sz="2000" b="1">
                          <a:effectLst/>
                          <a:latin typeface="Garet" panose="020B0604020202020204" charset="0"/>
                        </a:rPr>
                        <a:t>14.01 – 21.01</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tc>
                  <a:txBody>
                    <a:bodyPr/>
                    <a:lstStyle/>
                    <a:p>
                      <a:pPr algn="l">
                        <a:buNone/>
                      </a:pPr>
                      <a:r>
                        <a:rPr lang="en-US" sz="2000" dirty="0">
                          <a:effectLst/>
                          <a:latin typeface="Garet" panose="020B0604020202020204" charset="0"/>
                        </a:rPr>
                        <a:t>Final presentation ready</a:t>
                      </a:r>
                    </a:p>
                  </a:txBody>
                  <a:tcPr marL="48676" marR="48676" marT="24338" marB="24338"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9395221"/>
                  </a:ext>
                </a:extLst>
              </a:tr>
            </a:tbl>
          </a:graphicData>
        </a:graphic>
      </p:graphicFrame>
      <p:sp>
        <p:nvSpPr>
          <p:cNvPr id="15" name="Rectangle 1">
            <a:extLst>
              <a:ext uri="{FF2B5EF4-FFF2-40B4-BE49-F238E27FC236}">
                <a16:creationId xmlns:a16="http://schemas.microsoft.com/office/drawing/2014/main" id="{664697A7-7BE4-54EE-DA26-604ECBB4ED20}"/>
              </a:ext>
            </a:extLst>
          </p:cNvPr>
          <p:cNvSpPr>
            <a:spLocks noChangeArrowheads="1"/>
          </p:cNvSpPr>
          <p:nvPr/>
        </p:nvSpPr>
        <p:spPr bwMode="auto">
          <a:xfrm>
            <a:off x="2381250" y="145415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2482</Words>
  <Application>Microsoft Office PowerPoint</Application>
  <PresentationFormat>מותאם אישית</PresentationFormat>
  <Paragraphs>298</Paragraphs>
  <Slides>11</Slides>
  <Notes>10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11</vt:i4>
      </vt:variant>
    </vt:vector>
  </HeadingPairs>
  <TitlesOfParts>
    <vt:vector size="16" baseType="lpstr">
      <vt:lpstr>Garet</vt:lpstr>
      <vt:lpstr>Garet Bold</vt:lpstr>
      <vt:lpstr>Calibri</vt:lpstr>
      <vt:lpstr>Arial</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Built-in second stage</dc:title>
  <cp:lastModifiedBy>Adi Haim</cp:lastModifiedBy>
  <cp:revision>4</cp:revision>
  <dcterms:created xsi:type="dcterms:W3CDTF">2006-08-16T00:00:00Z</dcterms:created>
  <dcterms:modified xsi:type="dcterms:W3CDTF">2025-12-23T14:12:53Z</dcterms:modified>
  <dc:identifier>DAG7sPgl124</dc:identifier>
</cp:coreProperties>
</file>